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Folien, ca. 35 s pro Folie. Jede Folie beantwortet genau eine geforderte Zeile.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Relevanz zuerst über die Nacht begründen — dort ist der Effekt gross und die Bestandsmassnahme schwach.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Kandidat 1 legt sich auf Prävention fest — das schliesst die Entfernung aus, also die Nachthälfte.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Kontext ist eine echte Stadt mit publizierten Zielwerten — deshalb sind die Zahlen prüfbar statt erfunden.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gestrichelte Linie ist der eigentliche Inhalt: sie hält das Projekt endlich. Die Parallelsysteme sind nicht Dekoration — jedes hat uns etwas gegeben: den Benchmark, die verschlossene konventionelle Route, den Abflussweg und die Höhe, auf der der Effekt ankommen muss.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 Funktion wird später gebraucht: von einem Kriterium, von einer Matrixzeile, oder von beidem.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Lösungsneutral heisst: das Bild bleibt richtig, egal welches Konzept wir später wählen.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 Frage trägt ihre Funktions-ID — dadurch ist die Biologie später rückverfolgbar.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Sechs Kriterien, also im Fenster 4–7. Die Life's Principles werden mitgescort statt danebengestellt.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begründeten Ablehnungen zählen in der Bewertung so viel wie die Auswahl.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Mechanismenfamilien, weil wir genau zwei Konzepte daraus bauen: Transport zu einer besseren Fläche, und Zugang der bewegten Luft zur vorhandenen Fläche.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dritte Spalte ist noch keine Entscheidung — sie wird erst auf der nächsten Folie zu zwei Konzepten.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Warum diese beiden: grösste physikalische Trennung, und sie decken zusammen Neubau und Bestand ab.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Kreislauf ist ein Thermosiphon. Die Selbstregulierung steckt in der Physik: wärmeres Wasser ist leichter, treibt stärker, transportiert mehr. Genau das misst Kriterium 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ist bewusst das Gegenteil von A: kein Transport, keine Konstruktion — nur Zugang der bewegten Luft zur vorhandenen Fläche. Und es ist auf den Bestand anwendbar.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Beide Zahlen sind Grössenordnungen mit genannten Annahmen, keine Ergebnisse. Der zweite Check ist der wertvolle: er verschiebt das Problem vom Antrieb zur Fläche.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Bewertungen sind noch Richtungen, keine Zahlen. Ehrlich so sagen.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der geforderte Nachweis der Iteration: eine benannte Schwäche aus dem Check, und die dokumentierte Antwort darauf.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geschlossene Kreislauf ist der ehrliche Vorteil gegenüber einem Verdunstungskonzept: kein Wasserverbrauch. Aber öko-effektiv ist auch er nicht.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Ehrlich schliessen: die stärkste Idee ist die Trennung von Absorption und Abgabe, die schwächste Stelle ist die Fläche, auf der abgegeben wird.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 cy="6858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371600"/>
            <a:ext cx="7680960" cy="365760"/>
          </a:xfrm>
          <a:prstGeom prst="rect">
            <a:avLst/>
          </a:prstGeom>
          <a:noFill/>
        </p:spPr>
        <p:txBody>
          <a:bodyPr wrap="square" lIns="0" rIns="0" tIns="0" bIns="0">
            <a:spAutoFit/>
          </a:bodyPr>
          <a:lstStyle/>
          <a:p>
            <a:pPr algn="l">
              <a:lnSpc>
                <a:spcPct val="95000"/>
              </a:lnSpc>
              <a:spcAft>
                <a:spcPts val="0"/>
              </a:spcAft>
            </a:pPr>
            <a:r>
              <a:rPr sz="1300" b="1" i="0">
                <a:solidFill>
                  <a:srgbClr val="005A8C"/>
                </a:solidFill>
                <a:latin typeface="Calibri"/>
              </a:rPr>
              <a:t>ZHAW · BLOCKWEEK BIONICS 2026 · CHALLENGE 1</a:t>
            </a:r>
          </a:p>
        </p:txBody>
      </p:sp>
      <p:sp>
        <p:nvSpPr>
          <p:cNvPr id="5" name="TextBox 4"/>
          <p:cNvSpPr txBox="1"/>
          <p:nvPr/>
        </p:nvSpPr>
        <p:spPr>
          <a:xfrm>
            <a:off x="1188720" y="1828800"/>
            <a:ext cx="8778240" cy="1280160"/>
          </a:xfrm>
          <a:prstGeom prst="rect">
            <a:avLst/>
          </a:prstGeom>
          <a:noFill/>
        </p:spPr>
        <p:txBody>
          <a:bodyPr wrap="square" lIns="0" rIns="0" tIns="0" bIns="0">
            <a:spAutoFit/>
          </a:bodyPr>
          <a:lstStyle/>
          <a:p>
            <a:pPr algn="l">
              <a:lnSpc>
                <a:spcPct val="90000"/>
              </a:lnSpc>
              <a:spcAft>
                <a:spcPts val="0"/>
              </a:spcAft>
            </a:pPr>
            <a:r>
              <a:rPr sz="5800" b="1" i="0">
                <a:solidFill>
                  <a:srgbClr val="1E2428"/>
                </a:solidFill>
                <a:latin typeface="Calibri"/>
              </a:rPr>
              <a:t>Cooling the City</a:t>
            </a:r>
          </a:p>
        </p:txBody>
      </p:sp>
      <p:sp>
        <p:nvSpPr>
          <p:cNvPr id="6" name="TextBox 5"/>
          <p:cNvSpPr txBox="1"/>
          <p:nvPr/>
        </p:nvSpPr>
        <p:spPr>
          <a:xfrm>
            <a:off x="1188720" y="3108960"/>
            <a:ext cx="8778240" cy="457200"/>
          </a:xfrm>
          <a:prstGeom prst="rect">
            <a:avLst/>
          </a:prstGeom>
          <a:noFill/>
        </p:spPr>
        <p:txBody>
          <a:bodyPr wrap="square" lIns="0" rIns="0" tIns="0" bIns="0">
            <a:spAutoFit/>
          </a:bodyPr>
          <a:lstStyle/>
          <a:p>
            <a:pPr algn="l">
              <a:lnSpc>
                <a:spcPct val="95000"/>
              </a:lnSpc>
              <a:spcAft>
                <a:spcPts val="0"/>
              </a:spcAft>
            </a:pPr>
            <a:r>
              <a:rPr sz="2100" b="0" i="0">
                <a:solidFill>
                  <a:srgbClr val="6B7277"/>
                </a:solidFill>
                <a:latin typeface="Calibri"/>
              </a:rPr>
              <a:t>Every required point, in order</a:t>
            </a:r>
          </a:p>
        </p:txBody>
      </p:sp>
      <p:sp>
        <p:nvSpPr>
          <p:cNvPr id="7" name="TextBox 6"/>
          <p:cNvSpPr txBox="1"/>
          <p:nvPr/>
        </p:nvSpPr>
        <p:spPr>
          <a:xfrm>
            <a:off x="1188720" y="4023360"/>
            <a:ext cx="2743200" cy="320040"/>
          </a:xfrm>
          <a:prstGeom prst="rect">
            <a:avLst/>
          </a:prstGeom>
          <a:noFill/>
        </p:spPr>
        <p:txBody>
          <a:bodyPr wrap="square" lIns="0" rIns="0" tIns="0" bIns="0">
            <a:spAutoFit/>
          </a:bodyPr>
          <a:lstStyle/>
          <a:p>
            <a:pPr algn="l">
              <a:lnSpc>
                <a:spcPct val="95000"/>
              </a:lnSpc>
              <a:spcAft>
                <a:spcPts val="0"/>
              </a:spcAft>
            </a:pPr>
            <a:r>
              <a:rPr sz="1500" b="0" i="0">
                <a:solidFill>
                  <a:srgbClr val="6B7277"/>
                </a:solidFill>
                <a:latin typeface="Calibri"/>
              </a:rPr>
              <a:t>1  Introduction</a:t>
            </a:r>
          </a:p>
        </p:txBody>
      </p:sp>
      <p:sp>
        <p:nvSpPr>
          <p:cNvPr id="8" name="TextBox 7"/>
          <p:cNvSpPr txBox="1"/>
          <p:nvPr/>
        </p:nvSpPr>
        <p:spPr>
          <a:xfrm>
            <a:off x="1188720" y="4434840"/>
            <a:ext cx="2743200" cy="320040"/>
          </a:xfrm>
          <a:prstGeom prst="rect">
            <a:avLst/>
          </a:prstGeom>
          <a:noFill/>
        </p:spPr>
        <p:txBody>
          <a:bodyPr wrap="square" lIns="0" rIns="0" tIns="0" bIns="0">
            <a:spAutoFit/>
          </a:bodyPr>
          <a:lstStyle/>
          <a:p>
            <a:pPr algn="l">
              <a:lnSpc>
                <a:spcPct val="95000"/>
              </a:lnSpc>
              <a:spcAft>
                <a:spcPts val="0"/>
              </a:spcAft>
            </a:pPr>
            <a:r>
              <a:rPr sz="1500" b="1" i="0">
                <a:solidFill>
                  <a:srgbClr val="1E2428"/>
                </a:solidFill>
                <a:latin typeface="Calibri"/>
              </a:rPr>
              <a:t>2  Challenge &amp; Scoping</a:t>
            </a:r>
          </a:p>
        </p:txBody>
      </p:sp>
      <p:sp>
        <p:nvSpPr>
          <p:cNvPr id="9" name="TextBox 8"/>
          <p:cNvSpPr txBox="1"/>
          <p:nvPr/>
        </p:nvSpPr>
        <p:spPr>
          <a:xfrm>
            <a:off x="1188720" y="4846320"/>
            <a:ext cx="2743200" cy="320040"/>
          </a:xfrm>
          <a:prstGeom prst="rect">
            <a:avLst/>
          </a:prstGeom>
          <a:noFill/>
        </p:spPr>
        <p:txBody>
          <a:bodyPr wrap="square" lIns="0" rIns="0" tIns="0" bIns="0">
            <a:spAutoFit/>
          </a:bodyPr>
          <a:lstStyle/>
          <a:p>
            <a:pPr algn="l">
              <a:lnSpc>
                <a:spcPct val="95000"/>
              </a:lnSpc>
              <a:spcAft>
                <a:spcPts val="0"/>
              </a:spcAft>
            </a:pPr>
            <a:r>
              <a:rPr sz="1500" b="1" i="0">
                <a:solidFill>
                  <a:srgbClr val="1E2428"/>
                </a:solidFill>
                <a:latin typeface="Calibri"/>
              </a:rPr>
              <a:t>3.1  Discovering &amp; Abstracting</a:t>
            </a:r>
          </a:p>
        </p:txBody>
      </p:sp>
      <p:sp>
        <p:nvSpPr>
          <p:cNvPr id="10" name="TextBox 9"/>
          <p:cNvSpPr txBox="1"/>
          <p:nvPr/>
        </p:nvSpPr>
        <p:spPr>
          <a:xfrm>
            <a:off x="1188720" y="5257800"/>
            <a:ext cx="2743200" cy="320040"/>
          </a:xfrm>
          <a:prstGeom prst="rect">
            <a:avLst/>
          </a:prstGeom>
          <a:noFill/>
        </p:spPr>
        <p:txBody>
          <a:bodyPr wrap="square" lIns="0" rIns="0" tIns="0" bIns="0">
            <a:spAutoFit/>
          </a:bodyPr>
          <a:lstStyle/>
          <a:p>
            <a:pPr algn="l">
              <a:lnSpc>
                <a:spcPct val="95000"/>
              </a:lnSpc>
              <a:spcAft>
                <a:spcPts val="0"/>
              </a:spcAft>
            </a:pPr>
            <a:r>
              <a:rPr sz="1500" b="0" i="0">
                <a:solidFill>
                  <a:srgbClr val="6B7277"/>
                </a:solidFill>
                <a:latin typeface="Calibri"/>
              </a:rPr>
              <a:t>3.2  Creating</a:t>
            </a:r>
          </a:p>
        </p:txBody>
      </p:sp>
      <p:sp>
        <p:nvSpPr>
          <p:cNvPr id="11" name="TextBox 10"/>
          <p:cNvSpPr txBox="1"/>
          <p:nvPr/>
        </p:nvSpPr>
        <p:spPr>
          <a:xfrm>
            <a:off x="4023360" y="4023360"/>
            <a:ext cx="2743200" cy="320040"/>
          </a:xfrm>
          <a:prstGeom prst="rect">
            <a:avLst/>
          </a:prstGeom>
          <a:noFill/>
        </p:spPr>
        <p:txBody>
          <a:bodyPr wrap="square" lIns="0" rIns="0" tIns="0" bIns="0">
            <a:spAutoFit/>
          </a:bodyPr>
          <a:lstStyle/>
          <a:p>
            <a:pPr algn="l">
              <a:lnSpc>
                <a:spcPct val="95000"/>
              </a:lnSpc>
              <a:spcAft>
                <a:spcPts val="0"/>
              </a:spcAft>
            </a:pPr>
            <a:r>
              <a:rPr sz="1500" b="0" i="0">
                <a:solidFill>
                  <a:srgbClr val="6B7277"/>
                </a:solidFill>
                <a:latin typeface="Calibri"/>
              </a:rPr>
              <a:t>3.3  Evaluation &amp; Iteration</a:t>
            </a:r>
          </a:p>
        </p:txBody>
      </p:sp>
      <p:sp>
        <p:nvSpPr>
          <p:cNvPr id="12" name="TextBox 11"/>
          <p:cNvSpPr txBox="1"/>
          <p:nvPr/>
        </p:nvSpPr>
        <p:spPr>
          <a:xfrm>
            <a:off x="4023360" y="4434840"/>
            <a:ext cx="2743200" cy="320040"/>
          </a:xfrm>
          <a:prstGeom prst="rect">
            <a:avLst/>
          </a:prstGeom>
          <a:noFill/>
        </p:spPr>
        <p:txBody>
          <a:bodyPr wrap="square" lIns="0" rIns="0" tIns="0" bIns="0">
            <a:spAutoFit/>
          </a:bodyPr>
          <a:lstStyle/>
          <a:p>
            <a:pPr algn="l">
              <a:lnSpc>
                <a:spcPct val="95000"/>
              </a:lnSpc>
              <a:spcAft>
                <a:spcPts val="0"/>
              </a:spcAft>
            </a:pPr>
            <a:r>
              <a:rPr sz="1500" b="0" i="0">
                <a:solidFill>
                  <a:srgbClr val="6B7277"/>
                </a:solidFill>
                <a:latin typeface="Calibri"/>
              </a:rPr>
              <a:t>4  Sustainability</a:t>
            </a:r>
          </a:p>
        </p:txBody>
      </p:sp>
      <p:sp>
        <p:nvSpPr>
          <p:cNvPr id="13" name="TextBox 12"/>
          <p:cNvSpPr txBox="1"/>
          <p:nvPr/>
        </p:nvSpPr>
        <p:spPr>
          <a:xfrm>
            <a:off x="4023360" y="4846320"/>
            <a:ext cx="2743200" cy="320040"/>
          </a:xfrm>
          <a:prstGeom prst="rect">
            <a:avLst/>
          </a:prstGeom>
          <a:noFill/>
        </p:spPr>
        <p:txBody>
          <a:bodyPr wrap="square" lIns="0" rIns="0" tIns="0" bIns="0">
            <a:spAutoFit/>
          </a:bodyPr>
          <a:lstStyle/>
          <a:p>
            <a:pPr algn="l">
              <a:lnSpc>
                <a:spcPct val="95000"/>
              </a:lnSpc>
              <a:spcAft>
                <a:spcPts val="0"/>
              </a:spcAft>
            </a:pPr>
            <a:r>
              <a:rPr sz="1500" b="0" i="0">
                <a:solidFill>
                  <a:srgbClr val="6B7277"/>
                </a:solidFill>
                <a:latin typeface="Calibri"/>
              </a:rPr>
              <a:t>5  Discussion</a:t>
            </a:r>
          </a:p>
        </p:txBody>
      </p:sp>
      <p:sp>
        <p:nvSpPr>
          <p:cNvPr id="14" name="Rounded Rectangle 13"/>
          <p:cNvSpPr/>
          <p:nvPr/>
        </p:nvSpPr>
        <p:spPr>
          <a:xfrm>
            <a:off x="6949440" y="1280160"/>
            <a:ext cx="4480560" cy="4206240"/>
          </a:xfrm>
          <a:prstGeom prst="roundRect">
            <a:avLst>
              <a:gd name="adj" fmla="val 2000"/>
            </a:avLst>
          </a:prstGeom>
          <a:solidFill>
            <a:srgbClr val="ECF2F6"/>
          </a:solidFill>
          <a:ln w="12700">
            <a:solidFill>
              <a:srgbClr val="9FB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59" y="1481328"/>
            <a:ext cx="3931920" cy="274320"/>
          </a:xfrm>
          <a:prstGeom prst="rect">
            <a:avLst/>
          </a:prstGeom>
          <a:noFill/>
        </p:spPr>
        <p:txBody>
          <a:bodyPr wrap="square" lIns="0" rIns="0" tIns="0" bIns="0">
            <a:spAutoFit/>
          </a:bodyPr>
          <a:lstStyle/>
          <a:p>
            <a:pPr algn="l">
              <a:lnSpc>
                <a:spcPct val="95000"/>
              </a:lnSpc>
              <a:spcAft>
                <a:spcPts val="0"/>
              </a:spcAft>
            </a:pPr>
            <a:r>
              <a:rPr sz="1050" b="1" i="0">
                <a:solidFill>
                  <a:srgbClr val="005A8C"/>
                </a:solidFill>
                <a:latin typeface="Calibri"/>
              </a:rPr>
              <a:t>TITLE IMAGE PROMPT</a:t>
            </a:r>
          </a:p>
        </p:txBody>
      </p:sp>
      <p:sp>
        <p:nvSpPr>
          <p:cNvPr id="16" name="TextBox 15"/>
          <p:cNvSpPr txBox="1"/>
          <p:nvPr/>
        </p:nvSpPr>
        <p:spPr>
          <a:xfrm>
            <a:off x="7223759" y="1828800"/>
            <a:ext cx="3931920" cy="3428999"/>
          </a:xfrm>
          <a:prstGeom prst="rect">
            <a:avLst/>
          </a:prstGeom>
          <a:noFill/>
        </p:spPr>
        <p:txBody>
          <a:bodyPr wrap="square" lIns="0" rIns="0" tIns="0" bIns="0">
            <a:spAutoFit/>
          </a:bodyPr>
          <a:lstStyle/>
          <a:p>
            <a:pPr>
              <a:lnSpc>
                <a:spcPct val="102000"/>
              </a:lnSpc>
            </a:pPr>
            <a:r>
              <a:rPr sz="1050">
                <a:solidFill>
                  <a:srgbClr val="1E2428"/>
                </a:solidFill>
                <a:latin typeface="Consolas"/>
              </a:rPr>
              <a:t>Wide cinematic photograph, dusk in a dense European city block at the end of a heat wave. Five-storey perimeter buildings enclose a narrow street canyon; stone façades still glow with stored warmth while the sky above has cooled to deep blue. Warm ochre light on upper storeys, cool shadow below, faint heat shimmer from the pavement. Documentary realism, 35 mm, shallow depth of field, sandstone / slate / dusk-blue palette, no people in focus. Negative prompt: text, letters, watermark, logo, people's faces, cartoon, low detail, oversaturated, HDR halo, distorted geometry.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1 · INTRODUCTION</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Background, relevance, aim</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768096"/>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State the background, relevance and aim of the report clearly.</a:t>
            </a:r>
          </a:p>
        </p:txBody>
      </p:sp>
      <p:sp>
        <p:nvSpPr>
          <p:cNvPr id="9" name="TextBox 8"/>
          <p:cNvSpPr txBox="1"/>
          <p:nvPr/>
        </p:nvSpPr>
        <p:spPr>
          <a:xfrm>
            <a:off x="2194560" y="2212848"/>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Briefly introduce the design challenge and the intended contribution.</a:t>
            </a:r>
          </a:p>
        </p:txBody>
      </p:sp>
      <p:sp>
        <p:nvSpPr>
          <p:cNvPr id="10" name="Rectangle 9"/>
          <p:cNvSpPr/>
          <p:nvPr/>
        </p:nvSpPr>
        <p:spPr>
          <a:xfrm>
            <a:off x="777240" y="2990087"/>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2889503"/>
            <a:ext cx="5486400" cy="457200"/>
          </a:xfrm>
          <a:prstGeom prst="rect">
            <a:avLst/>
          </a:prstGeom>
          <a:noFill/>
        </p:spPr>
        <p:txBody>
          <a:bodyPr wrap="square" lIns="0" rIns="0" tIns="0" bIns="0">
            <a:spAutoFit/>
          </a:bodyPr>
          <a:lstStyle/>
          <a:p>
            <a:pPr algn="l">
              <a:lnSpc>
                <a:spcPct val="95000"/>
              </a:lnSpc>
              <a:spcAft>
                <a:spcPts val="0"/>
              </a:spcAft>
            </a:pPr>
            <a:r>
              <a:rPr sz="1900" b="1" i="0">
                <a:solidFill>
                  <a:srgbClr val="1E2428"/>
                </a:solidFill>
                <a:latin typeface="Calibri"/>
              </a:rPr>
              <a:t>7 K hotter at night, 1–2 K by day</a:t>
            </a:r>
          </a:p>
        </p:txBody>
      </p:sp>
      <p:sp>
        <p:nvSpPr>
          <p:cNvPr id="12" name="Rectangle 11"/>
          <p:cNvSpPr/>
          <p:nvPr/>
        </p:nvSpPr>
        <p:spPr>
          <a:xfrm>
            <a:off x="777240" y="3557015"/>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3456432"/>
            <a:ext cx="5486400" cy="457200"/>
          </a:xfrm>
          <a:prstGeom prst="rect">
            <a:avLst/>
          </a:prstGeom>
          <a:noFill/>
        </p:spPr>
        <p:txBody>
          <a:bodyPr wrap="square" lIns="0" rIns="0" tIns="0" bIns="0">
            <a:spAutoFit/>
          </a:bodyPr>
          <a:lstStyle/>
          <a:p>
            <a:pPr algn="l">
              <a:lnSpc>
                <a:spcPct val="95000"/>
              </a:lnSpc>
              <a:spcAft>
                <a:spcPts val="0"/>
              </a:spcAft>
            </a:pPr>
            <a:r>
              <a:rPr sz="1900" b="0" i="0">
                <a:solidFill>
                  <a:srgbClr val="6B7277"/>
                </a:solidFill>
                <a:latin typeface="Calibri"/>
              </a:rPr>
              <a:t>sealed surfaces · no evaporation · trapped long-wave</a:t>
            </a:r>
          </a:p>
        </p:txBody>
      </p:sp>
      <p:sp>
        <p:nvSpPr>
          <p:cNvPr id="14" name="Rectangle 13"/>
          <p:cNvSpPr/>
          <p:nvPr/>
        </p:nvSpPr>
        <p:spPr>
          <a:xfrm>
            <a:off x="777240" y="412394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4023359"/>
            <a:ext cx="5486400" cy="457200"/>
          </a:xfrm>
          <a:prstGeom prst="rect">
            <a:avLst/>
          </a:prstGeom>
          <a:noFill/>
        </p:spPr>
        <p:txBody>
          <a:bodyPr wrap="square" lIns="0" rIns="0" tIns="0" bIns="0">
            <a:spAutoFit/>
          </a:bodyPr>
          <a:lstStyle/>
          <a:p>
            <a:pPr algn="l">
              <a:lnSpc>
                <a:spcPct val="95000"/>
              </a:lnSpc>
              <a:spcAft>
                <a:spcPts val="0"/>
              </a:spcAft>
            </a:pPr>
            <a:r>
              <a:rPr sz="1900" b="1" i="0">
                <a:solidFill>
                  <a:srgbClr val="1E2428"/>
                </a:solidFill>
                <a:latin typeface="Calibri"/>
              </a:rPr>
              <a:t>aim: a façade that cools harder as it heats</a:t>
            </a:r>
          </a:p>
        </p:txBody>
      </p:sp>
      <p:sp>
        <p:nvSpPr>
          <p:cNvPr id="16" name="Rectangle 15"/>
          <p:cNvSpPr/>
          <p:nvPr/>
        </p:nvSpPr>
        <p:spPr>
          <a:xfrm>
            <a:off x="777240" y="4690872"/>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992" y="4590288"/>
            <a:ext cx="5486400" cy="457200"/>
          </a:xfrm>
          <a:prstGeom prst="rect">
            <a:avLst/>
          </a:prstGeom>
          <a:noFill/>
        </p:spPr>
        <p:txBody>
          <a:bodyPr wrap="square" lIns="0" rIns="0" tIns="0" bIns="0">
            <a:spAutoFit/>
          </a:bodyPr>
          <a:lstStyle/>
          <a:p>
            <a:pPr algn="l">
              <a:lnSpc>
                <a:spcPct val="95000"/>
              </a:lnSpc>
              <a:spcAft>
                <a:spcPts val="0"/>
              </a:spcAft>
            </a:pPr>
            <a:r>
              <a:rPr sz="1900" b="0" i="0">
                <a:solidFill>
                  <a:srgbClr val="6B7277"/>
                </a:solidFill>
                <a:latin typeface="Calibri"/>
              </a:rPr>
              <a:t>contribution: the self-regulating link the incumbent lacks</a:t>
            </a:r>
          </a:p>
        </p:txBody>
      </p:sp>
      <p:sp>
        <p:nvSpPr>
          <p:cNvPr id="18" name="Rounded Rectangle 17"/>
          <p:cNvSpPr/>
          <p:nvPr/>
        </p:nvSpPr>
        <p:spPr>
          <a:xfrm>
            <a:off x="6492240" y="2651760"/>
            <a:ext cx="4937760" cy="3566160"/>
          </a:xfrm>
          <a:prstGeom prst="roundRect">
            <a:avLst>
              <a:gd name="adj" fmla="val 2000"/>
            </a:avLst>
          </a:prstGeom>
          <a:solidFill>
            <a:srgbClr val="ECF2F6"/>
          </a:solidFill>
          <a:ln w="12700">
            <a:solidFill>
              <a:srgbClr val="9FB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59" y="2852928"/>
            <a:ext cx="4389120" cy="274320"/>
          </a:xfrm>
          <a:prstGeom prst="rect">
            <a:avLst/>
          </a:prstGeom>
          <a:noFill/>
        </p:spPr>
        <p:txBody>
          <a:bodyPr wrap="square" lIns="0" rIns="0" tIns="0" bIns="0">
            <a:spAutoFit/>
          </a:bodyPr>
          <a:lstStyle/>
          <a:p>
            <a:pPr algn="l">
              <a:lnSpc>
                <a:spcPct val="95000"/>
              </a:lnSpc>
              <a:spcAft>
                <a:spcPts val="0"/>
              </a:spcAft>
            </a:pPr>
            <a:r>
              <a:rPr sz="1050" b="1" i="0">
                <a:solidFill>
                  <a:srgbClr val="005A8C"/>
                </a:solidFill>
                <a:latin typeface="Calibri"/>
              </a:rPr>
              <a:t>IMAGE PROMPT</a:t>
            </a:r>
          </a:p>
        </p:txBody>
      </p:sp>
      <p:sp>
        <p:nvSpPr>
          <p:cNvPr id="20" name="TextBox 19"/>
          <p:cNvSpPr txBox="1"/>
          <p:nvPr/>
        </p:nvSpPr>
        <p:spPr>
          <a:xfrm>
            <a:off x="6766559" y="3200400"/>
            <a:ext cx="4389120" cy="2788920"/>
          </a:xfrm>
          <a:prstGeom prst="rect">
            <a:avLst/>
          </a:prstGeom>
          <a:noFill/>
        </p:spPr>
        <p:txBody>
          <a:bodyPr wrap="square" lIns="0" rIns="0" tIns="0" bIns="0">
            <a:spAutoFit/>
          </a:bodyPr>
          <a:lstStyle/>
          <a:p>
            <a:pPr>
              <a:lnSpc>
                <a:spcPct val="102000"/>
              </a:lnSpc>
            </a:pPr>
            <a:r>
              <a:rPr sz="1050">
                <a:solidFill>
                  <a:srgbClr val="1E2428"/>
                </a:solidFill>
                <a:latin typeface="Consolas"/>
              </a:rPr>
              <a:t>Split-scene scientific illustration in one frame, no text. Left: a sunlit street at 14:00, short-wave rays entering asphalt and stone. Right: the same street at 02:00 under a clear sky, long-wave heat radiating from walls and pavement but trapped in the canyon, only a thin escape path upward. Cross-section perspective, clean vector-like rendering, warm red arrows for stored heat, cool blue for escaping radiation. Negative prompt: text, letters, watermark, logo, people's faces, cartoon, low detail, oversaturated, HDR halo, distorted geometry.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2 · SCOPING</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Problem and design question</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521208"/>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Define the problem precisely and formulate a clear design question.</a:t>
            </a:r>
          </a:p>
        </p:txBody>
      </p:sp>
      <p:sp>
        <p:nvSpPr>
          <p:cNvPr id="9" name="Rounded Rectangle 8"/>
          <p:cNvSpPr/>
          <p:nvPr/>
        </p:nvSpPr>
        <p:spPr>
          <a:xfrm>
            <a:off x="777240" y="2688336"/>
            <a:ext cx="10607040" cy="1143000"/>
          </a:xfrm>
          <a:prstGeom prst="roundRect">
            <a:avLst/>
          </a:prstGeom>
          <a:solidFill>
            <a:srgbClr val="E8F0F5"/>
          </a:solidFill>
          <a:ln w="19050">
            <a:solidFill>
              <a:srgbClr val="005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935224"/>
            <a:ext cx="9966960" cy="822960"/>
          </a:xfrm>
          <a:prstGeom prst="rect">
            <a:avLst/>
          </a:prstGeom>
          <a:noFill/>
        </p:spPr>
        <p:txBody>
          <a:bodyPr wrap="square" lIns="0" rIns="0" tIns="0" bIns="0">
            <a:spAutoFit/>
          </a:bodyPr>
          <a:lstStyle/>
          <a:p>
            <a:pPr algn="l">
              <a:lnSpc>
                <a:spcPct val="95000"/>
              </a:lnSpc>
              <a:spcAft>
                <a:spcPts val="0"/>
              </a:spcAft>
            </a:pPr>
            <a:r>
              <a:rPr sz="2800" b="1" i="0">
                <a:solidFill>
                  <a:srgbClr val="005A8C"/>
                </a:solidFill>
                <a:latin typeface="Calibri"/>
              </a:rPr>
              <a:t>How might we reduce the urban heat island effect in cities like Zurich?</a:t>
            </a:r>
          </a:p>
        </p:txBody>
      </p:sp>
      <p:sp>
        <p:nvSpPr>
          <p:cNvPr id="11" name="Rectangle 10"/>
          <p:cNvSpPr/>
          <p:nvPr/>
        </p:nvSpPr>
        <p:spPr>
          <a:xfrm>
            <a:off x="777240" y="420624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4105656"/>
            <a:ext cx="10424160" cy="457200"/>
          </a:xfrm>
          <a:prstGeom prst="rect">
            <a:avLst/>
          </a:prstGeom>
          <a:noFill/>
        </p:spPr>
        <p:txBody>
          <a:bodyPr wrap="square" lIns="0" rIns="0" tIns="0" bIns="0">
            <a:spAutoFit/>
          </a:bodyPr>
          <a:lstStyle/>
          <a:p>
            <a:pPr algn="l">
              <a:lnSpc>
                <a:spcPct val="95000"/>
              </a:lnSpc>
              <a:spcAft>
                <a:spcPts val="0"/>
              </a:spcAft>
            </a:pPr>
            <a:r>
              <a:rPr sz="1900" b="1" i="0">
                <a:solidFill>
                  <a:srgbClr val="1E2428"/>
                </a:solidFill>
                <a:latin typeface="Calibri"/>
              </a:rPr>
              <a:t>4 candidates tested, none adopted unchanged</a:t>
            </a:r>
          </a:p>
        </p:txBody>
      </p:sp>
      <p:sp>
        <p:nvSpPr>
          <p:cNvPr id="13" name="Rectangle 12"/>
          <p:cNvSpPr/>
          <p:nvPr/>
        </p:nvSpPr>
        <p:spPr>
          <a:xfrm>
            <a:off x="777240" y="475488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654296"/>
            <a:ext cx="10424160" cy="457200"/>
          </a:xfrm>
          <a:prstGeom prst="rect">
            <a:avLst/>
          </a:prstGeom>
          <a:noFill/>
        </p:spPr>
        <p:txBody>
          <a:bodyPr wrap="square" lIns="0" rIns="0" tIns="0" bIns="0">
            <a:spAutoFit/>
          </a:bodyPr>
          <a:lstStyle/>
          <a:p>
            <a:pPr algn="l">
              <a:lnSpc>
                <a:spcPct val="95000"/>
              </a:lnSpc>
              <a:spcAft>
                <a:spcPts val="0"/>
              </a:spcAft>
            </a:pPr>
            <a:r>
              <a:rPr sz="1900" b="0" i="0">
                <a:solidFill>
                  <a:srgbClr val="6B7277"/>
                </a:solidFill>
                <a:latin typeface="Calibri"/>
              </a:rPr>
              <a:t>rejected: pre-commits · unanchored · factually wrong</a:t>
            </a:r>
          </a:p>
        </p:txBody>
      </p:sp>
      <p:sp>
        <p:nvSpPr>
          <p:cNvPr id="15" name="Rectangle 14"/>
          <p:cNvSpPr/>
          <p:nvPr/>
        </p:nvSpPr>
        <p:spPr>
          <a:xfrm>
            <a:off x="777240" y="530352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5202936"/>
            <a:ext cx="10424160" cy="457200"/>
          </a:xfrm>
          <a:prstGeom prst="rect">
            <a:avLst/>
          </a:prstGeom>
          <a:noFill/>
        </p:spPr>
        <p:txBody>
          <a:bodyPr wrap="square" lIns="0" rIns="0" tIns="0" bIns="0">
            <a:spAutoFit/>
          </a:bodyPr>
          <a:lstStyle/>
          <a:p>
            <a:pPr algn="l">
              <a:lnSpc>
                <a:spcPct val="95000"/>
              </a:lnSpc>
              <a:spcAft>
                <a:spcPts val="0"/>
              </a:spcAft>
            </a:pPr>
            <a:r>
              <a:rPr sz="1900" b="1" i="0">
                <a:solidFill>
                  <a:srgbClr val="1E2428"/>
                </a:solidFill>
                <a:latin typeface="Calibri"/>
              </a:rPr>
              <a:t>stated as effect, not intervention — narrowing is argued after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2 · SCOPING</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Context conditions and constraints</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521208"/>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Define context conditions and constraints under which the solution must work.</a:t>
            </a:r>
          </a:p>
        </p:txBody>
      </p:sp>
      <p:sp>
        <p:nvSpPr>
          <p:cNvPr id="9" name="TextBox 8"/>
          <p:cNvSpPr txBox="1"/>
          <p:nvPr/>
        </p:nvSpPr>
        <p:spPr>
          <a:xfrm>
            <a:off x="777240" y="2688336"/>
            <a:ext cx="5120640" cy="292608"/>
          </a:xfrm>
          <a:prstGeom prst="rect">
            <a:avLst/>
          </a:prstGeom>
          <a:noFill/>
        </p:spPr>
        <p:txBody>
          <a:bodyPr wrap="square" lIns="0" rIns="0" tIns="0" bIns="0">
            <a:spAutoFit/>
          </a:bodyPr>
          <a:lstStyle/>
          <a:p>
            <a:pPr algn="l">
              <a:lnSpc>
                <a:spcPct val="95000"/>
              </a:lnSpc>
              <a:spcAft>
                <a:spcPts val="0"/>
              </a:spcAft>
            </a:pPr>
            <a:r>
              <a:rPr sz="1200" b="1" i="0">
                <a:solidFill>
                  <a:srgbClr val="A83B2E"/>
                </a:solidFill>
                <a:latin typeface="Calibri"/>
              </a:rPr>
              <a:t>HARD — a violation disqualifies</a:t>
            </a:r>
          </a:p>
        </p:txBody>
      </p:sp>
      <p:sp>
        <p:nvSpPr>
          <p:cNvPr id="10" name="Rectangle 9"/>
          <p:cNvSpPr/>
          <p:nvPr/>
        </p:nvSpPr>
        <p:spPr>
          <a:xfrm>
            <a:off x="777240" y="3154679"/>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3054096"/>
            <a:ext cx="49377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limit auxiliary energy</a:t>
            </a:r>
          </a:p>
        </p:txBody>
      </p:sp>
      <p:sp>
        <p:nvSpPr>
          <p:cNvPr id="12" name="Rectangle 11"/>
          <p:cNvSpPr/>
          <p:nvPr/>
        </p:nvSpPr>
        <p:spPr>
          <a:xfrm>
            <a:off x="777240" y="3657599"/>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3557015"/>
            <a:ext cx="49377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no water waste</a:t>
            </a:r>
          </a:p>
        </p:txBody>
      </p:sp>
      <p:sp>
        <p:nvSpPr>
          <p:cNvPr id="14" name="Rectangle 13"/>
          <p:cNvSpPr/>
          <p:nvPr/>
        </p:nvSpPr>
        <p:spPr>
          <a:xfrm>
            <a:off x="777240" y="416052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4059935"/>
            <a:ext cx="49377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no specular glare</a:t>
            </a:r>
          </a:p>
        </p:txBody>
      </p:sp>
      <p:sp>
        <p:nvSpPr>
          <p:cNvPr id="16" name="Rectangle 15"/>
          <p:cNvSpPr/>
          <p:nvPr/>
        </p:nvSpPr>
        <p:spPr>
          <a:xfrm>
            <a:off x="777240" y="466344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992" y="4562856"/>
            <a:ext cx="49377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townscape &amp; heritage</a:t>
            </a:r>
          </a:p>
        </p:txBody>
      </p:sp>
      <p:sp>
        <p:nvSpPr>
          <p:cNvPr id="18" name="Rectangle 17"/>
          <p:cNvSpPr/>
          <p:nvPr/>
        </p:nvSpPr>
        <p:spPr>
          <a:xfrm>
            <a:off x="777240" y="516636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992" y="5065776"/>
            <a:ext cx="49377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frost −10 °C, freeze–thaw, UV</a:t>
            </a:r>
          </a:p>
        </p:txBody>
      </p:sp>
      <p:sp>
        <p:nvSpPr>
          <p:cNvPr id="20" name="Rectangle 19"/>
          <p:cNvSpPr/>
          <p:nvPr/>
        </p:nvSpPr>
        <p:spPr>
          <a:xfrm>
            <a:off x="777240" y="566928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8992" y="5568696"/>
            <a:ext cx="49377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no winter penalty</a:t>
            </a:r>
          </a:p>
        </p:txBody>
      </p:sp>
      <p:sp>
        <p:nvSpPr>
          <p:cNvPr id="22" name="TextBox 21"/>
          <p:cNvSpPr txBox="1"/>
          <p:nvPr/>
        </p:nvSpPr>
        <p:spPr>
          <a:xfrm>
            <a:off x="6309360" y="2688336"/>
            <a:ext cx="5120640" cy="292608"/>
          </a:xfrm>
          <a:prstGeom prst="rect">
            <a:avLst/>
          </a:prstGeom>
          <a:noFill/>
        </p:spPr>
        <p:txBody>
          <a:bodyPr wrap="square" lIns="0" rIns="0" tIns="0" bIns="0">
            <a:spAutoFit/>
          </a:bodyPr>
          <a:lstStyle/>
          <a:p>
            <a:pPr algn="l">
              <a:lnSpc>
                <a:spcPct val="95000"/>
              </a:lnSpc>
              <a:spcAft>
                <a:spcPts val="0"/>
              </a:spcAft>
            </a:pPr>
            <a:r>
              <a:rPr sz="1200" b="1" i="0">
                <a:solidFill>
                  <a:srgbClr val="005A8C"/>
                </a:solidFill>
                <a:latin typeface="Calibri"/>
              </a:rPr>
              <a:t>SOFT — weights the evaluation</a:t>
            </a:r>
          </a:p>
        </p:txBody>
      </p:sp>
      <p:sp>
        <p:nvSpPr>
          <p:cNvPr id="23" name="Rectangle 22"/>
          <p:cNvSpPr/>
          <p:nvPr/>
        </p:nvSpPr>
        <p:spPr>
          <a:xfrm>
            <a:off x="6309360" y="3154679"/>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11112" y="3054096"/>
            <a:ext cx="49377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installable by ordinary trades</a:t>
            </a:r>
          </a:p>
        </p:txBody>
      </p:sp>
      <p:sp>
        <p:nvSpPr>
          <p:cNvPr id="25" name="Rectangle 24"/>
          <p:cNvSpPr/>
          <p:nvPr/>
        </p:nvSpPr>
        <p:spPr>
          <a:xfrm>
            <a:off x="6309360" y="3657599"/>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11112" y="3557015"/>
            <a:ext cx="49377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little maintenance, ≥ 20 years</a:t>
            </a:r>
          </a:p>
        </p:txBody>
      </p:sp>
      <p:sp>
        <p:nvSpPr>
          <p:cNvPr id="27" name="Rectangle 26"/>
          <p:cNvSpPr/>
          <p:nvPr/>
        </p:nvSpPr>
        <p:spPr>
          <a:xfrm>
            <a:off x="6309360" y="416052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11112" y="4059935"/>
            <a:ext cx="49377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does not block PV</a:t>
            </a:r>
          </a:p>
        </p:txBody>
      </p:sp>
      <p:sp>
        <p:nvSpPr>
          <p:cNvPr id="29" name="Rectangle 28"/>
          <p:cNvSpPr/>
          <p:nvPr/>
        </p:nvSpPr>
        <p:spPr>
          <a:xfrm>
            <a:off x="6309360" y="466344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11112" y="4562856"/>
            <a:ext cx="49377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dead load &amp; thickness</a:t>
            </a:r>
          </a:p>
        </p:txBody>
      </p:sp>
      <p:sp>
        <p:nvSpPr>
          <p:cNvPr id="31" name="Rectangle 30"/>
          <p:cNvSpPr/>
          <p:nvPr/>
        </p:nvSpPr>
        <p:spPr>
          <a:xfrm>
            <a:off x="6309360" y="516636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11112" y="5065776"/>
            <a:ext cx="49377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embodied CO₂ repaid</a:t>
            </a:r>
          </a:p>
        </p:txBody>
      </p:sp>
      <p:sp>
        <p:nvSpPr>
          <p:cNvPr id="33" name="Rectangle 32"/>
          <p:cNvSpPr/>
          <p:nvPr/>
        </p:nvSpPr>
        <p:spPr>
          <a:xfrm>
            <a:off x="6309360" y="566928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11112" y="5568696"/>
            <a:ext cx="49377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cost of a normal refurbishment</a:t>
            </a:r>
          </a:p>
        </p:txBody>
      </p:sp>
      <p:sp>
        <p:nvSpPr>
          <p:cNvPr id="35" name="TextBox 34"/>
          <p:cNvSpPr txBox="1"/>
          <p:nvPr/>
        </p:nvSpPr>
        <p:spPr>
          <a:xfrm>
            <a:off x="777240" y="5989320"/>
            <a:ext cx="10607040" cy="365760"/>
          </a:xfrm>
          <a:prstGeom prst="rect">
            <a:avLst/>
          </a:prstGeom>
          <a:noFill/>
        </p:spPr>
        <p:txBody>
          <a:bodyPr wrap="square" lIns="0" rIns="0" tIns="0" bIns="0">
            <a:spAutoFit/>
          </a:bodyPr>
          <a:lstStyle/>
          <a:p>
            <a:pPr algn="l">
              <a:lnSpc>
                <a:spcPct val="95000"/>
              </a:lnSpc>
              <a:spcAft>
                <a:spcPts val="0"/>
              </a:spcAft>
            </a:pPr>
            <a:r>
              <a:rPr sz="1800" b="1" i="0">
                <a:solidFill>
                  <a:srgbClr val="1E2428"/>
                </a:solidFill>
                <a:latin typeface="Calibri"/>
              </a:rPr>
              <a:t>Context: Zurich · Modellierungsgebiet 03 · five hot days without rain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2 · SCOPING</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System of interest and boundaries</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521208"/>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Describe the system of interest, relevant subsystems, supersystem and system boundaries where relevant to your project.</a:t>
            </a:r>
          </a:p>
        </p:txBody>
      </p:sp>
      <p:sp>
        <p:nvSpPr>
          <p:cNvPr id="9" name="Rounded Rectangle 8"/>
          <p:cNvSpPr/>
          <p:nvPr/>
        </p:nvSpPr>
        <p:spPr>
          <a:xfrm>
            <a:off x="777240" y="2615184"/>
            <a:ext cx="7086600" cy="566928"/>
          </a:xfrm>
          <a:prstGeom prst="roundRect">
            <a:avLst>
              <a:gd name="adj" fmla="val 10000"/>
            </a:avLst>
          </a:prstGeom>
          <a:solidFill>
            <a:srgbClr val="F2F1EE"/>
          </a:solidFill>
          <a:ln w="12700">
            <a:solidFill>
              <a:srgbClr val="C9CF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95000"/>
              </a:lnSpc>
            </a:pPr>
            <a:r>
              <a:rPr sz="1250" b="1">
                <a:solidFill>
                  <a:srgbClr val="1E2428"/>
                </a:solidFill>
                <a:latin typeface="Calibri"/>
              </a:rPr>
              <a:t>SUPER-SYSTEM   ·   The city</a:t>
            </a:r>
          </a:p>
          <a:p>
            <a:pPr algn="ctr">
              <a:lnSpc>
                <a:spcPct val="95000"/>
              </a:lnSpc>
              <a:spcBef>
                <a:spcPts val="200"/>
              </a:spcBef>
            </a:pPr>
            <a:r>
              <a:rPr sz="950" i="1">
                <a:solidFill>
                  <a:srgbClr val="6B7277"/>
                </a:solidFill>
                <a:latin typeface="Calibri"/>
              </a:rPr>
              <a:t>microclimate · street canyon · radiation balance · air flow</a:t>
            </a:r>
          </a:p>
        </p:txBody>
      </p:sp>
      <p:sp>
        <p:nvSpPr>
          <p:cNvPr id="10" name="Rounded Rectangle 9"/>
          <p:cNvSpPr/>
          <p:nvPr/>
        </p:nvSpPr>
        <p:spPr>
          <a:xfrm>
            <a:off x="1280160" y="3694176"/>
            <a:ext cx="6080760" cy="896112"/>
          </a:xfrm>
          <a:prstGeom prst="roundRect">
            <a:avLst>
              <a:gd name="adj" fmla="val 10000"/>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95000"/>
              </a:lnSpc>
            </a:pPr>
            <a:r>
              <a:rPr sz="1250" b="1">
                <a:solidFill>
                  <a:srgbClr val="FFFFFF"/>
                </a:solidFill>
                <a:latin typeface="Calibri"/>
              </a:rPr>
              <a:t>SYSTEM OF INTEREST</a:t>
            </a:r>
          </a:p>
          <a:p>
            <a:pPr algn="ctr">
              <a:lnSpc>
                <a:spcPct val="95000"/>
              </a:lnSpc>
              <a:spcBef>
                <a:spcPts val="200"/>
              </a:spcBef>
            </a:pPr>
            <a:r>
              <a:rPr sz="1000" i="1">
                <a:solidFill>
                  <a:srgbClr val="FFFFFF"/>
                </a:solidFill>
                <a:latin typeface="Calibri"/>
              </a:rPr>
              <a:t>the heat-regulating outer layer of a façade  —  where the city's radiation arrives and the building's heat leaves</a:t>
            </a:r>
          </a:p>
        </p:txBody>
      </p:sp>
      <p:cxnSp>
        <p:nvCxnSpPr>
          <p:cNvPr id="11" name="Connector 10"/>
          <p:cNvCxnSpPr/>
          <p:nvPr/>
        </p:nvCxnSpPr>
        <p:spPr>
          <a:xfrm>
            <a:off x="4320540" y="3182112"/>
            <a:ext cx="0" cy="512064"/>
          </a:xfrm>
          <a:prstGeom prst="line">
            <a:avLst/>
          </a:prstGeom>
          <a:ln w="15875">
            <a:solidFill>
              <a:srgbClr val="6B72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5266944"/>
            <a:ext cx="1645920" cy="786384"/>
          </a:xfrm>
          <a:prstGeom prst="roundRect">
            <a:avLst>
              <a:gd name="adj" fmla="val 10000"/>
            </a:avLst>
          </a:prstGeom>
          <a:solidFill>
            <a:srgbClr val="FFFFFF"/>
          </a:solidFill>
          <a:ln w="12700">
            <a:solidFill>
              <a:srgbClr val="C9CF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95000"/>
              </a:lnSpc>
            </a:pPr>
            <a:r>
              <a:rPr sz="1100" b="0">
                <a:solidFill>
                  <a:srgbClr val="1E2428"/>
                </a:solidFill>
                <a:latin typeface="Calibri"/>
              </a:rPr>
              <a:t>Optical
outer surface</a:t>
            </a:r>
          </a:p>
        </p:txBody>
      </p:sp>
      <p:cxnSp>
        <p:nvCxnSpPr>
          <p:cNvPr id="13" name="Connector 12"/>
          <p:cNvCxnSpPr/>
          <p:nvPr/>
        </p:nvCxnSpPr>
        <p:spPr>
          <a:xfrm flipH="1">
            <a:off x="1600200" y="4590288"/>
            <a:ext cx="2720340" cy="676656"/>
          </a:xfrm>
          <a:prstGeom prst="line">
            <a:avLst/>
          </a:prstGeom>
          <a:ln w="11430">
            <a:solidFill>
              <a:srgbClr val="D8D4C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542032" y="5266944"/>
            <a:ext cx="1645920" cy="786384"/>
          </a:xfrm>
          <a:prstGeom prst="roundRect">
            <a:avLst>
              <a:gd name="adj" fmla="val 10000"/>
            </a:avLst>
          </a:prstGeom>
          <a:solidFill>
            <a:srgbClr val="FFFFFF"/>
          </a:solidFill>
          <a:ln w="12700">
            <a:solidFill>
              <a:srgbClr val="C9CF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95000"/>
              </a:lnSpc>
            </a:pPr>
            <a:r>
              <a:rPr sz="1100" b="0">
                <a:solidFill>
                  <a:srgbClr val="1E2428"/>
                </a:solidFill>
                <a:latin typeface="Calibri"/>
              </a:rPr>
              <a:t>Storage and
insulation layer</a:t>
            </a:r>
          </a:p>
        </p:txBody>
      </p:sp>
      <p:cxnSp>
        <p:nvCxnSpPr>
          <p:cNvPr id="15" name="Connector 14"/>
          <p:cNvCxnSpPr/>
          <p:nvPr/>
        </p:nvCxnSpPr>
        <p:spPr>
          <a:xfrm flipH="1">
            <a:off x="3364992" y="4590288"/>
            <a:ext cx="955548" cy="676656"/>
          </a:xfrm>
          <a:prstGeom prst="line">
            <a:avLst/>
          </a:prstGeom>
          <a:ln w="11430">
            <a:solidFill>
              <a:srgbClr val="D8D4C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06824" y="5266944"/>
            <a:ext cx="1645920" cy="786384"/>
          </a:xfrm>
          <a:prstGeom prst="roundRect">
            <a:avLst>
              <a:gd name="adj" fmla="val 10000"/>
            </a:avLst>
          </a:prstGeom>
          <a:solidFill>
            <a:srgbClr val="FFFFFF"/>
          </a:solidFill>
          <a:ln w="12700">
            <a:solidFill>
              <a:srgbClr val="C9CF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95000"/>
              </a:lnSpc>
            </a:pPr>
            <a:r>
              <a:rPr sz="1100" b="0">
                <a:solidFill>
                  <a:srgbClr val="1E2428"/>
                </a:solidFill>
                <a:latin typeface="Calibri"/>
              </a:rPr>
              <a:t>Materials</a:t>
            </a:r>
          </a:p>
        </p:txBody>
      </p:sp>
      <p:cxnSp>
        <p:nvCxnSpPr>
          <p:cNvPr id="17" name="Connector 16"/>
          <p:cNvCxnSpPr/>
          <p:nvPr/>
        </p:nvCxnSpPr>
        <p:spPr>
          <a:xfrm>
            <a:off x="4320540" y="4590288"/>
            <a:ext cx="809244" cy="676656"/>
          </a:xfrm>
          <a:prstGeom prst="line">
            <a:avLst/>
          </a:prstGeom>
          <a:ln w="11430">
            <a:solidFill>
              <a:srgbClr val="D8D4C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071616" y="5266944"/>
            <a:ext cx="1645920" cy="786384"/>
          </a:xfrm>
          <a:prstGeom prst="roundRect">
            <a:avLst>
              <a:gd name="adj" fmla="val 10000"/>
            </a:avLst>
          </a:prstGeom>
          <a:solidFill>
            <a:srgbClr val="FFFFFF"/>
          </a:solidFill>
          <a:ln w="12700">
            <a:solidFill>
              <a:srgbClr val="C9CF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95000"/>
              </a:lnSpc>
            </a:pPr>
            <a:r>
              <a:rPr sz="1100" b="0">
                <a:solidFill>
                  <a:srgbClr val="1E2428"/>
                </a:solidFill>
                <a:latin typeface="Calibri"/>
              </a:rPr>
              <a:t>Fixing to
the substrate</a:t>
            </a:r>
          </a:p>
        </p:txBody>
      </p:sp>
      <p:cxnSp>
        <p:nvCxnSpPr>
          <p:cNvPr id="19" name="Connector 18"/>
          <p:cNvCxnSpPr/>
          <p:nvPr/>
        </p:nvCxnSpPr>
        <p:spPr>
          <a:xfrm>
            <a:off x="4320540" y="4590288"/>
            <a:ext cx="2574036" cy="676656"/>
          </a:xfrm>
          <a:prstGeom prst="line">
            <a:avLst/>
          </a:prstGeom>
          <a:ln w="11430">
            <a:solidFill>
              <a:srgbClr val="D8D4C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 y="4882896"/>
            <a:ext cx="7086600" cy="274320"/>
          </a:xfrm>
          <a:prstGeom prst="rect">
            <a:avLst/>
          </a:prstGeom>
          <a:noFill/>
        </p:spPr>
        <p:txBody>
          <a:bodyPr wrap="square" lIns="0" rIns="0" tIns="0" bIns="0">
            <a:spAutoFit/>
          </a:bodyPr>
          <a:lstStyle/>
          <a:p>
            <a:pPr algn="ctr">
              <a:lnSpc>
                <a:spcPct val="95000"/>
              </a:lnSpc>
              <a:spcAft>
                <a:spcPts val="0"/>
              </a:spcAft>
            </a:pPr>
            <a:r>
              <a:rPr sz="1000" b="1" i="0">
                <a:solidFill>
                  <a:srgbClr val="6B7277"/>
                </a:solidFill>
                <a:latin typeface="Calibri"/>
              </a:rPr>
              <a:t>SUBSYSTEMS  —  what a concept may vary</a:t>
            </a:r>
          </a:p>
        </p:txBody>
      </p:sp>
      <p:sp>
        <p:nvSpPr>
          <p:cNvPr id="21" name="Rounded Rectangle 20"/>
          <p:cNvSpPr/>
          <p:nvPr/>
        </p:nvSpPr>
        <p:spPr>
          <a:xfrm>
            <a:off x="594359" y="3127248"/>
            <a:ext cx="7452360" cy="3127248"/>
          </a:xfrm>
          <a:prstGeom prst="roundRect">
            <a:avLst>
              <a:gd name="adj" fmla="val 3000"/>
            </a:avLst>
          </a:prstGeom>
          <a:noFill/>
          <a:ln w="19050">
            <a:solidFill>
              <a:srgbClr val="005A8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19" y="3145536"/>
            <a:ext cx="3108960" cy="274320"/>
          </a:xfrm>
          <a:prstGeom prst="rect">
            <a:avLst/>
          </a:prstGeom>
          <a:noFill/>
        </p:spPr>
        <p:txBody>
          <a:bodyPr wrap="square" lIns="0" rIns="0" tIns="0" bIns="0">
            <a:spAutoFit/>
          </a:bodyPr>
          <a:lstStyle/>
          <a:p>
            <a:pPr algn="l">
              <a:lnSpc>
                <a:spcPct val="95000"/>
              </a:lnSpc>
              <a:spcAft>
                <a:spcPts val="0"/>
              </a:spcAft>
            </a:pPr>
            <a:r>
              <a:rPr sz="1000" b="1" i="0">
                <a:solidFill>
                  <a:srgbClr val="005A8C"/>
                </a:solidFill>
                <a:latin typeface="Calibri"/>
              </a:rPr>
              <a:t>PROJECT BOUNDARY</a:t>
            </a:r>
          </a:p>
        </p:txBody>
      </p:sp>
      <p:sp>
        <p:nvSpPr>
          <p:cNvPr id="23" name="TextBox 22"/>
          <p:cNvSpPr txBox="1"/>
          <p:nvPr/>
        </p:nvSpPr>
        <p:spPr>
          <a:xfrm>
            <a:off x="8366760" y="2615184"/>
            <a:ext cx="3044952" cy="274320"/>
          </a:xfrm>
          <a:prstGeom prst="rect">
            <a:avLst/>
          </a:prstGeom>
          <a:noFill/>
        </p:spPr>
        <p:txBody>
          <a:bodyPr wrap="square" lIns="0" rIns="0" tIns="0" bIns="0">
            <a:spAutoFit/>
          </a:bodyPr>
          <a:lstStyle/>
          <a:p>
            <a:pPr algn="ctr">
              <a:lnSpc>
                <a:spcPct val="95000"/>
              </a:lnSpc>
              <a:spcAft>
                <a:spcPts val="0"/>
              </a:spcAft>
            </a:pPr>
            <a:r>
              <a:rPr sz="1050" b="1" i="0">
                <a:solidFill>
                  <a:srgbClr val="6B7277"/>
                </a:solidFill>
                <a:latin typeface="Calibri"/>
              </a:rPr>
              <a:t>PARALLEL SYSTEMS</a:t>
            </a:r>
          </a:p>
        </p:txBody>
      </p:sp>
      <p:sp>
        <p:nvSpPr>
          <p:cNvPr id="24" name="Rounded Rectangle 23"/>
          <p:cNvSpPr/>
          <p:nvPr/>
        </p:nvSpPr>
        <p:spPr>
          <a:xfrm>
            <a:off x="8366760" y="2980944"/>
            <a:ext cx="3044952" cy="713232"/>
          </a:xfrm>
          <a:prstGeom prst="roundRect">
            <a:avLst>
              <a:gd name="adj" fmla="val 10000"/>
            </a:avLst>
          </a:prstGeom>
          <a:solidFill>
            <a:srgbClr val="EEF3F7"/>
          </a:solidFill>
          <a:ln w="12700">
            <a:solidFill>
              <a:srgbClr val="C9CF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95000"/>
              </a:lnSpc>
            </a:pPr>
            <a:r>
              <a:rPr sz="1050" b="1">
                <a:solidFill>
                  <a:srgbClr val="1E2428"/>
                </a:solidFill>
                <a:latin typeface="Calibri"/>
              </a:rPr>
              <a:t>Street and pavement</a:t>
            </a:r>
          </a:p>
          <a:p>
            <a:pPr algn="ctr">
              <a:lnSpc>
                <a:spcPct val="95000"/>
              </a:lnSpc>
              <a:spcBef>
                <a:spcPts val="200"/>
              </a:spcBef>
            </a:pPr>
            <a:r>
              <a:rPr sz="850" i="1">
                <a:solidFill>
                  <a:srgbClr val="6B7277"/>
                </a:solidFill>
                <a:latin typeface="Calibri"/>
              </a:rPr>
              <a:t>same client, same logic — the benchmark</a:t>
            </a:r>
          </a:p>
        </p:txBody>
      </p:sp>
      <p:sp>
        <p:nvSpPr>
          <p:cNvPr id="25" name="Rounded Rectangle 24"/>
          <p:cNvSpPr/>
          <p:nvPr/>
        </p:nvSpPr>
        <p:spPr>
          <a:xfrm>
            <a:off x="8366760" y="3785615"/>
            <a:ext cx="3044952" cy="713232"/>
          </a:xfrm>
          <a:prstGeom prst="roundRect">
            <a:avLst>
              <a:gd name="adj" fmla="val 10000"/>
            </a:avLst>
          </a:prstGeom>
          <a:solidFill>
            <a:srgbClr val="EEF3F7"/>
          </a:solidFill>
          <a:ln w="12700">
            <a:solidFill>
              <a:srgbClr val="C9CF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95000"/>
              </a:lnSpc>
            </a:pPr>
            <a:r>
              <a:rPr sz="1050" b="1">
                <a:solidFill>
                  <a:srgbClr val="1E2428"/>
                </a:solidFill>
                <a:latin typeface="Calibri"/>
              </a:rPr>
              <a:t>Power grid and building energy</a:t>
            </a:r>
          </a:p>
          <a:p>
            <a:pPr algn="ctr">
              <a:lnSpc>
                <a:spcPct val="95000"/>
              </a:lnSpc>
              <a:spcBef>
                <a:spcPts val="200"/>
              </a:spcBef>
            </a:pPr>
            <a:r>
              <a:rPr sz="850" i="1">
                <a:solidFill>
                  <a:srgbClr val="6B7277"/>
                </a:solidFill>
                <a:latin typeface="Calibri"/>
              </a:rPr>
              <a:t>the conventional route, closed by the energy constraint</a:t>
            </a:r>
          </a:p>
        </p:txBody>
      </p:sp>
      <p:sp>
        <p:nvSpPr>
          <p:cNvPr id="26" name="Rounded Rectangle 25"/>
          <p:cNvSpPr/>
          <p:nvPr/>
        </p:nvSpPr>
        <p:spPr>
          <a:xfrm>
            <a:off x="8366760" y="4590288"/>
            <a:ext cx="3044952" cy="713232"/>
          </a:xfrm>
          <a:prstGeom prst="roundRect">
            <a:avLst>
              <a:gd name="adj" fmla="val 10000"/>
            </a:avLst>
          </a:prstGeom>
          <a:solidFill>
            <a:srgbClr val="EEF3F7"/>
          </a:solidFill>
          <a:ln w="12700">
            <a:solidFill>
              <a:srgbClr val="C9CF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95000"/>
              </a:lnSpc>
            </a:pPr>
            <a:r>
              <a:rPr sz="1050" b="1">
                <a:solidFill>
                  <a:srgbClr val="1E2428"/>
                </a:solidFill>
                <a:latin typeface="Calibri"/>
              </a:rPr>
              <a:t>Stormwater and sewer</a:t>
            </a:r>
          </a:p>
          <a:p>
            <a:pPr algn="ctr">
              <a:lnSpc>
                <a:spcPct val="95000"/>
              </a:lnSpc>
              <a:spcBef>
                <a:spcPts val="200"/>
              </a:spcBef>
            </a:pPr>
            <a:r>
              <a:rPr sz="850" i="1">
                <a:solidFill>
                  <a:srgbClr val="6B7277"/>
                </a:solidFill>
                <a:latin typeface="Calibri"/>
              </a:rPr>
              <a:t>carries the run-off our worn surface enters</a:t>
            </a:r>
          </a:p>
        </p:txBody>
      </p:sp>
      <p:sp>
        <p:nvSpPr>
          <p:cNvPr id="27" name="Rounded Rectangle 26"/>
          <p:cNvSpPr/>
          <p:nvPr/>
        </p:nvSpPr>
        <p:spPr>
          <a:xfrm>
            <a:off x="8366760" y="5394959"/>
            <a:ext cx="3044952" cy="713232"/>
          </a:xfrm>
          <a:prstGeom prst="roundRect">
            <a:avLst>
              <a:gd name="adj" fmla="val 10000"/>
            </a:avLst>
          </a:prstGeom>
          <a:solidFill>
            <a:srgbClr val="EEF3F7"/>
          </a:solidFill>
          <a:ln w="12700">
            <a:solidFill>
              <a:srgbClr val="C9CFD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95000"/>
              </a:lnSpc>
            </a:pPr>
            <a:r>
              <a:rPr sz="1050" b="1">
                <a:solidFill>
                  <a:srgbClr val="1E2428"/>
                </a:solidFill>
                <a:latin typeface="Calibri"/>
              </a:rPr>
              <a:t>Residents and transport</a:t>
            </a:r>
          </a:p>
          <a:p>
            <a:pPr algn="ctr">
              <a:lnSpc>
                <a:spcPct val="95000"/>
              </a:lnSpc>
              <a:spcBef>
                <a:spcPts val="200"/>
              </a:spcBef>
            </a:pPr>
            <a:r>
              <a:rPr sz="850" i="1">
                <a:solidFill>
                  <a:srgbClr val="6B7277"/>
                </a:solidFill>
                <a:latin typeface="Calibri"/>
              </a:rPr>
              <a:t>fix where the effect must appear: head height</a:t>
            </a:r>
          </a:p>
        </p:txBody>
      </p:sp>
      <p:cxnSp>
        <p:nvCxnSpPr>
          <p:cNvPr id="28" name="Connector 27"/>
          <p:cNvCxnSpPr/>
          <p:nvPr/>
        </p:nvCxnSpPr>
        <p:spPr>
          <a:xfrm flipH="1" flipV="1">
            <a:off x="7543800" y="4142232"/>
            <a:ext cx="804672" cy="402336"/>
          </a:xfrm>
          <a:prstGeom prst="line">
            <a:avLst/>
          </a:prstGeom>
          <a:ln w="15875">
            <a:solidFill>
              <a:srgbClr val="6B7277"/>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77240" y="6419088"/>
            <a:ext cx="10607040" cy="292608"/>
          </a:xfrm>
          <a:prstGeom prst="rect">
            <a:avLst/>
          </a:prstGeom>
          <a:noFill/>
        </p:spPr>
        <p:txBody>
          <a:bodyPr wrap="square" lIns="0" rIns="0" tIns="0" bIns="0">
            <a:spAutoFit/>
          </a:bodyPr>
          <a:lstStyle/>
          <a:p>
            <a:pPr algn="l">
              <a:lnSpc>
                <a:spcPct val="95000"/>
              </a:lnSpc>
              <a:spcAft>
                <a:spcPts val="0"/>
              </a:spcAft>
            </a:pPr>
            <a:r>
              <a:rPr sz="1300" b="1" i="0">
                <a:solidFill>
                  <a:srgbClr val="A83B2E"/>
                </a:solidFill>
                <a:latin typeface="Calibri"/>
              </a:rPr>
              <a:t>OUT of the project:  redesign the building  ·  reuse the stored heat  ·  cool the inside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2 · SCOPING</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Key functions, written as verbs</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521208"/>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Identify the key functions. Functions should be written as verbs and aligned with the taxonomy explainer.</a:t>
            </a:r>
          </a:p>
        </p:txBody>
      </p:sp>
      <p:sp>
        <p:nvSpPr>
          <p:cNvPr id="9" name="Rectangle 8"/>
          <p:cNvSpPr/>
          <p:nvPr/>
        </p:nvSpPr>
        <p:spPr>
          <a:xfrm>
            <a:off x="777240" y="2834639"/>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734056"/>
            <a:ext cx="4572000" cy="457200"/>
          </a:xfrm>
          <a:prstGeom prst="rect">
            <a:avLst/>
          </a:prstGeom>
          <a:noFill/>
        </p:spPr>
        <p:txBody>
          <a:bodyPr wrap="square" lIns="0" rIns="0" tIns="0" bIns="0">
            <a:spAutoFit/>
          </a:bodyPr>
          <a:lstStyle/>
          <a:p>
            <a:pPr algn="l">
              <a:lnSpc>
                <a:spcPct val="95000"/>
              </a:lnSpc>
              <a:spcAft>
                <a:spcPts val="0"/>
              </a:spcAft>
            </a:pPr>
            <a:r>
              <a:rPr sz="2200" b="1" i="0">
                <a:solidFill>
                  <a:srgbClr val="1E2428"/>
                </a:solidFill>
                <a:latin typeface="Calibri"/>
              </a:rPr>
              <a:t>F1  regulate</a:t>
            </a:r>
          </a:p>
        </p:txBody>
      </p:sp>
      <p:sp>
        <p:nvSpPr>
          <p:cNvPr id="11" name="Rectangle 10"/>
          <p:cNvSpPr/>
          <p:nvPr/>
        </p:nvSpPr>
        <p:spPr>
          <a:xfrm>
            <a:off x="777240" y="3474719"/>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3374135"/>
            <a:ext cx="4572000" cy="457200"/>
          </a:xfrm>
          <a:prstGeom prst="rect">
            <a:avLst/>
          </a:prstGeom>
          <a:noFill/>
        </p:spPr>
        <p:txBody>
          <a:bodyPr wrap="square" lIns="0" rIns="0" tIns="0" bIns="0">
            <a:spAutoFit/>
          </a:bodyPr>
          <a:lstStyle/>
          <a:p>
            <a:pPr algn="l">
              <a:lnSpc>
                <a:spcPct val="95000"/>
              </a:lnSpc>
              <a:spcAft>
                <a:spcPts val="0"/>
              </a:spcAft>
            </a:pPr>
            <a:r>
              <a:rPr sz="2200" b="0" i="0">
                <a:solidFill>
                  <a:srgbClr val="6B7277"/>
                </a:solidFill>
                <a:latin typeface="Calibri"/>
              </a:rPr>
              <a:t>F2  reflect</a:t>
            </a:r>
          </a:p>
        </p:txBody>
      </p:sp>
      <p:sp>
        <p:nvSpPr>
          <p:cNvPr id="13" name="Rectangle 12"/>
          <p:cNvSpPr/>
          <p:nvPr/>
        </p:nvSpPr>
        <p:spPr>
          <a:xfrm>
            <a:off x="777240" y="411480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014215"/>
            <a:ext cx="4572000" cy="457200"/>
          </a:xfrm>
          <a:prstGeom prst="rect">
            <a:avLst/>
          </a:prstGeom>
          <a:noFill/>
        </p:spPr>
        <p:txBody>
          <a:bodyPr wrap="square" lIns="0" rIns="0" tIns="0" bIns="0">
            <a:spAutoFit/>
          </a:bodyPr>
          <a:lstStyle/>
          <a:p>
            <a:pPr algn="l">
              <a:lnSpc>
                <a:spcPct val="95000"/>
              </a:lnSpc>
              <a:spcAft>
                <a:spcPts val="0"/>
              </a:spcAft>
            </a:pPr>
            <a:r>
              <a:rPr sz="2200" b="0" i="0">
                <a:solidFill>
                  <a:srgbClr val="6B7277"/>
                </a:solidFill>
                <a:latin typeface="Calibri"/>
              </a:rPr>
              <a:t>F3  shade</a:t>
            </a:r>
          </a:p>
        </p:txBody>
      </p:sp>
      <p:sp>
        <p:nvSpPr>
          <p:cNvPr id="15" name="Rectangle 14"/>
          <p:cNvSpPr/>
          <p:nvPr/>
        </p:nvSpPr>
        <p:spPr>
          <a:xfrm>
            <a:off x="777240" y="475488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4654296"/>
            <a:ext cx="4572000" cy="457200"/>
          </a:xfrm>
          <a:prstGeom prst="rect">
            <a:avLst/>
          </a:prstGeom>
          <a:noFill/>
        </p:spPr>
        <p:txBody>
          <a:bodyPr wrap="square" lIns="0" rIns="0" tIns="0" bIns="0">
            <a:spAutoFit/>
          </a:bodyPr>
          <a:lstStyle/>
          <a:p>
            <a:pPr algn="l">
              <a:lnSpc>
                <a:spcPct val="95000"/>
              </a:lnSpc>
              <a:spcAft>
                <a:spcPts val="0"/>
              </a:spcAft>
            </a:pPr>
            <a:r>
              <a:rPr sz="2200" b="0" i="0">
                <a:solidFill>
                  <a:srgbClr val="6B7277"/>
                </a:solidFill>
                <a:latin typeface="Calibri"/>
              </a:rPr>
              <a:t>F4  emit</a:t>
            </a:r>
          </a:p>
        </p:txBody>
      </p:sp>
      <p:sp>
        <p:nvSpPr>
          <p:cNvPr id="17" name="Rectangle 16"/>
          <p:cNvSpPr/>
          <p:nvPr/>
        </p:nvSpPr>
        <p:spPr>
          <a:xfrm>
            <a:off x="6035040" y="2834639"/>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734056"/>
            <a:ext cx="4937760" cy="457200"/>
          </a:xfrm>
          <a:prstGeom prst="rect">
            <a:avLst/>
          </a:prstGeom>
          <a:noFill/>
        </p:spPr>
        <p:txBody>
          <a:bodyPr wrap="square" lIns="0" rIns="0" tIns="0" bIns="0">
            <a:spAutoFit/>
          </a:bodyPr>
          <a:lstStyle/>
          <a:p>
            <a:pPr algn="l">
              <a:lnSpc>
                <a:spcPct val="95000"/>
              </a:lnSpc>
              <a:spcAft>
                <a:spcPts val="0"/>
              </a:spcAft>
            </a:pPr>
            <a:r>
              <a:rPr sz="2200" b="0" i="0">
                <a:solidFill>
                  <a:srgbClr val="6B7277"/>
                </a:solidFill>
                <a:latin typeface="Calibri"/>
              </a:rPr>
              <a:t>F5  transfer to air</a:t>
            </a:r>
          </a:p>
        </p:txBody>
      </p:sp>
      <p:sp>
        <p:nvSpPr>
          <p:cNvPr id="19" name="Rectangle 18"/>
          <p:cNvSpPr/>
          <p:nvPr/>
        </p:nvSpPr>
        <p:spPr>
          <a:xfrm>
            <a:off x="6035040" y="3474719"/>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6792" y="3374135"/>
            <a:ext cx="4937760" cy="457200"/>
          </a:xfrm>
          <a:prstGeom prst="rect">
            <a:avLst/>
          </a:prstGeom>
          <a:noFill/>
        </p:spPr>
        <p:txBody>
          <a:bodyPr wrap="square" lIns="0" rIns="0" tIns="0" bIns="0">
            <a:spAutoFit/>
          </a:bodyPr>
          <a:lstStyle/>
          <a:p>
            <a:pPr algn="l">
              <a:lnSpc>
                <a:spcPct val="95000"/>
              </a:lnSpc>
              <a:spcAft>
                <a:spcPts val="0"/>
              </a:spcAft>
            </a:pPr>
            <a:r>
              <a:rPr sz="2200" b="0" i="0">
                <a:solidFill>
                  <a:srgbClr val="6B7277"/>
                </a:solidFill>
                <a:latin typeface="Calibri"/>
              </a:rPr>
              <a:t>F6  store</a:t>
            </a:r>
          </a:p>
        </p:txBody>
      </p:sp>
      <p:sp>
        <p:nvSpPr>
          <p:cNvPr id="21" name="Rectangle 20"/>
          <p:cNvSpPr/>
          <p:nvPr/>
        </p:nvSpPr>
        <p:spPr>
          <a:xfrm>
            <a:off x="6035040" y="411480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6792" y="4014215"/>
            <a:ext cx="4937760" cy="457200"/>
          </a:xfrm>
          <a:prstGeom prst="rect">
            <a:avLst/>
          </a:prstGeom>
          <a:noFill/>
        </p:spPr>
        <p:txBody>
          <a:bodyPr wrap="square" lIns="0" rIns="0" tIns="0" bIns="0">
            <a:spAutoFit/>
          </a:bodyPr>
          <a:lstStyle/>
          <a:p>
            <a:pPr algn="l">
              <a:lnSpc>
                <a:spcPct val="95000"/>
              </a:lnSpc>
              <a:spcAft>
                <a:spcPts val="0"/>
              </a:spcAft>
            </a:pPr>
            <a:r>
              <a:rPr sz="2200" b="1" i="0">
                <a:solidFill>
                  <a:srgbClr val="1E2428"/>
                </a:solidFill>
                <a:latin typeface="Calibri"/>
              </a:rPr>
              <a:t>F7  couple to load</a:t>
            </a:r>
          </a:p>
        </p:txBody>
      </p:sp>
      <p:sp>
        <p:nvSpPr>
          <p:cNvPr id="23" name="Rectangle 22"/>
          <p:cNvSpPr/>
          <p:nvPr/>
        </p:nvSpPr>
        <p:spPr>
          <a:xfrm>
            <a:off x="6035040" y="475488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6792" y="4654296"/>
            <a:ext cx="4937760" cy="457200"/>
          </a:xfrm>
          <a:prstGeom prst="rect">
            <a:avLst/>
          </a:prstGeom>
          <a:noFill/>
        </p:spPr>
        <p:txBody>
          <a:bodyPr wrap="square" lIns="0" rIns="0" tIns="0" bIns="0">
            <a:spAutoFit/>
          </a:bodyPr>
          <a:lstStyle/>
          <a:p>
            <a:pPr algn="l">
              <a:lnSpc>
                <a:spcPct val="95000"/>
              </a:lnSpc>
              <a:spcAft>
                <a:spcPts val="0"/>
              </a:spcAft>
            </a:pPr>
            <a:r>
              <a:rPr sz="2200" b="0" i="0">
                <a:solidFill>
                  <a:srgbClr val="6B7277"/>
                </a:solidFill>
                <a:latin typeface="Calibri"/>
              </a:rPr>
              <a:t>F8  resist</a:t>
            </a:r>
          </a:p>
        </p:txBody>
      </p:sp>
      <p:sp>
        <p:nvSpPr>
          <p:cNvPr id="25" name="TextBox 24"/>
          <p:cNvSpPr txBox="1"/>
          <p:nvPr/>
        </p:nvSpPr>
        <p:spPr>
          <a:xfrm>
            <a:off x="777240" y="5623560"/>
            <a:ext cx="10607040" cy="777240"/>
          </a:xfrm>
          <a:prstGeom prst="rect">
            <a:avLst/>
          </a:prstGeom>
          <a:noFill/>
        </p:spPr>
        <p:txBody>
          <a:bodyPr wrap="square" lIns="0" rIns="0" tIns="0" bIns="0">
            <a:spAutoFit/>
          </a:bodyPr>
          <a:lstStyle/>
          <a:p>
            <a:pPr algn="l">
              <a:lnSpc>
                <a:spcPct val="120000"/>
              </a:lnSpc>
              <a:spcAft>
                <a:spcPts val="0"/>
              </a:spcAft>
            </a:pPr>
            <a:r>
              <a:rPr sz="1700" b="0" i="0">
                <a:solidFill>
                  <a:srgbClr val="6B7277"/>
                </a:solidFill>
                <a:latin typeface="Calibri"/>
              </a:rPr>
              <a:t>F7 is not one taxonomy branch — it is “sense temperature” paired with “respond to signal”.
That is why searching by organism would never have found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2 · SCOPING</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First abstract functional diagram</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521208"/>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Provide a first abstract functional diagram showing main functions and energy, material and information flows. Keep it solution-neutral.</a:t>
            </a:r>
          </a:p>
        </p:txBody>
      </p:sp>
      <p:sp>
        <p:nvSpPr>
          <p:cNvPr id="9" name="Rectangle 8"/>
          <p:cNvSpPr/>
          <p:nvPr/>
        </p:nvSpPr>
        <p:spPr>
          <a:xfrm>
            <a:off x="777240" y="2834639"/>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734056"/>
            <a:ext cx="4572000" cy="457200"/>
          </a:xfrm>
          <a:prstGeom prst="rect">
            <a:avLst/>
          </a:prstGeom>
          <a:noFill/>
        </p:spPr>
        <p:txBody>
          <a:bodyPr wrap="square" lIns="0" rIns="0" tIns="0" bIns="0">
            <a:spAutoFit/>
          </a:bodyPr>
          <a:lstStyle/>
          <a:p>
            <a:pPr algn="l">
              <a:lnSpc>
                <a:spcPct val="95000"/>
              </a:lnSpc>
              <a:spcAft>
                <a:spcPts val="0"/>
              </a:spcAft>
            </a:pPr>
            <a:r>
              <a:rPr sz="2000" b="0" i="0">
                <a:solidFill>
                  <a:srgbClr val="6B7277"/>
                </a:solidFill>
                <a:latin typeface="Calibri"/>
              </a:rPr>
              <a:t>no components</a:t>
            </a:r>
          </a:p>
        </p:txBody>
      </p:sp>
      <p:sp>
        <p:nvSpPr>
          <p:cNvPr id="11" name="Rectangle 10"/>
          <p:cNvSpPr/>
          <p:nvPr/>
        </p:nvSpPr>
        <p:spPr>
          <a:xfrm>
            <a:off x="777240" y="3456432"/>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3355848"/>
            <a:ext cx="4572000" cy="457200"/>
          </a:xfrm>
          <a:prstGeom prst="rect">
            <a:avLst/>
          </a:prstGeom>
          <a:noFill/>
        </p:spPr>
        <p:txBody>
          <a:bodyPr wrap="square" lIns="0" rIns="0" tIns="0" bIns="0">
            <a:spAutoFit/>
          </a:bodyPr>
          <a:lstStyle/>
          <a:p>
            <a:pPr algn="l">
              <a:lnSpc>
                <a:spcPct val="95000"/>
              </a:lnSpc>
              <a:spcAft>
                <a:spcPts val="0"/>
              </a:spcAft>
            </a:pPr>
            <a:r>
              <a:rPr sz="2000" b="0" i="0">
                <a:solidFill>
                  <a:srgbClr val="6B7277"/>
                </a:solidFill>
                <a:latin typeface="Calibri"/>
              </a:rPr>
              <a:t>no materials</a:t>
            </a:r>
          </a:p>
        </p:txBody>
      </p:sp>
      <p:sp>
        <p:nvSpPr>
          <p:cNvPr id="13" name="Rectangle 12"/>
          <p:cNvSpPr/>
          <p:nvPr/>
        </p:nvSpPr>
        <p:spPr>
          <a:xfrm>
            <a:off x="777240" y="407822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3977639"/>
            <a:ext cx="4572000" cy="457200"/>
          </a:xfrm>
          <a:prstGeom prst="rect">
            <a:avLst/>
          </a:prstGeom>
          <a:noFill/>
        </p:spPr>
        <p:txBody>
          <a:bodyPr wrap="square" lIns="0" rIns="0" tIns="0" bIns="0">
            <a:spAutoFit/>
          </a:bodyPr>
          <a:lstStyle/>
          <a:p>
            <a:pPr algn="l">
              <a:lnSpc>
                <a:spcPct val="95000"/>
              </a:lnSpc>
              <a:spcAft>
                <a:spcPts val="0"/>
              </a:spcAft>
            </a:pPr>
            <a:r>
              <a:rPr sz="2000" b="1" i="0">
                <a:solidFill>
                  <a:srgbClr val="1E2428"/>
                </a:solidFill>
                <a:latin typeface="Calibri"/>
              </a:rPr>
              <a:t>true for every later concept</a:t>
            </a:r>
          </a:p>
        </p:txBody>
      </p:sp>
      <p:sp>
        <p:nvSpPr>
          <p:cNvPr id="15" name="Rectangle 14"/>
          <p:cNvSpPr/>
          <p:nvPr/>
        </p:nvSpPr>
        <p:spPr>
          <a:xfrm>
            <a:off x="777240" y="4700016"/>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4599431"/>
            <a:ext cx="4572000" cy="457200"/>
          </a:xfrm>
          <a:prstGeom prst="rect">
            <a:avLst/>
          </a:prstGeom>
          <a:noFill/>
        </p:spPr>
        <p:txBody>
          <a:bodyPr wrap="square" lIns="0" rIns="0" tIns="0" bIns="0">
            <a:spAutoFit/>
          </a:bodyPr>
          <a:lstStyle/>
          <a:p>
            <a:pPr algn="l">
              <a:lnSpc>
                <a:spcPct val="95000"/>
              </a:lnSpc>
              <a:spcAft>
                <a:spcPts val="0"/>
              </a:spcAft>
            </a:pPr>
            <a:r>
              <a:rPr sz="2000" b="0" i="0">
                <a:solidFill>
                  <a:srgbClr val="6B7277"/>
                </a:solidFill>
                <a:latin typeface="Calibri"/>
              </a:rPr>
              <a:t>one loop only: F7</a:t>
            </a:r>
          </a:p>
        </p:txBody>
      </p:sp>
      <p:sp>
        <p:nvSpPr>
          <p:cNvPr id="17" name="Rounded Rectangle 16"/>
          <p:cNvSpPr/>
          <p:nvPr/>
        </p:nvSpPr>
        <p:spPr>
          <a:xfrm>
            <a:off x="6035040" y="2651760"/>
            <a:ext cx="5394960" cy="3566160"/>
          </a:xfrm>
          <a:prstGeom prst="roundRect">
            <a:avLst>
              <a:gd name="adj" fmla="val 2000"/>
            </a:avLst>
          </a:prstGeom>
          <a:solidFill>
            <a:srgbClr val="ECF2F6"/>
          </a:solidFill>
          <a:ln w="12700">
            <a:solidFill>
              <a:srgbClr val="9FB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59" y="2852928"/>
            <a:ext cx="4846320" cy="274320"/>
          </a:xfrm>
          <a:prstGeom prst="rect">
            <a:avLst/>
          </a:prstGeom>
          <a:noFill/>
        </p:spPr>
        <p:txBody>
          <a:bodyPr wrap="square" lIns="0" rIns="0" tIns="0" bIns="0">
            <a:spAutoFit/>
          </a:bodyPr>
          <a:lstStyle/>
          <a:p>
            <a:pPr algn="l">
              <a:lnSpc>
                <a:spcPct val="95000"/>
              </a:lnSpc>
              <a:spcAft>
                <a:spcPts val="0"/>
              </a:spcAft>
            </a:pPr>
            <a:r>
              <a:rPr sz="1050" b="1" i="0">
                <a:solidFill>
                  <a:srgbClr val="005A8C"/>
                </a:solidFill>
                <a:latin typeface="Calibri"/>
              </a:rPr>
              <a:t>IMAGE PROMPT</a:t>
            </a:r>
          </a:p>
        </p:txBody>
      </p:sp>
      <p:sp>
        <p:nvSpPr>
          <p:cNvPr id="19" name="TextBox 18"/>
          <p:cNvSpPr txBox="1"/>
          <p:nvPr/>
        </p:nvSpPr>
        <p:spPr>
          <a:xfrm>
            <a:off x="6309359" y="3200400"/>
            <a:ext cx="4846320" cy="2788920"/>
          </a:xfrm>
          <a:prstGeom prst="rect">
            <a:avLst/>
          </a:prstGeom>
          <a:noFill/>
        </p:spPr>
        <p:txBody>
          <a:bodyPr wrap="square" lIns="0" rIns="0" tIns="0" bIns="0">
            <a:spAutoFit/>
          </a:bodyPr>
          <a:lstStyle/>
          <a:p>
            <a:pPr>
              <a:lnSpc>
                <a:spcPct val="102000"/>
              </a:lnSpc>
            </a:pPr>
            <a:r>
              <a:rPr sz="1050">
                <a:solidFill>
                  <a:srgbClr val="1E2428"/>
                </a:solidFill>
                <a:latin typeface="Consolas"/>
              </a:rPr>
              <a:t>Abstract flow diagram, no text. Left: a sun symbol with rays. Middle: three stacked rounded boxes — one deflecting rays upward, one glowing warm as a store, two on the right receiving arrows from the store. Right: three sinks — a sky band, an air swirl, a building outline. Grey arrows for energy flow, one dashed orange arrow curving from the warm store back to a removal box to show feedback, one thin red arrow to the building marked unwanted. Flat vector infographic, generous spacing. Negative prompt: text, letters, watermark, logo, people's faces, cartoon, low detail, oversaturated, HDR halo, distorted geometry.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2 · SCOPING</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Biologized questions</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521208"/>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Formulate biologized questions that guide the search for natural models.</a:t>
            </a:r>
          </a:p>
        </p:txBody>
      </p:sp>
      <p:sp>
        <p:nvSpPr>
          <p:cNvPr id="9" name="Rectangle 8"/>
          <p:cNvSpPr/>
          <p:nvPr/>
        </p:nvSpPr>
        <p:spPr>
          <a:xfrm>
            <a:off x="777240" y="2834639"/>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734056"/>
            <a:ext cx="10424160" cy="457200"/>
          </a:xfrm>
          <a:prstGeom prst="rect">
            <a:avLst/>
          </a:prstGeom>
          <a:noFill/>
        </p:spPr>
        <p:txBody>
          <a:bodyPr wrap="square" lIns="0" rIns="0" tIns="0" bIns="0">
            <a:spAutoFit/>
          </a:bodyPr>
          <a:lstStyle/>
          <a:p>
            <a:pPr algn="l">
              <a:lnSpc>
                <a:spcPct val="95000"/>
              </a:lnSpc>
              <a:spcAft>
                <a:spcPts val="0"/>
              </a:spcAft>
            </a:pPr>
            <a:r>
              <a:rPr sz="2000" b="1" i="0">
                <a:solidFill>
                  <a:srgbClr val="1E2428"/>
                </a:solidFill>
                <a:latin typeface="Calibri"/>
              </a:rPr>
              <a:t>F7 — respond harder without a controller?</a:t>
            </a:r>
          </a:p>
        </p:txBody>
      </p:sp>
      <p:sp>
        <p:nvSpPr>
          <p:cNvPr id="11" name="Rectangle 10"/>
          <p:cNvSpPr/>
          <p:nvPr/>
        </p:nvSpPr>
        <p:spPr>
          <a:xfrm>
            <a:off x="777240" y="3419856"/>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3319272"/>
            <a:ext cx="10424160" cy="457200"/>
          </a:xfrm>
          <a:prstGeom prst="rect">
            <a:avLst/>
          </a:prstGeom>
          <a:noFill/>
        </p:spPr>
        <p:txBody>
          <a:bodyPr wrap="square" lIns="0" rIns="0" tIns="0" bIns="0">
            <a:spAutoFit/>
          </a:bodyPr>
          <a:lstStyle/>
          <a:p>
            <a:pPr algn="l">
              <a:lnSpc>
                <a:spcPct val="95000"/>
              </a:lnSpc>
              <a:spcAft>
                <a:spcPts val="0"/>
              </a:spcAft>
            </a:pPr>
            <a:r>
              <a:rPr sz="2000" b="0" i="0">
                <a:solidFill>
                  <a:srgbClr val="6B7277"/>
                </a:solidFill>
                <a:latin typeface="Calibri"/>
              </a:rPr>
              <a:t>F2 — reflect without pigment, without a mirror?</a:t>
            </a:r>
          </a:p>
        </p:txBody>
      </p:sp>
      <p:sp>
        <p:nvSpPr>
          <p:cNvPr id="13" name="Rectangle 12"/>
          <p:cNvSpPr/>
          <p:nvPr/>
        </p:nvSpPr>
        <p:spPr>
          <a:xfrm>
            <a:off x="777240" y="4005072"/>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3904487"/>
            <a:ext cx="10424160" cy="457200"/>
          </a:xfrm>
          <a:prstGeom prst="rect">
            <a:avLst/>
          </a:prstGeom>
          <a:noFill/>
        </p:spPr>
        <p:txBody>
          <a:bodyPr wrap="square" lIns="0" rIns="0" tIns="0" bIns="0">
            <a:spAutoFit/>
          </a:bodyPr>
          <a:lstStyle/>
          <a:p>
            <a:pPr algn="l">
              <a:lnSpc>
                <a:spcPct val="95000"/>
              </a:lnSpc>
              <a:spcAft>
                <a:spcPts val="0"/>
              </a:spcAft>
            </a:pPr>
            <a:r>
              <a:rPr sz="2000" b="0" i="0">
                <a:solidFill>
                  <a:srgbClr val="6B7277"/>
                </a:solidFill>
                <a:latin typeface="Calibri"/>
              </a:rPr>
              <a:t>F3 — shade a surface in the desert?</a:t>
            </a:r>
          </a:p>
        </p:txBody>
      </p:sp>
      <p:sp>
        <p:nvSpPr>
          <p:cNvPr id="15" name="Rectangle 14"/>
          <p:cNvSpPr/>
          <p:nvPr/>
        </p:nvSpPr>
        <p:spPr>
          <a:xfrm>
            <a:off x="777240" y="4590288"/>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4489704"/>
            <a:ext cx="10424160" cy="457200"/>
          </a:xfrm>
          <a:prstGeom prst="rect">
            <a:avLst/>
          </a:prstGeom>
          <a:noFill/>
        </p:spPr>
        <p:txBody>
          <a:bodyPr wrap="square" lIns="0" rIns="0" tIns="0" bIns="0">
            <a:spAutoFit/>
          </a:bodyPr>
          <a:lstStyle/>
          <a:p>
            <a:pPr algn="l">
              <a:lnSpc>
                <a:spcPct val="95000"/>
              </a:lnSpc>
              <a:spcAft>
                <a:spcPts val="0"/>
              </a:spcAft>
            </a:pPr>
            <a:r>
              <a:rPr sz="2000" b="0" i="0">
                <a:solidFill>
                  <a:srgbClr val="6B7277"/>
                </a:solidFill>
                <a:latin typeface="Calibri"/>
              </a:rPr>
              <a:t>F4 — release heat to the night sky?</a:t>
            </a:r>
          </a:p>
        </p:txBody>
      </p:sp>
      <p:sp>
        <p:nvSpPr>
          <p:cNvPr id="17" name="Rectangle 16"/>
          <p:cNvSpPr/>
          <p:nvPr/>
        </p:nvSpPr>
        <p:spPr>
          <a:xfrm>
            <a:off x="777240" y="517550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8992" y="5074920"/>
            <a:ext cx="10424160" cy="457200"/>
          </a:xfrm>
          <a:prstGeom prst="rect">
            <a:avLst/>
          </a:prstGeom>
          <a:noFill/>
        </p:spPr>
        <p:txBody>
          <a:bodyPr wrap="square" lIns="0" rIns="0" tIns="0" bIns="0">
            <a:spAutoFit/>
          </a:bodyPr>
          <a:lstStyle/>
          <a:p>
            <a:pPr algn="l">
              <a:lnSpc>
                <a:spcPct val="95000"/>
              </a:lnSpc>
              <a:spcAft>
                <a:spcPts val="0"/>
              </a:spcAft>
            </a:pPr>
            <a:r>
              <a:rPr sz="2000" b="0" i="0">
                <a:solidFill>
                  <a:srgbClr val="6B7277"/>
                </a:solidFill>
                <a:latin typeface="Calibri"/>
              </a:rPr>
              <a:t>F6 — buffer an extreme instead of resisting it?</a:t>
            </a:r>
          </a:p>
        </p:txBody>
      </p:sp>
      <p:sp>
        <p:nvSpPr>
          <p:cNvPr id="19" name="Rectangle 18"/>
          <p:cNvSpPr/>
          <p:nvPr/>
        </p:nvSpPr>
        <p:spPr>
          <a:xfrm>
            <a:off x="777240" y="576072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8992" y="5660136"/>
            <a:ext cx="10424160" cy="457200"/>
          </a:xfrm>
          <a:prstGeom prst="rect">
            <a:avLst/>
          </a:prstGeom>
          <a:noFill/>
        </p:spPr>
        <p:txBody>
          <a:bodyPr wrap="square" lIns="0" rIns="0" tIns="0" bIns="0">
            <a:spAutoFit/>
          </a:bodyPr>
          <a:lstStyle/>
          <a:p>
            <a:pPr algn="l">
              <a:lnSpc>
                <a:spcPct val="95000"/>
              </a:lnSpc>
              <a:spcAft>
                <a:spcPts val="0"/>
              </a:spcAft>
            </a:pPr>
            <a:r>
              <a:rPr sz="2000" b="0" i="0">
                <a:solidFill>
                  <a:srgbClr val="6B7277"/>
                </a:solidFill>
                <a:latin typeface="Calibri"/>
              </a:rPr>
              <a:t>F8 — stay clean without being cleaned?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2 · SCOPING</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Six criteria, each with a Life's Principle</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521208"/>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Define 4–7 performance criteria / KPIs including life principles, used later to compare and evaluate concepts.</a:t>
            </a:r>
          </a:p>
        </p:txBody>
      </p:sp>
      <p:sp>
        <p:nvSpPr>
          <p:cNvPr id="9" name="Rectangle 8"/>
          <p:cNvSpPr/>
          <p:nvPr/>
        </p:nvSpPr>
        <p:spPr>
          <a:xfrm>
            <a:off x="777240" y="2834639"/>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734056"/>
            <a:ext cx="10424160" cy="457200"/>
          </a:xfrm>
          <a:prstGeom prst="rect">
            <a:avLst/>
          </a:prstGeom>
          <a:noFill/>
        </p:spPr>
        <p:txBody>
          <a:bodyPr wrap="square" lIns="0" rIns="0" tIns="0" bIns="0">
            <a:spAutoFit/>
          </a:bodyPr>
          <a:lstStyle/>
          <a:p>
            <a:pPr algn="l">
              <a:lnSpc>
                <a:spcPct val="95000"/>
              </a:lnSpc>
              <a:spcAft>
                <a:spcPts val="0"/>
              </a:spcAft>
            </a:pPr>
            <a:r>
              <a:rPr sz="2000" b="1" i="0">
                <a:solidFill>
                  <a:srgbClr val="1E2428"/>
                </a:solidFill>
                <a:latin typeface="Calibri"/>
              </a:rPr>
              <a:t>1  ∂P/∂T  — locally attuned &amp; responsive</a:t>
            </a:r>
          </a:p>
        </p:txBody>
      </p:sp>
      <p:sp>
        <p:nvSpPr>
          <p:cNvPr id="11" name="Rectangle 10"/>
          <p:cNvSpPr/>
          <p:nvPr/>
        </p:nvSpPr>
        <p:spPr>
          <a:xfrm>
            <a:off x="777240" y="3419856"/>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3319272"/>
            <a:ext cx="10424160" cy="457200"/>
          </a:xfrm>
          <a:prstGeom prst="rect">
            <a:avLst/>
          </a:prstGeom>
          <a:noFill/>
        </p:spPr>
        <p:txBody>
          <a:bodyPr wrap="square" lIns="0" rIns="0" tIns="0" bIns="0">
            <a:spAutoFit/>
          </a:bodyPr>
          <a:lstStyle/>
          <a:p>
            <a:pPr algn="l">
              <a:lnSpc>
                <a:spcPct val="95000"/>
              </a:lnSpc>
              <a:spcAft>
                <a:spcPts val="0"/>
              </a:spcAft>
            </a:pPr>
            <a:r>
              <a:rPr sz="2000" b="0" i="0">
                <a:solidFill>
                  <a:srgbClr val="6B7277"/>
                </a:solidFill>
                <a:latin typeface="Calibri"/>
              </a:rPr>
              <a:t>2  α_sol ≥ 0.80  — optimised, not maximised</a:t>
            </a:r>
          </a:p>
        </p:txBody>
      </p:sp>
      <p:sp>
        <p:nvSpPr>
          <p:cNvPr id="13" name="Rectangle 12"/>
          <p:cNvSpPr/>
          <p:nvPr/>
        </p:nvSpPr>
        <p:spPr>
          <a:xfrm>
            <a:off x="777240" y="4005072"/>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3904487"/>
            <a:ext cx="10424160" cy="457200"/>
          </a:xfrm>
          <a:prstGeom prst="rect">
            <a:avLst/>
          </a:prstGeom>
          <a:noFill/>
        </p:spPr>
        <p:txBody>
          <a:bodyPr wrap="square" lIns="0" rIns="0" tIns="0" bIns="0">
            <a:spAutoFit/>
          </a:bodyPr>
          <a:lstStyle/>
          <a:p>
            <a:pPr algn="l">
              <a:lnSpc>
                <a:spcPct val="95000"/>
              </a:lnSpc>
              <a:spcAft>
                <a:spcPts val="0"/>
              </a:spcAft>
            </a:pPr>
            <a:r>
              <a:rPr sz="2000" b="0" i="0">
                <a:solidFill>
                  <a:srgbClr val="6B7277"/>
                </a:solidFill>
                <a:latin typeface="Calibri"/>
              </a:rPr>
              <a:t>3  ΔT_surface ≥ 15 K</a:t>
            </a:r>
          </a:p>
        </p:txBody>
      </p:sp>
      <p:sp>
        <p:nvSpPr>
          <p:cNvPr id="15" name="Rectangle 14"/>
          <p:cNvSpPr/>
          <p:nvPr/>
        </p:nvSpPr>
        <p:spPr>
          <a:xfrm>
            <a:off x="777240" y="4590288"/>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4489704"/>
            <a:ext cx="10424160" cy="457200"/>
          </a:xfrm>
          <a:prstGeom prst="rect">
            <a:avLst/>
          </a:prstGeom>
          <a:noFill/>
        </p:spPr>
        <p:txBody>
          <a:bodyPr wrap="square" lIns="0" rIns="0" tIns="0" bIns="0">
            <a:spAutoFit/>
          </a:bodyPr>
          <a:lstStyle/>
          <a:p>
            <a:pPr algn="l">
              <a:lnSpc>
                <a:spcPct val="95000"/>
              </a:lnSpc>
              <a:spcAft>
                <a:spcPts val="0"/>
              </a:spcAft>
            </a:pPr>
            <a:r>
              <a:rPr sz="2000" b="0" i="0">
                <a:solidFill>
                  <a:srgbClr val="6B7277"/>
                </a:solidFill>
                <a:latin typeface="Calibri"/>
              </a:rPr>
              <a:t>4  ΔPET at 2 m  — beat −1.0 K</a:t>
            </a:r>
          </a:p>
        </p:txBody>
      </p:sp>
      <p:sp>
        <p:nvSpPr>
          <p:cNvPr id="17" name="Rectangle 16"/>
          <p:cNvSpPr/>
          <p:nvPr/>
        </p:nvSpPr>
        <p:spPr>
          <a:xfrm>
            <a:off x="777240" y="517550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8992" y="5074920"/>
            <a:ext cx="10424160" cy="457200"/>
          </a:xfrm>
          <a:prstGeom prst="rect">
            <a:avLst/>
          </a:prstGeom>
          <a:noFill/>
        </p:spPr>
        <p:txBody>
          <a:bodyPr wrap="square" lIns="0" rIns="0" tIns="0" bIns="0">
            <a:spAutoFit/>
          </a:bodyPr>
          <a:lstStyle/>
          <a:p>
            <a:pPr algn="l">
              <a:lnSpc>
                <a:spcPct val="95000"/>
              </a:lnSpc>
              <a:spcAft>
                <a:spcPts val="0"/>
              </a:spcAft>
            </a:pPr>
            <a:r>
              <a:rPr sz="2000" b="0" i="0">
                <a:solidFill>
                  <a:srgbClr val="6B7277"/>
                </a:solidFill>
                <a:latin typeface="Calibri"/>
              </a:rPr>
              <a:t>5  ≥ 40 W/m² at 02:00  — adapt to temporal change</a:t>
            </a:r>
          </a:p>
        </p:txBody>
      </p:sp>
      <p:sp>
        <p:nvSpPr>
          <p:cNvPr id="19" name="Rectangle 18"/>
          <p:cNvSpPr/>
          <p:nvPr/>
        </p:nvSpPr>
        <p:spPr>
          <a:xfrm>
            <a:off x="777240" y="576072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8992" y="5660136"/>
            <a:ext cx="10424160" cy="457200"/>
          </a:xfrm>
          <a:prstGeom prst="rect">
            <a:avLst/>
          </a:prstGeom>
          <a:noFill/>
        </p:spPr>
        <p:txBody>
          <a:bodyPr wrap="square" lIns="0" rIns="0" tIns="0" bIns="0">
            <a:spAutoFit/>
          </a:bodyPr>
          <a:lstStyle/>
          <a:p>
            <a:pPr algn="l">
              <a:lnSpc>
                <a:spcPct val="95000"/>
              </a:lnSpc>
              <a:spcAft>
                <a:spcPts val="0"/>
              </a:spcAft>
            </a:pPr>
            <a:r>
              <a:rPr sz="2000" b="0" i="0">
                <a:solidFill>
                  <a:srgbClr val="6B7277"/>
                </a:solidFill>
                <a:latin typeface="Calibri"/>
              </a:rPr>
              <a:t>6  ≥ 90 % after 3 years  — integrity through self-renewal</a:t>
            </a:r>
          </a:p>
        </p:txBody>
      </p:sp>
      <p:sp>
        <p:nvSpPr>
          <p:cNvPr id="21" name="TextBox 20"/>
          <p:cNvSpPr txBox="1"/>
          <p:nvPr/>
        </p:nvSpPr>
        <p:spPr>
          <a:xfrm>
            <a:off x="777240" y="6172200"/>
            <a:ext cx="10607040" cy="365760"/>
          </a:xfrm>
          <a:prstGeom prst="rect">
            <a:avLst/>
          </a:prstGeom>
          <a:noFill/>
        </p:spPr>
        <p:txBody>
          <a:bodyPr wrap="square" lIns="0" rIns="0" tIns="0" bIns="0">
            <a:spAutoFit/>
          </a:bodyPr>
          <a:lstStyle/>
          <a:p>
            <a:pPr algn="l">
              <a:lnSpc>
                <a:spcPct val="95000"/>
              </a:lnSpc>
              <a:spcAft>
                <a:spcPts val="0"/>
              </a:spcAft>
            </a:pPr>
            <a:r>
              <a:rPr sz="1600" b="1" i="0">
                <a:solidFill>
                  <a:srgbClr val="A83B2E"/>
                </a:solidFill>
                <a:latin typeface="Calibri"/>
              </a:rPr>
              <a:t>surface temperature ≠ effect on people — reported separately throughout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3.1 · DISCOVERING</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How models were found — and dropped</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768096"/>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Use AskNature, scientific literature and other credible sources.</a:t>
            </a:r>
          </a:p>
        </p:txBody>
      </p:sp>
      <p:sp>
        <p:nvSpPr>
          <p:cNvPr id="9" name="TextBox 8"/>
          <p:cNvSpPr txBox="1"/>
          <p:nvPr/>
        </p:nvSpPr>
        <p:spPr>
          <a:xfrm>
            <a:off x="2194560" y="2212848"/>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Make the research path explicit: how found, which selected, why others de-selected.</a:t>
            </a:r>
          </a:p>
        </p:txBody>
      </p:sp>
      <p:sp>
        <p:nvSpPr>
          <p:cNvPr id="10" name="Rectangle 9"/>
          <p:cNvSpPr/>
          <p:nvPr/>
        </p:nvSpPr>
        <p:spPr>
          <a:xfrm>
            <a:off x="777240" y="3035808"/>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2935224"/>
            <a:ext cx="5486400" cy="457200"/>
          </a:xfrm>
          <a:prstGeom prst="rect">
            <a:avLst/>
          </a:prstGeom>
          <a:noFill/>
        </p:spPr>
        <p:txBody>
          <a:bodyPr wrap="square" lIns="0" rIns="0" tIns="0" bIns="0">
            <a:spAutoFit/>
          </a:bodyPr>
          <a:lstStyle/>
          <a:p>
            <a:pPr algn="l">
              <a:lnSpc>
                <a:spcPct val="95000"/>
              </a:lnSpc>
              <a:spcAft>
                <a:spcPts val="0"/>
              </a:spcAft>
            </a:pPr>
            <a:r>
              <a:rPr sz="1900" b="1" i="0">
                <a:solidFill>
                  <a:srgbClr val="1E2428"/>
                </a:solidFill>
                <a:latin typeface="Calibri"/>
              </a:rPr>
              <a:t>taxonomy branch first, never the organism</a:t>
            </a:r>
          </a:p>
        </p:txBody>
      </p:sp>
      <p:sp>
        <p:nvSpPr>
          <p:cNvPr id="12" name="Rectangle 11"/>
          <p:cNvSpPr/>
          <p:nvPr/>
        </p:nvSpPr>
        <p:spPr>
          <a:xfrm>
            <a:off x="777240" y="3602736"/>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3502152"/>
            <a:ext cx="5486400" cy="457200"/>
          </a:xfrm>
          <a:prstGeom prst="rect">
            <a:avLst/>
          </a:prstGeom>
          <a:noFill/>
        </p:spPr>
        <p:txBody>
          <a:bodyPr wrap="square" lIns="0" rIns="0" tIns="0" bIns="0">
            <a:spAutoFit/>
          </a:bodyPr>
          <a:lstStyle/>
          <a:p>
            <a:pPr algn="l">
              <a:lnSpc>
                <a:spcPct val="95000"/>
              </a:lnSpc>
              <a:spcAft>
                <a:spcPts val="0"/>
              </a:spcAft>
            </a:pPr>
            <a:r>
              <a:rPr sz="1900" b="0" i="0">
                <a:solidFill>
                  <a:srgbClr val="6B7277"/>
                </a:solidFill>
                <a:latin typeface="Calibri"/>
              </a:rPr>
              <a:t>lenses: operating condition → desert · local → our biome</a:t>
            </a:r>
          </a:p>
        </p:txBody>
      </p:sp>
      <p:sp>
        <p:nvSpPr>
          <p:cNvPr id="14" name="Rectangle 13"/>
          <p:cNvSpPr/>
          <p:nvPr/>
        </p:nvSpPr>
        <p:spPr>
          <a:xfrm>
            <a:off x="777240" y="416966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4069080"/>
            <a:ext cx="5486400" cy="457200"/>
          </a:xfrm>
          <a:prstGeom prst="rect">
            <a:avLst/>
          </a:prstGeom>
          <a:noFill/>
        </p:spPr>
        <p:txBody>
          <a:bodyPr wrap="square" lIns="0" rIns="0" tIns="0" bIns="0">
            <a:spAutoFit/>
          </a:bodyPr>
          <a:lstStyle/>
          <a:p>
            <a:pPr algn="l">
              <a:lnSpc>
                <a:spcPct val="95000"/>
              </a:lnSpc>
              <a:spcAft>
                <a:spcPts val="0"/>
              </a:spcAft>
            </a:pPr>
            <a:r>
              <a:rPr sz="1900" b="1" i="0">
                <a:solidFill>
                  <a:srgbClr val="1E2428"/>
                </a:solidFill>
                <a:latin typeface="Calibri"/>
              </a:rPr>
              <a:t>inverse question: what would nature not do?</a:t>
            </a:r>
          </a:p>
        </p:txBody>
      </p:sp>
      <p:sp>
        <p:nvSpPr>
          <p:cNvPr id="16" name="Rectangle 15"/>
          <p:cNvSpPr/>
          <p:nvPr/>
        </p:nvSpPr>
        <p:spPr>
          <a:xfrm>
            <a:off x="777240" y="4736592"/>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992" y="4636008"/>
            <a:ext cx="5486400" cy="457200"/>
          </a:xfrm>
          <a:prstGeom prst="rect">
            <a:avLst/>
          </a:prstGeom>
          <a:noFill/>
        </p:spPr>
        <p:txBody>
          <a:bodyPr wrap="square" lIns="0" rIns="0" tIns="0" bIns="0">
            <a:spAutoFit/>
          </a:bodyPr>
          <a:lstStyle/>
          <a:p>
            <a:pPr algn="l">
              <a:lnSpc>
                <a:spcPct val="95000"/>
              </a:lnSpc>
              <a:spcAft>
                <a:spcPts val="0"/>
              </a:spcAft>
            </a:pPr>
            <a:r>
              <a:rPr sz="1900" b="0" i="0">
                <a:solidFill>
                  <a:srgbClr val="6B7277"/>
                </a:solidFill>
                <a:latin typeface="Calibri"/>
              </a:rPr>
              <a:t>21 models · 16 selected · 5 rejected with a reason</a:t>
            </a:r>
          </a:p>
        </p:txBody>
      </p:sp>
      <p:sp>
        <p:nvSpPr>
          <p:cNvPr id="18" name="TextBox 17"/>
          <p:cNvSpPr txBox="1"/>
          <p:nvPr/>
        </p:nvSpPr>
        <p:spPr>
          <a:xfrm>
            <a:off x="777240" y="5577840"/>
            <a:ext cx="5486400" cy="822960"/>
          </a:xfrm>
          <a:prstGeom prst="rect">
            <a:avLst/>
          </a:prstGeom>
          <a:noFill/>
        </p:spPr>
        <p:txBody>
          <a:bodyPr wrap="square" lIns="0" rIns="0" tIns="0" bIns="0">
            <a:spAutoFit/>
          </a:bodyPr>
          <a:lstStyle/>
          <a:p>
            <a:pPr algn="l">
              <a:lnSpc>
                <a:spcPct val="125000"/>
              </a:lnSpc>
              <a:spcAft>
                <a:spcPts val="0"/>
              </a:spcAft>
            </a:pPr>
            <a:r>
              <a:rPr sz="1500" b="0" i="0">
                <a:solidFill>
                  <a:srgbClr val="A83B2E"/>
                </a:solidFill>
                <a:latin typeface="Calibri"/>
              </a:rPr>
              <a:t>termite mound — evidence contested
Namib beetle — wrong season
green façade — already the client's measure</a:t>
            </a:r>
          </a:p>
        </p:txBody>
      </p:sp>
      <p:sp>
        <p:nvSpPr>
          <p:cNvPr id="19" name="Rounded Rectangle 18"/>
          <p:cNvSpPr/>
          <p:nvPr/>
        </p:nvSpPr>
        <p:spPr>
          <a:xfrm>
            <a:off x="6492240" y="2697480"/>
            <a:ext cx="4937760" cy="3566160"/>
          </a:xfrm>
          <a:prstGeom prst="roundRect">
            <a:avLst>
              <a:gd name="adj" fmla="val 2000"/>
            </a:avLst>
          </a:prstGeom>
          <a:solidFill>
            <a:srgbClr val="ECF2F6"/>
          </a:solidFill>
          <a:ln w="12700">
            <a:solidFill>
              <a:srgbClr val="9FB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59" y="2898648"/>
            <a:ext cx="4389120" cy="274320"/>
          </a:xfrm>
          <a:prstGeom prst="rect">
            <a:avLst/>
          </a:prstGeom>
          <a:noFill/>
        </p:spPr>
        <p:txBody>
          <a:bodyPr wrap="square" lIns="0" rIns="0" tIns="0" bIns="0">
            <a:spAutoFit/>
          </a:bodyPr>
          <a:lstStyle/>
          <a:p>
            <a:pPr algn="l">
              <a:lnSpc>
                <a:spcPct val="95000"/>
              </a:lnSpc>
              <a:spcAft>
                <a:spcPts val="0"/>
              </a:spcAft>
            </a:pPr>
            <a:r>
              <a:rPr sz="1050" b="1" i="0">
                <a:solidFill>
                  <a:srgbClr val="005A8C"/>
                </a:solidFill>
                <a:latin typeface="Calibri"/>
              </a:rPr>
              <a:t>IMAGE PROMPT</a:t>
            </a:r>
          </a:p>
        </p:txBody>
      </p:sp>
      <p:sp>
        <p:nvSpPr>
          <p:cNvPr id="21" name="TextBox 20"/>
          <p:cNvSpPr txBox="1"/>
          <p:nvPr/>
        </p:nvSpPr>
        <p:spPr>
          <a:xfrm>
            <a:off x="6766559" y="3246120"/>
            <a:ext cx="4389120" cy="2788920"/>
          </a:xfrm>
          <a:prstGeom prst="rect">
            <a:avLst/>
          </a:prstGeom>
          <a:noFill/>
        </p:spPr>
        <p:txBody>
          <a:bodyPr wrap="square" lIns="0" rIns="0" tIns="0" bIns="0">
            <a:spAutoFit/>
          </a:bodyPr>
          <a:lstStyle/>
          <a:p>
            <a:pPr>
              <a:lnSpc>
                <a:spcPct val="102000"/>
              </a:lnSpc>
            </a:pPr>
            <a:r>
              <a:rPr sz="1050">
                <a:solidFill>
                  <a:srgbClr val="1E2428"/>
                </a:solidFill>
                <a:latin typeface="Consolas"/>
              </a:rPr>
              <a:t>Editorial illustration of a branching search tree, no text. From a single root, thin lines fan into functional branches; at the tips sit small silhouetted organisms — a snail shell, a butterfly wing, a cactus, an elephant ear, a pine cone, a bee. Naturalist field-guide sensibility, fine ink linework, sepia and deep blue on aged paper, scientific plate composition. Negative prompt: text, letters, watermark, logo, people's faces, cartoon, low detail, oversaturated, HDR halo, distorted geometry.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3.1 · DISCOVERING</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Mechanisms in depth, not descriptions</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768096"/>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Describe the biological strategies and mechanisms in depth — how they work, not only the organism.</a:t>
            </a:r>
          </a:p>
        </p:txBody>
      </p:sp>
      <p:sp>
        <p:nvSpPr>
          <p:cNvPr id="9" name="TextBox 8"/>
          <p:cNvSpPr txBox="1"/>
          <p:nvPr/>
        </p:nvSpPr>
        <p:spPr>
          <a:xfrm>
            <a:off x="2194560" y="2212848"/>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Use figures or drawings to support the explanation.</a:t>
            </a:r>
          </a:p>
        </p:txBody>
      </p:sp>
      <p:sp>
        <p:nvSpPr>
          <p:cNvPr id="10" name="TextBox 9"/>
          <p:cNvSpPr txBox="1"/>
          <p:nvPr/>
        </p:nvSpPr>
        <p:spPr>
          <a:xfrm>
            <a:off x="777240" y="2862072"/>
            <a:ext cx="5120640" cy="274320"/>
          </a:xfrm>
          <a:prstGeom prst="rect">
            <a:avLst/>
          </a:prstGeom>
          <a:noFill/>
        </p:spPr>
        <p:txBody>
          <a:bodyPr wrap="square" lIns="0" rIns="0" tIns="0" bIns="0">
            <a:spAutoFit/>
          </a:bodyPr>
          <a:lstStyle/>
          <a:p>
            <a:pPr algn="l">
              <a:lnSpc>
                <a:spcPct val="95000"/>
              </a:lnSpc>
              <a:spcAft>
                <a:spcPts val="0"/>
              </a:spcAft>
            </a:pPr>
            <a:r>
              <a:rPr sz="1100" b="1" i="0">
                <a:solidFill>
                  <a:srgbClr val="005A8C"/>
                </a:solidFill>
                <a:latin typeface="Calibri"/>
              </a:rPr>
              <a:t>ELEPHANT EAR  ·  JACKRABBIT EAR</a:t>
            </a:r>
          </a:p>
        </p:txBody>
      </p:sp>
      <p:sp>
        <p:nvSpPr>
          <p:cNvPr id="11" name="Rectangle 10"/>
          <p:cNvSpPr/>
          <p:nvPr/>
        </p:nvSpPr>
        <p:spPr>
          <a:xfrm>
            <a:off x="777240" y="3310127"/>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3209544"/>
            <a:ext cx="5029200" cy="457200"/>
          </a:xfrm>
          <a:prstGeom prst="rect">
            <a:avLst/>
          </a:prstGeom>
          <a:noFill/>
        </p:spPr>
        <p:txBody>
          <a:bodyPr wrap="square" lIns="0" rIns="0" tIns="0" bIns="0">
            <a:spAutoFit/>
          </a:bodyPr>
          <a:lstStyle/>
          <a:p>
            <a:pPr algn="l">
              <a:lnSpc>
                <a:spcPct val="95000"/>
              </a:lnSpc>
              <a:spcAft>
                <a:spcPts val="0"/>
              </a:spcAft>
            </a:pPr>
            <a:r>
              <a:rPr sz="1650" b="0" i="0">
                <a:solidFill>
                  <a:srgbClr val="6B7277"/>
                </a:solidFill>
                <a:latin typeface="Calibri"/>
              </a:rPr>
              <a:t>warm blood leaves the core</a:t>
            </a:r>
          </a:p>
        </p:txBody>
      </p:sp>
      <p:sp>
        <p:nvSpPr>
          <p:cNvPr id="13" name="Rectangle 12"/>
          <p:cNvSpPr/>
          <p:nvPr/>
        </p:nvSpPr>
        <p:spPr>
          <a:xfrm>
            <a:off x="777240" y="3767328"/>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3666744"/>
            <a:ext cx="5029200" cy="457200"/>
          </a:xfrm>
          <a:prstGeom prst="rect">
            <a:avLst/>
          </a:prstGeom>
          <a:noFill/>
        </p:spPr>
        <p:txBody>
          <a:bodyPr wrap="square" lIns="0" rIns="0" tIns="0" bIns="0">
            <a:spAutoFit/>
          </a:bodyPr>
          <a:lstStyle/>
          <a:p>
            <a:pPr algn="l">
              <a:lnSpc>
                <a:spcPct val="95000"/>
              </a:lnSpc>
              <a:spcAft>
                <a:spcPts val="0"/>
              </a:spcAft>
            </a:pPr>
            <a:r>
              <a:rPr sz="1650" b="1" i="0">
                <a:solidFill>
                  <a:srgbClr val="1E2428"/>
                </a:solidFill>
                <a:latin typeface="Calibri"/>
              </a:rPr>
              <a:t>to a large, thin, exposed surface</a:t>
            </a:r>
          </a:p>
        </p:txBody>
      </p:sp>
      <p:sp>
        <p:nvSpPr>
          <p:cNvPr id="15" name="Rectangle 14"/>
          <p:cNvSpPr/>
          <p:nvPr/>
        </p:nvSpPr>
        <p:spPr>
          <a:xfrm>
            <a:off x="777240" y="4224528"/>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4123944"/>
            <a:ext cx="5029200" cy="457200"/>
          </a:xfrm>
          <a:prstGeom prst="rect">
            <a:avLst/>
          </a:prstGeom>
          <a:noFill/>
        </p:spPr>
        <p:txBody>
          <a:bodyPr wrap="square" lIns="0" rIns="0" tIns="0" bIns="0">
            <a:spAutoFit/>
          </a:bodyPr>
          <a:lstStyle/>
          <a:p>
            <a:pPr algn="l">
              <a:lnSpc>
                <a:spcPct val="95000"/>
              </a:lnSpc>
              <a:spcAft>
                <a:spcPts val="0"/>
              </a:spcAft>
            </a:pPr>
            <a:r>
              <a:rPr sz="1650" b="0" i="0">
                <a:solidFill>
                  <a:srgbClr val="6B7277"/>
                </a:solidFill>
                <a:latin typeface="Calibri"/>
              </a:rPr>
              <a:t>vasodilation scales the flow with the load</a:t>
            </a:r>
          </a:p>
        </p:txBody>
      </p:sp>
      <p:sp>
        <p:nvSpPr>
          <p:cNvPr id="17" name="Rectangle 16"/>
          <p:cNvSpPr/>
          <p:nvPr/>
        </p:nvSpPr>
        <p:spPr>
          <a:xfrm>
            <a:off x="777240" y="4681728"/>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8992" y="4581144"/>
            <a:ext cx="5029200" cy="457200"/>
          </a:xfrm>
          <a:prstGeom prst="rect">
            <a:avLst/>
          </a:prstGeom>
          <a:noFill/>
        </p:spPr>
        <p:txBody>
          <a:bodyPr wrap="square" lIns="0" rIns="0" tIns="0" bIns="0">
            <a:spAutoFit/>
          </a:bodyPr>
          <a:lstStyle/>
          <a:p>
            <a:pPr algn="l">
              <a:lnSpc>
                <a:spcPct val="95000"/>
              </a:lnSpc>
              <a:spcAft>
                <a:spcPts val="0"/>
              </a:spcAft>
            </a:pPr>
            <a:r>
              <a:rPr sz="1650" b="1" i="0">
                <a:solidFill>
                  <a:srgbClr val="1E2428"/>
                </a:solidFill>
                <a:latin typeface="Calibri"/>
              </a:rPr>
              <a:t>absorb in one place, release in another</a:t>
            </a:r>
          </a:p>
        </p:txBody>
      </p:sp>
      <p:sp>
        <p:nvSpPr>
          <p:cNvPr id="19" name="TextBox 18"/>
          <p:cNvSpPr txBox="1"/>
          <p:nvPr/>
        </p:nvSpPr>
        <p:spPr>
          <a:xfrm>
            <a:off x="6309360" y="2862072"/>
            <a:ext cx="5120640" cy="274320"/>
          </a:xfrm>
          <a:prstGeom prst="rect">
            <a:avLst/>
          </a:prstGeom>
          <a:noFill/>
        </p:spPr>
        <p:txBody>
          <a:bodyPr wrap="square" lIns="0" rIns="0" tIns="0" bIns="0">
            <a:spAutoFit/>
          </a:bodyPr>
          <a:lstStyle/>
          <a:p>
            <a:pPr algn="l">
              <a:lnSpc>
                <a:spcPct val="95000"/>
              </a:lnSpc>
              <a:spcAft>
                <a:spcPts val="0"/>
              </a:spcAft>
            </a:pPr>
            <a:r>
              <a:rPr sz="1100" b="1" i="0">
                <a:solidFill>
                  <a:srgbClr val="005A8C"/>
                </a:solidFill>
                <a:latin typeface="Calibri"/>
              </a:rPr>
              <a:t>CACTUS RIB  ·  ELEPHANT HAIR</a:t>
            </a:r>
          </a:p>
        </p:txBody>
      </p:sp>
      <p:sp>
        <p:nvSpPr>
          <p:cNvPr id="20" name="Rectangle 19"/>
          <p:cNvSpPr/>
          <p:nvPr/>
        </p:nvSpPr>
        <p:spPr>
          <a:xfrm>
            <a:off x="6309360" y="3310127"/>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11112" y="3209544"/>
            <a:ext cx="5029200" cy="457200"/>
          </a:xfrm>
          <a:prstGeom prst="rect">
            <a:avLst/>
          </a:prstGeom>
          <a:noFill/>
        </p:spPr>
        <p:txBody>
          <a:bodyPr wrap="square" lIns="0" rIns="0" tIns="0" bIns="0">
            <a:spAutoFit/>
          </a:bodyPr>
          <a:lstStyle/>
          <a:p>
            <a:pPr algn="l">
              <a:lnSpc>
                <a:spcPct val="95000"/>
              </a:lnSpc>
              <a:spcAft>
                <a:spcPts val="0"/>
              </a:spcAft>
            </a:pPr>
            <a:r>
              <a:rPr sz="1650" b="0" i="0">
                <a:solidFill>
                  <a:srgbClr val="6B7277"/>
                </a:solidFill>
                <a:latin typeface="Calibri"/>
              </a:rPr>
              <a:t>peaks shade the troughs</a:t>
            </a:r>
          </a:p>
        </p:txBody>
      </p:sp>
      <p:sp>
        <p:nvSpPr>
          <p:cNvPr id="22" name="Rectangle 21"/>
          <p:cNvSpPr/>
          <p:nvPr/>
        </p:nvSpPr>
        <p:spPr>
          <a:xfrm>
            <a:off x="6309360" y="3767328"/>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11112" y="3666744"/>
            <a:ext cx="5029200" cy="457200"/>
          </a:xfrm>
          <a:prstGeom prst="rect">
            <a:avLst/>
          </a:prstGeom>
          <a:noFill/>
        </p:spPr>
        <p:txBody>
          <a:bodyPr wrap="square" lIns="0" rIns="0" tIns="0" bIns="0">
            <a:spAutoFit/>
          </a:bodyPr>
          <a:lstStyle/>
          <a:p>
            <a:pPr algn="l">
              <a:lnSpc>
                <a:spcPct val="95000"/>
              </a:lnSpc>
              <a:spcAft>
                <a:spcPts val="0"/>
              </a:spcAft>
            </a:pPr>
            <a:r>
              <a:rPr sz="1650" b="1" i="0">
                <a:solidFill>
                  <a:srgbClr val="1E2428"/>
                </a:solidFill>
                <a:latin typeface="Calibri"/>
              </a:rPr>
              <a:t>trough air warms and rises out</a:t>
            </a:r>
          </a:p>
        </p:txBody>
      </p:sp>
      <p:sp>
        <p:nvSpPr>
          <p:cNvPr id="24" name="Rectangle 23"/>
          <p:cNvSpPr/>
          <p:nvPr/>
        </p:nvSpPr>
        <p:spPr>
          <a:xfrm>
            <a:off x="6309360" y="4224528"/>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11112" y="4123944"/>
            <a:ext cx="5029200" cy="457200"/>
          </a:xfrm>
          <a:prstGeom prst="rect">
            <a:avLst/>
          </a:prstGeom>
          <a:noFill/>
        </p:spPr>
        <p:txBody>
          <a:bodyPr wrap="square" lIns="0" rIns="0" tIns="0" bIns="0">
            <a:spAutoFit/>
          </a:bodyPr>
          <a:lstStyle/>
          <a:p>
            <a:pPr algn="l">
              <a:lnSpc>
                <a:spcPct val="95000"/>
              </a:lnSpc>
              <a:spcAft>
                <a:spcPts val="0"/>
              </a:spcAft>
            </a:pPr>
            <a:r>
              <a:rPr sz="1650" b="0" i="0">
                <a:solidFill>
                  <a:srgbClr val="6B7277"/>
                </a:solidFill>
                <a:latin typeface="Calibri"/>
              </a:rPr>
              <a:t>hair density below the insulation crossover</a:t>
            </a:r>
          </a:p>
        </p:txBody>
      </p:sp>
      <p:sp>
        <p:nvSpPr>
          <p:cNvPr id="26" name="Rectangle 25"/>
          <p:cNvSpPr/>
          <p:nvPr/>
        </p:nvSpPr>
        <p:spPr>
          <a:xfrm>
            <a:off x="6309360" y="4681728"/>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11112" y="4581144"/>
            <a:ext cx="5029200" cy="457200"/>
          </a:xfrm>
          <a:prstGeom prst="rect">
            <a:avLst/>
          </a:prstGeom>
          <a:noFill/>
        </p:spPr>
        <p:txBody>
          <a:bodyPr wrap="square" lIns="0" rIns="0" tIns="0" bIns="0">
            <a:spAutoFit/>
          </a:bodyPr>
          <a:lstStyle/>
          <a:p>
            <a:pPr algn="l">
              <a:lnSpc>
                <a:spcPct val="95000"/>
              </a:lnSpc>
              <a:spcAft>
                <a:spcPts val="0"/>
              </a:spcAft>
            </a:pPr>
            <a:r>
              <a:rPr sz="1650" b="1" i="0">
                <a:solidFill>
                  <a:srgbClr val="1E2428"/>
                </a:solidFill>
                <a:latin typeface="Calibri"/>
              </a:rPr>
              <a:t>each hair a fin through the still air</a:t>
            </a:r>
          </a:p>
        </p:txBody>
      </p:sp>
      <p:sp>
        <p:nvSpPr>
          <p:cNvPr id="28" name="TextBox 27"/>
          <p:cNvSpPr txBox="1"/>
          <p:nvPr/>
        </p:nvSpPr>
        <p:spPr>
          <a:xfrm>
            <a:off x="777240" y="5074920"/>
            <a:ext cx="10607040" cy="914400"/>
          </a:xfrm>
          <a:prstGeom prst="rect">
            <a:avLst/>
          </a:prstGeom>
          <a:noFill/>
        </p:spPr>
        <p:txBody>
          <a:bodyPr wrap="square" lIns="0" rIns="0" tIns="0" bIns="0">
            <a:spAutoFit/>
          </a:bodyPr>
          <a:lstStyle/>
          <a:p>
            <a:pPr algn="l">
              <a:lnSpc>
                <a:spcPct val="120000"/>
              </a:lnSpc>
              <a:spcAft>
                <a:spcPts val="0"/>
              </a:spcAft>
            </a:pPr>
            <a:r>
              <a:rPr sz="1800" b="0" i="0">
                <a:solidFill>
                  <a:srgbClr val="1E2428"/>
                </a:solidFill>
                <a:latin typeface="Calibri"/>
              </a:rPr>
              <a:t>Both mechanisms move heat without spending energy: one by transporting it to a better surface,
the other by letting moving air reach the surface it already has.</a:t>
            </a:r>
          </a:p>
        </p:txBody>
      </p:sp>
      <p:sp>
        <p:nvSpPr>
          <p:cNvPr id="29" name="TextBox 28"/>
          <p:cNvSpPr txBox="1"/>
          <p:nvPr/>
        </p:nvSpPr>
        <p:spPr>
          <a:xfrm>
            <a:off x="777240" y="6172200"/>
            <a:ext cx="10607040" cy="320040"/>
          </a:xfrm>
          <a:prstGeom prst="rect">
            <a:avLst/>
          </a:prstGeom>
          <a:noFill/>
        </p:spPr>
        <p:txBody>
          <a:bodyPr wrap="square" lIns="0" rIns="0" tIns="0" bIns="0">
            <a:spAutoFit/>
          </a:bodyPr>
          <a:lstStyle/>
          <a:p>
            <a:pPr algn="l">
              <a:lnSpc>
                <a:spcPct val="95000"/>
              </a:lnSpc>
              <a:spcAft>
                <a:spcPts val="0"/>
              </a:spcAft>
            </a:pPr>
            <a:r>
              <a:rPr sz="1400" b="1" i="0">
                <a:solidFill>
                  <a:srgbClr val="A83B2E"/>
                </a:solidFill>
                <a:latin typeface="Calibri"/>
              </a:rPr>
              <a:t>OPEN — one drawing per mechanism is still required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3.1 · ABSTRACTING</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Observation → principle → technical</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768096"/>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Abstract the mechanism into a transferable principle. Keep observation, abstraction and technical interpretation distinct.</a:t>
            </a:r>
          </a:p>
        </p:txBody>
      </p:sp>
      <p:sp>
        <p:nvSpPr>
          <p:cNvPr id="9" name="TextBox 8"/>
          <p:cNvSpPr txBox="1"/>
          <p:nvPr/>
        </p:nvSpPr>
        <p:spPr>
          <a:xfrm>
            <a:off x="2194560" y="2212848"/>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Identify relevant Life's Principles in the selected strategies.</a:t>
            </a:r>
          </a:p>
        </p:txBody>
      </p:sp>
      <p:sp>
        <p:nvSpPr>
          <p:cNvPr id="10" name="TextBox 9"/>
          <p:cNvSpPr txBox="1"/>
          <p:nvPr/>
        </p:nvSpPr>
        <p:spPr>
          <a:xfrm>
            <a:off x="777240" y="2889503"/>
            <a:ext cx="3200400" cy="274320"/>
          </a:xfrm>
          <a:prstGeom prst="rect">
            <a:avLst/>
          </a:prstGeom>
          <a:noFill/>
        </p:spPr>
        <p:txBody>
          <a:bodyPr wrap="square" lIns="0" rIns="0" tIns="0" bIns="0">
            <a:spAutoFit/>
          </a:bodyPr>
          <a:lstStyle/>
          <a:p>
            <a:pPr algn="l">
              <a:lnSpc>
                <a:spcPct val="95000"/>
              </a:lnSpc>
              <a:spcAft>
                <a:spcPts val="0"/>
              </a:spcAft>
            </a:pPr>
            <a:r>
              <a:rPr sz="1000" b="1" i="0">
                <a:solidFill>
                  <a:srgbClr val="005A8C"/>
                </a:solidFill>
                <a:latin typeface="Calibri"/>
              </a:rPr>
              <a:t>BIOLOGICAL OBSERVATION</a:t>
            </a:r>
          </a:p>
        </p:txBody>
      </p:sp>
      <p:sp>
        <p:nvSpPr>
          <p:cNvPr id="11" name="TextBox 10"/>
          <p:cNvSpPr txBox="1"/>
          <p:nvPr/>
        </p:nvSpPr>
        <p:spPr>
          <a:xfrm>
            <a:off x="4160520" y="2889503"/>
            <a:ext cx="3291840" cy="274320"/>
          </a:xfrm>
          <a:prstGeom prst="rect">
            <a:avLst/>
          </a:prstGeom>
          <a:noFill/>
        </p:spPr>
        <p:txBody>
          <a:bodyPr wrap="square" lIns="0" rIns="0" tIns="0" bIns="0">
            <a:spAutoFit/>
          </a:bodyPr>
          <a:lstStyle/>
          <a:p>
            <a:pPr algn="l">
              <a:lnSpc>
                <a:spcPct val="95000"/>
              </a:lnSpc>
              <a:spcAft>
                <a:spcPts val="0"/>
              </a:spcAft>
            </a:pPr>
            <a:r>
              <a:rPr sz="1000" b="1" i="0">
                <a:solidFill>
                  <a:srgbClr val="005A8C"/>
                </a:solidFill>
                <a:latin typeface="Calibri"/>
              </a:rPr>
              <a:t>ABSTRACTED PRINCIPLE</a:t>
            </a:r>
          </a:p>
        </p:txBody>
      </p:sp>
      <p:sp>
        <p:nvSpPr>
          <p:cNvPr id="12" name="TextBox 11"/>
          <p:cNvSpPr txBox="1"/>
          <p:nvPr/>
        </p:nvSpPr>
        <p:spPr>
          <a:xfrm>
            <a:off x="7543800" y="2889503"/>
            <a:ext cx="4114800" cy="274320"/>
          </a:xfrm>
          <a:prstGeom prst="rect">
            <a:avLst/>
          </a:prstGeom>
          <a:noFill/>
        </p:spPr>
        <p:txBody>
          <a:bodyPr wrap="square" lIns="0" rIns="0" tIns="0" bIns="0">
            <a:spAutoFit/>
          </a:bodyPr>
          <a:lstStyle/>
          <a:p>
            <a:pPr algn="l">
              <a:lnSpc>
                <a:spcPct val="95000"/>
              </a:lnSpc>
              <a:spcAft>
                <a:spcPts val="0"/>
              </a:spcAft>
            </a:pPr>
            <a:r>
              <a:rPr sz="1000" b="1" i="0">
                <a:solidFill>
                  <a:srgbClr val="1E2428"/>
                </a:solidFill>
                <a:latin typeface="Calibri"/>
              </a:rPr>
              <a:t>TECHNICAL INTERPRETATION</a:t>
            </a:r>
          </a:p>
        </p:txBody>
      </p:sp>
      <p:sp>
        <p:nvSpPr>
          <p:cNvPr id="13" name="TextBox 12"/>
          <p:cNvSpPr txBox="1"/>
          <p:nvPr/>
        </p:nvSpPr>
        <p:spPr>
          <a:xfrm>
            <a:off x="777240" y="3319272"/>
            <a:ext cx="3063240" cy="640080"/>
          </a:xfrm>
          <a:prstGeom prst="rect">
            <a:avLst/>
          </a:prstGeom>
          <a:noFill/>
        </p:spPr>
        <p:txBody>
          <a:bodyPr wrap="square" lIns="0" rIns="0" tIns="0" bIns="0">
            <a:spAutoFit/>
          </a:bodyPr>
          <a:lstStyle/>
          <a:p>
            <a:pPr algn="l">
              <a:lnSpc>
                <a:spcPct val="115000"/>
              </a:lnSpc>
              <a:spcAft>
                <a:spcPts val="0"/>
              </a:spcAft>
            </a:pPr>
            <a:r>
              <a:rPr sz="1500" b="0" i="0">
                <a:solidFill>
                  <a:srgbClr val="6B7277"/>
                </a:solidFill>
                <a:latin typeface="Calibri"/>
              </a:rPr>
              <a:t>blood carried to a thin ear</a:t>
            </a:r>
          </a:p>
        </p:txBody>
      </p:sp>
      <p:sp>
        <p:nvSpPr>
          <p:cNvPr id="14" name="TextBox 13"/>
          <p:cNvSpPr txBox="1"/>
          <p:nvPr/>
        </p:nvSpPr>
        <p:spPr>
          <a:xfrm>
            <a:off x="4160520" y="3319272"/>
            <a:ext cx="3154680" cy="640080"/>
          </a:xfrm>
          <a:prstGeom prst="rect">
            <a:avLst/>
          </a:prstGeom>
          <a:noFill/>
        </p:spPr>
        <p:txBody>
          <a:bodyPr wrap="square" lIns="0" rIns="0" tIns="0" bIns="0">
            <a:spAutoFit/>
          </a:bodyPr>
          <a:lstStyle/>
          <a:p>
            <a:pPr algn="l">
              <a:lnSpc>
                <a:spcPct val="115000"/>
              </a:lnSpc>
              <a:spcAft>
                <a:spcPts val="0"/>
              </a:spcAft>
            </a:pPr>
            <a:r>
              <a:rPr sz="1500" b="0" i="0">
                <a:solidFill>
                  <a:srgbClr val="6B7277"/>
                </a:solidFill>
                <a:latin typeface="Calibri"/>
              </a:rPr>
              <a:t>move heat to where release is easy</a:t>
            </a:r>
          </a:p>
        </p:txBody>
      </p:sp>
      <p:sp>
        <p:nvSpPr>
          <p:cNvPr id="15" name="TextBox 14"/>
          <p:cNvSpPr txBox="1"/>
          <p:nvPr/>
        </p:nvSpPr>
        <p:spPr>
          <a:xfrm>
            <a:off x="7543800" y="3319272"/>
            <a:ext cx="3977639" cy="640080"/>
          </a:xfrm>
          <a:prstGeom prst="rect">
            <a:avLst/>
          </a:prstGeom>
          <a:noFill/>
        </p:spPr>
        <p:txBody>
          <a:bodyPr wrap="square" lIns="0" rIns="0" tIns="0" bIns="0">
            <a:spAutoFit/>
          </a:bodyPr>
          <a:lstStyle/>
          <a:p>
            <a:pPr algn="l">
              <a:lnSpc>
                <a:spcPct val="115000"/>
              </a:lnSpc>
              <a:spcAft>
                <a:spcPts val="0"/>
              </a:spcAft>
            </a:pPr>
            <a:r>
              <a:rPr sz="1500" b="1" i="0">
                <a:solidFill>
                  <a:srgbClr val="1E2428"/>
                </a:solidFill>
                <a:latin typeface="Calibri"/>
              </a:rPr>
              <a:t>passive water loop to a roof surface</a:t>
            </a:r>
          </a:p>
        </p:txBody>
      </p:sp>
      <p:sp>
        <p:nvSpPr>
          <p:cNvPr id="16" name="TextBox 15"/>
          <p:cNvSpPr txBox="1"/>
          <p:nvPr/>
        </p:nvSpPr>
        <p:spPr>
          <a:xfrm>
            <a:off x="777240" y="4096511"/>
            <a:ext cx="3063240" cy="640080"/>
          </a:xfrm>
          <a:prstGeom prst="rect">
            <a:avLst/>
          </a:prstGeom>
          <a:noFill/>
        </p:spPr>
        <p:txBody>
          <a:bodyPr wrap="square" lIns="0" rIns="0" tIns="0" bIns="0">
            <a:spAutoFit/>
          </a:bodyPr>
          <a:lstStyle/>
          <a:p>
            <a:pPr algn="l">
              <a:lnSpc>
                <a:spcPct val="115000"/>
              </a:lnSpc>
              <a:spcAft>
                <a:spcPts val="0"/>
              </a:spcAft>
            </a:pPr>
            <a:r>
              <a:rPr sz="1500" b="0" i="0">
                <a:solidFill>
                  <a:srgbClr val="6B7277"/>
                </a:solidFill>
                <a:latin typeface="Calibri"/>
              </a:rPr>
              <a:t>peaks shade the troughs</a:t>
            </a:r>
          </a:p>
        </p:txBody>
      </p:sp>
      <p:sp>
        <p:nvSpPr>
          <p:cNvPr id="17" name="TextBox 16"/>
          <p:cNvSpPr txBox="1"/>
          <p:nvPr/>
        </p:nvSpPr>
        <p:spPr>
          <a:xfrm>
            <a:off x="4160520" y="4096511"/>
            <a:ext cx="3154680" cy="640080"/>
          </a:xfrm>
          <a:prstGeom prst="rect">
            <a:avLst/>
          </a:prstGeom>
          <a:noFill/>
        </p:spPr>
        <p:txBody>
          <a:bodyPr wrap="square" lIns="0" rIns="0" tIns="0" bIns="0">
            <a:spAutoFit/>
          </a:bodyPr>
          <a:lstStyle/>
          <a:p>
            <a:pPr algn="l">
              <a:lnSpc>
                <a:spcPct val="115000"/>
              </a:lnSpc>
              <a:spcAft>
                <a:spcPts val="0"/>
              </a:spcAft>
            </a:pPr>
            <a:r>
              <a:rPr sz="1500" b="0" i="0">
                <a:solidFill>
                  <a:srgbClr val="6B7277"/>
                </a:solidFill>
                <a:latin typeface="Calibri"/>
              </a:rPr>
              <a:t>fold the surface to shade itself</a:t>
            </a:r>
          </a:p>
        </p:txBody>
      </p:sp>
      <p:sp>
        <p:nvSpPr>
          <p:cNvPr id="18" name="TextBox 17"/>
          <p:cNvSpPr txBox="1"/>
          <p:nvPr/>
        </p:nvSpPr>
        <p:spPr>
          <a:xfrm>
            <a:off x="7543800" y="4096511"/>
            <a:ext cx="3977639" cy="640080"/>
          </a:xfrm>
          <a:prstGeom prst="rect">
            <a:avLst/>
          </a:prstGeom>
          <a:noFill/>
        </p:spPr>
        <p:txBody>
          <a:bodyPr wrap="square" lIns="0" rIns="0" tIns="0" bIns="0">
            <a:spAutoFit/>
          </a:bodyPr>
          <a:lstStyle/>
          <a:p>
            <a:pPr algn="l">
              <a:lnSpc>
                <a:spcPct val="115000"/>
              </a:lnSpc>
              <a:spcAft>
                <a:spcPts val="0"/>
              </a:spcAft>
            </a:pPr>
            <a:r>
              <a:rPr sz="1500" b="1" i="0">
                <a:solidFill>
                  <a:srgbClr val="1E2428"/>
                </a:solidFill>
                <a:latin typeface="Calibri"/>
              </a:rPr>
              <a:t>ribbed façade relief</a:t>
            </a:r>
          </a:p>
        </p:txBody>
      </p:sp>
      <p:sp>
        <p:nvSpPr>
          <p:cNvPr id="19" name="TextBox 18"/>
          <p:cNvSpPr txBox="1"/>
          <p:nvPr/>
        </p:nvSpPr>
        <p:spPr>
          <a:xfrm>
            <a:off x="777240" y="4873752"/>
            <a:ext cx="3063240" cy="640080"/>
          </a:xfrm>
          <a:prstGeom prst="rect">
            <a:avLst/>
          </a:prstGeom>
          <a:noFill/>
        </p:spPr>
        <p:txBody>
          <a:bodyPr wrap="square" lIns="0" rIns="0" tIns="0" bIns="0">
            <a:spAutoFit/>
          </a:bodyPr>
          <a:lstStyle/>
          <a:p>
            <a:pPr algn="l">
              <a:lnSpc>
                <a:spcPct val="115000"/>
              </a:lnSpc>
              <a:spcAft>
                <a:spcPts val="0"/>
              </a:spcAft>
            </a:pPr>
            <a:r>
              <a:rPr sz="1500" b="0" i="0">
                <a:solidFill>
                  <a:srgbClr val="6B7277"/>
                </a:solidFill>
                <a:latin typeface="Calibri"/>
              </a:rPr>
              <a:t>sparse hairs pierce the still air</a:t>
            </a:r>
          </a:p>
        </p:txBody>
      </p:sp>
      <p:sp>
        <p:nvSpPr>
          <p:cNvPr id="20" name="TextBox 19"/>
          <p:cNvSpPr txBox="1"/>
          <p:nvPr/>
        </p:nvSpPr>
        <p:spPr>
          <a:xfrm>
            <a:off x="4160520" y="4873752"/>
            <a:ext cx="3154680" cy="640080"/>
          </a:xfrm>
          <a:prstGeom prst="rect">
            <a:avLst/>
          </a:prstGeom>
          <a:noFill/>
        </p:spPr>
        <p:txBody>
          <a:bodyPr wrap="square" lIns="0" rIns="0" tIns="0" bIns="0">
            <a:spAutoFit/>
          </a:bodyPr>
          <a:lstStyle/>
          <a:p>
            <a:pPr algn="l">
              <a:lnSpc>
                <a:spcPct val="115000"/>
              </a:lnSpc>
              <a:spcAft>
                <a:spcPts val="0"/>
              </a:spcAft>
            </a:pPr>
            <a:r>
              <a:rPr sz="1500" b="0" i="0">
                <a:solidFill>
                  <a:srgbClr val="6B7277"/>
                </a:solidFill>
                <a:latin typeface="Calibri"/>
              </a:rPr>
              <a:t>break the boundary layer</a:t>
            </a:r>
          </a:p>
        </p:txBody>
      </p:sp>
      <p:sp>
        <p:nvSpPr>
          <p:cNvPr id="21" name="TextBox 20"/>
          <p:cNvSpPr txBox="1"/>
          <p:nvPr/>
        </p:nvSpPr>
        <p:spPr>
          <a:xfrm>
            <a:off x="7543800" y="4873752"/>
            <a:ext cx="3977639" cy="640080"/>
          </a:xfrm>
          <a:prstGeom prst="rect">
            <a:avLst/>
          </a:prstGeom>
          <a:noFill/>
        </p:spPr>
        <p:txBody>
          <a:bodyPr wrap="square" lIns="0" rIns="0" tIns="0" bIns="0">
            <a:spAutoFit/>
          </a:bodyPr>
          <a:lstStyle/>
          <a:p>
            <a:pPr algn="l">
              <a:lnSpc>
                <a:spcPct val="115000"/>
              </a:lnSpc>
              <a:spcAft>
                <a:spcPts val="0"/>
              </a:spcAft>
            </a:pPr>
            <a:r>
              <a:rPr sz="1500" b="1" i="0">
                <a:solidFill>
                  <a:srgbClr val="1E2428"/>
                </a:solidFill>
                <a:latin typeface="Calibri"/>
              </a:rPr>
              <a:t>sprayed micro-roughness</a:t>
            </a:r>
          </a:p>
        </p:txBody>
      </p:sp>
      <p:sp>
        <p:nvSpPr>
          <p:cNvPr id="22" name="TextBox 21"/>
          <p:cNvSpPr txBox="1"/>
          <p:nvPr/>
        </p:nvSpPr>
        <p:spPr>
          <a:xfrm>
            <a:off x="777240" y="5815583"/>
            <a:ext cx="10607040" cy="365760"/>
          </a:xfrm>
          <a:prstGeom prst="rect">
            <a:avLst/>
          </a:prstGeom>
          <a:noFill/>
        </p:spPr>
        <p:txBody>
          <a:bodyPr wrap="square" lIns="0" rIns="0" tIns="0" bIns="0">
            <a:spAutoFit/>
          </a:bodyPr>
          <a:lstStyle/>
          <a:p>
            <a:pPr algn="l">
              <a:lnSpc>
                <a:spcPct val="95000"/>
              </a:lnSpc>
              <a:spcAft>
                <a:spcPts val="0"/>
              </a:spcAft>
            </a:pPr>
            <a:r>
              <a:rPr sz="1500" b="1" i="0">
                <a:solidFill>
                  <a:srgbClr val="005A8C"/>
                </a:solidFill>
                <a:latin typeface="Calibri"/>
              </a:rPr>
              <a:t>Life's Principles carried: be locally attuned and responsive  ·  use low energy processes  ·  optimise rather than maximise</a:t>
            </a:r>
          </a:p>
        </p:txBody>
      </p:sp>
      <p:sp>
        <p:nvSpPr>
          <p:cNvPr id="23" name="TextBox 22"/>
          <p:cNvSpPr txBox="1"/>
          <p:nvPr/>
        </p:nvSpPr>
        <p:spPr>
          <a:xfrm>
            <a:off x="777240" y="6272783"/>
            <a:ext cx="10607040" cy="365760"/>
          </a:xfrm>
          <a:prstGeom prst="rect">
            <a:avLst/>
          </a:prstGeom>
          <a:noFill/>
        </p:spPr>
        <p:txBody>
          <a:bodyPr wrap="square" lIns="0" rIns="0" tIns="0" bIns="0">
            <a:spAutoFit/>
          </a:bodyPr>
          <a:lstStyle/>
          <a:p>
            <a:pPr algn="l">
              <a:lnSpc>
                <a:spcPct val="95000"/>
              </a:lnSpc>
              <a:spcAft>
                <a:spcPts val="0"/>
              </a:spcAft>
            </a:pPr>
            <a:r>
              <a:rPr sz="1600" b="0" i="1">
                <a:solidFill>
                  <a:srgbClr val="1E2428"/>
                </a:solidFill>
                <a:latin typeface="Calibri"/>
              </a:rPr>
              <a:t>We transfer the mechanism, never the form — no elephant-shaped façade.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3.2 · CREATING</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From the matrix to two concepts</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768096"/>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Structured ideation (Morphological Matrix); ≥ 3 combinations before selecting two.</a:t>
            </a:r>
          </a:p>
        </p:txBody>
      </p:sp>
      <p:sp>
        <p:nvSpPr>
          <p:cNvPr id="9" name="TextBox 8"/>
          <p:cNvSpPr txBox="1"/>
          <p:nvPr/>
        </p:nvSpPr>
        <p:spPr>
          <a:xfrm>
            <a:off x="2194560" y="2212848"/>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Explain how concepts were generated and how biological inspiration was balanced with feasibility.</a:t>
            </a:r>
          </a:p>
        </p:txBody>
      </p:sp>
      <p:sp>
        <p:nvSpPr>
          <p:cNvPr id="10" name="TextBox 9"/>
          <p:cNvSpPr txBox="1"/>
          <p:nvPr/>
        </p:nvSpPr>
        <p:spPr>
          <a:xfrm>
            <a:off x="777240" y="2889503"/>
            <a:ext cx="10607040" cy="274320"/>
          </a:xfrm>
          <a:prstGeom prst="rect">
            <a:avLst/>
          </a:prstGeom>
          <a:noFill/>
        </p:spPr>
        <p:txBody>
          <a:bodyPr wrap="square" lIns="0" rIns="0" tIns="0" bIns="0">
            <a:spAutoFit/>
          </a:bodyPr>
          <a:lstStyle/>
          <a:p>
            <a:pPr algn="l">
              <a:lnSpc>
                <a:spcPct val="95000"/>
              </a:lnSpc>
              <a:spcAft>
                <a:spcPts val="0"/>
              </a:spcAft>
            </a:pPr>
            <a:r>
              <a:rPr sz="1050" b="1" i="0">
                <a:solidFill>
                  <a:srgbClr val="005A8C"/>
                </a:solidFill>
                <a:latin typeface="Calibri"/>
              </a:rPr>
              <a:t>THREE COMBINATIONS READ OFF THE MATRIX</a:t>
            </a:r>
          </a:p>
        </p:txBody>
      </p:sp>
      <p:sp>
        <p:nvSpPr>
          <p:cNvPr id="11" name="Rounded Rectangle 10"/>
          <p:cNvSpPr/>
          <p:nvPr/>
        </p:nvSpPr>
        <p:spPr>
          <a:xfrm>
            <a:off x="777240" y="3255263"/>
            <a:ext cx="3383280" cy="1051560"/>
          </a:xfrm>
          <a:prstGeom prst="roundRect">
            <a:avLst>
              <a:gd name="adj" fmla="val 10000"/>
            </a:avLst>
          </a:prstGeom>
          <a:solidFill>
            <a:srgbClr val="E8F0F5"/>
          </a:solidFill>
          <a:ln w="19050">
            <a:solidFill>
              <a:srgbClr val="005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392424"/>
            <a:ext cx="2926080" cy="320040"/>
          </a:xfrm>
          <a:prstGeom prst="rect">
            <a:avLst/>
          </a:prstGeom>
          <a:noFill/>
        </p:spPr>
        <p:txBody>
          <a:bodyPr wrap="square" lIns="0" rIns="0" tIns="0" bIns="0">
            <a:spAutoFit/>
          </a:bodyPr>
          <a:lstStyle/>
          <a:p>
            <a:pPr algn="l">
              <a:lnSpc>
                <a:spcPct val="95000"/>
              </a:lnSpc>
              <a:spcAft>
                <a:spcPts val="0"/>
              </a:spcAft>
            </a:pPr>
            <a:r>
              <a:rPr sz="1700" b="1" i="0">
                <a:solidFill>
                  <a:srgbClr val="1E2428"/>
                </a:solidFill>
                <a:latin typeface="Calibri"/>
              </a:rPr>
              <a:t>Water façade</a:t>
            </a:r>
          </a:p>
        </p:txBody>
      </p:sp>
      <p:sp>
        <p:nvSpPr>
          <p:cNvPr id="13" name="TextBox 12"/>
          <p:cNvSpPr txBox="1"/>
          <p:nvPr/>
        </p:nvSpPr>
        <p:spPr>
          <a:xfrm>
            <a:off x="1005840" y="3758183"/>
            <a:ext cx="2926080" cy="411480"/>
          </a:xfrm>
          <a:prstGeom prst="rect">
            <a:avLst/>
          </a:prstGeom>
          <a:noFill/>
        </p:spPr>
        <p:txBody>
          <a:bodyPr wrap="square" lIns="0" rIns="0" tIns="0" bIns="0">
            <a:spAutoFit/>
          </a:bodyPr>
          <a:lstStyle/>
          <a:p>
            <a:pPr algn="l">
              <a:lnSpc>
                <a:spcPct val="115000"/>
              </a:lnSpc>
              <a:spcAft>
                <a:spcPts val="0"/>
              </a:spcAft>
            </a:pPr>
            <a:r>
              <a:rPr sz="1200" b="0" i="0">
                <a:solidFill>
                  <a:srgbClr val="6B7277"/>
                </a:solidFill>
                <a:latin typeface="Calibri"/>
              </a:rPr>
              <a:t>rib + passive loop + roof radiator</a:t>
            </a:r>
          </a:p>
        </p:txBody>
      </p:sp>
      <p:sp>
        <p:nvSpPr>
          <p:cNvPr id="14" name="TextBox 13"/>
          <p:cNvSpPr txBox="1"/>
          <p:nvPr/>
        </p:nvSpPr>
        <p:spPr>
          <a:xfrm>
            <a:off x="1005840" y="4379976"/>
            <a:ext cx="3108960" cy="274320"/>
          </a:xfrm>
          <a:prstGeom prst="rect">
            <a:avLst/>
          </a:prstGeom>
          <a:noFill/>
        </p:spPr>
        <p:txBody>
          <a:bodyPr wrap="square" lIns="0" rIns="0" tIns="0" bIns="0">
            <a:spAutoFit/>
          </a:bodyPr>
          <a:lstStyle/>
          <a:p>
            <a:pPr algn="l">
              <a:lnSpc>
                <a:spcPct val="95000"/>
              </a:lnSpc>
              <a:spcAft>
                <a:spcPts val="0"/>
              </a:spcAft>
            </a:pPr>
            <a:r>
              <a:rPr sz="1000" b="1" i="0">
                <a:solidFill>
                  <a:srgbClr val="005A8C"/>
                </a:solidFill>
                <a:latin typeface="Calibri"/>
              </a:rPr>
              <a:t>CARRIED FORWARD</a:t>
            </a:r>
          </a:p>
        </p:txBody>
      </p:sp>
      <p:sp>
        <p:nvSpPr>
          <p:cNvPr id="15" name="Rounded Rectangle 14"/>
          <p:cNvSpPr/>
          <p:nvPr/>
        </p:nvSpPr>
        <p:spPr>
          <a:xfrm>
            <a:off x="4389120" y="3255263"/>
            <a:ext cx="3383280" cy="1051560"/>
          </a:xfrm>
          <a:prstGeom prst="roundRect">
            <a:avLst>
              <a:gd name="adj" fmla="val 10000"/>
            </a:avLst>
          </a:prstGeom>
          <a:solidFill>
            <a:srgbClr val="E8F0F5"/>
          </a:solidFill>
          <a:ln w="19050">
            <a:solidFill>
              <a:srgbClr val="005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3392424"/>
            <a:ext cx="2926080" cy="320040"/>
          </a:xfrm>
          <a:prstGeom prst="rect">
            <a:avLst/>
          </a:prstGeom>
          <a:noFill/>
        </p:spPr>
        <p:txBody>
          <a:bodyPr wrap="square" lIns="0" rIns="0" tIns="0" bIns="0">
            <a:spAutoFit/>
          </a:bodyPr>
          <a:lstStyle/>
          <a:p>
            <a:pPr algn="l">
              <a:lnSpc>
                <a:spcPct val="95000"/>
              </a:lnSpc>
              <a:spcAft>
                <a:spcPts val="0"/>
              </a:spcAft>
            </a:pPr>
            <a:r>
              <a:rPr sz="1700" b="1" i="0">
                <a:solidFill>
                  <a:srgbClr val="1E2428"/>
                </a:solidFill>
                <a:latin typeface="Calibri"/>
              </a:rPr>
              <a:t>Roughness spray</a:t>
            </a:r>
          </a:p>
        </p:txBody>
      </p:sp>
      <p:sp>
        <p:nvSpPr>
          <p:cNvPr id="17" name="TextBox 16"/>
          <p:cNvSpPr txBox="1"/>
          <p:nvPr/>
        </p:nvSpPr>
        <p:spPr>
          <a:xfrm>
            <a:off x="4617720" y="3758183"/>
            <a:ext cx="2926080" cy="411480"/>
          </a:xfrm>
          <a:prstGeom prst="rect">
            <a:avLst/>
          </a:prstGeom>
          <a:noFill/>
        </p:spPr>
        <p:txBody>
          <a:bodyPr wrap="square" lIns="0" rIns="0" tIns="0" bIns="0">
            <a:spAutoFit/>
          </a:bodyPr>
          <a:lstStyle/>
          <a:p>
            <a:pPr algn="l">
              <a:lnSpc>
                <a:spcPct val="115000"/>
              </a:lnSpc>
              <a:spcAft>
                <a:spcPts val="0"/>
              </a:spcAft>
            </a:pPr>
            <a:r>
              <a:rPr sz="1200" b="0" i="0">
                <a:solidFill>
                  <a:srgbClr val="6B7277"/>
                </a:solidFill>
                <a:latin typeface="Calibri"/>
              </a:rPr>
              <a:t>texture + convection, nothing else</a:t>
            </a:r>
          </a:p>
        </p:txBody>
      </p:sp>
      <p:sp>
        <p:nvSpPr>
          <p:cNvPr id="18" name="TextBox 17"/>
          <p:cNvSpPr txBox="1"/>
          <p:nvPr/>
        </p:nvSpPr>
        <p:spPr>
          <a:xfrm>
            <a:off x="4617720" y="4379976"/>
            <a:ext cx="3108960" cy="274320"/>
          </a:xfrm>
          <a:prstGeom prst="rect">
            <a:avLst/>
          </a:prstGeom>
          <a:noFill/>
        </p:spPr>
        <p:txBody>
          <a:bodyPr wrap="square" lIns="0" rIns="0" tIns="0" bIns="0">
            <a:spAutoFit/>
          </a:bodyPr>
          <a:lstStyle/>
          <a:p>
            <a:pPr algn="l">
              <a:lnSpc>
                <a:spcPct val="95000"/>
              </a:lnSpc>
              <a:spcAft>
                <a:spcPts val="0"/>
              </a:spcAft>
            </a:pPr>
            <a:r>
              <a:rPr sz="1000" b="1" i="0">
                <a:solidFill>
                  <a:srgbClr val="005A8C"/>
                </a:solidFill>
                <a:latin typeface="Calibri"/>
              </a:rPr>
              <a:t>CARRIED FORWARD</a:t>
            </a:r>
          </a:p>
        </p:txBody>
      </p:sp>
      <p:sp>
        <p:nvSpPr>
          <p:cNvPr id="19" name="Rounded Rectangle 18"/>
          <p:cNvSpPr/>
          <p:nvPr/>
        </p:nvSpPr>
        <p:spPr>
          <a:xfrm>
            <a:off x="8001000" y="3255263"/>
            <a:ext cx="3383280" cy="1051560"/>
          </a:xfrm>
          <a:prstGeom prst="roundRect">
            <a:avLst>
              <a:gd name="adj" fmla="val 10000"/>
            </a:avLst>
          </a:prstGeom>
          <a:solidFill>
            <a:srgbClr val="F1EFEB"/>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3392424"/>
            <a:ext cx="2926080" cy="320040"/>
          </a:xfrm>
          <a:prstGeom prst="rect">
            <a:avLst/>
          </a:prstGeom>
          <a:noFill/>
        </p:spPr>
        <p:txBody>
          <a:bodyPr wrap="square" lIns="0" rIns="0" tIns="0" bIns="0">
            <a:spAutoFit/>
          </a:bodyPr>
          <a:lstStyle/>
          <a:p>
            <a:pPr algn="l">
              <a:lnSpc>
                <a:spcPct val="95000"/>
              </a:lnSpc>
              <a:spcAft>
                <a:spcPts val="0"/>
              </a:spcAft>
            </a:pPr>
            <a:r>
              <a:rPr sz="1700" b="1" i="0">
                <a:solidFill>
                  <a:srgbClr val="6B7277"/>
                </a:solidFill>
                <a:latin typeface="Calibri"/>
              </a:rPr>
              <a:t>Switching coating</a:t>
            </a:r>
          </a:p>
        </p:txBody>
      </p:sp>
      <p:sp>
        <p:nvSpPr>
          <p:cNvPr id="21" name="TextBox 20"/>
          <p:cNvSpPr txBox="1"/>
          <p:nvPr/>
        </p:nvSpPr>
        <p:spPr>
          <a:xfrm>
            <a:off x="8229600" y="3758183"/>
            <a:ext cx="2926080" cy="411480"/>
          </a:xfrm>
          <a:prstGeom prst="rect">
            <a:avLst/>
          </a:prstGeom>
          <a:noFill/>
        </p:spPr>
        <p:txBody>
          <a:bodyPr wrap="square" lIns="0" rIns="0" tIns="0" bIns="0">
            <a:spAutoFit/>
          </a:bodyPr>
          <a:lstStyle/>
          <a:p>
            <a:pPr algn="l">
              <a:lnSpc>
                <a:spcPct val="115000"/>
              </a:lnSpc>
              <a:spcAft>
                <a:spcPts val="0"/>
              </a:spcAft>
            </a:pPr>
            <a:r>
              <a:rPr sz="1200" b="0" i="0">
                <a:solidFill>
                  <a:srgbClr val="6B7277"/>
                </a:solidFill>
                <a:latin typeface="Calibri"/>
              </a:rPr>
              <a:t>material changes albedo with heat</a:t>
            </a:r>
          </a:p>
        </p:txBody>
      </p:sp>
      <p:sp>
        <p:nvSpPr>
          <p:cNvPr id="22" name="TextBox 21"/>
          <p:cNvSpPr txBox="1"/>
          <p:nvPr/>
        </p:nvSpPr>
        <p:spPr>
          <a:xfrm>
            <a:off x="8229600" y="4379976"/>
            <a:ext cx="3108960" cy="274320"/>
          </a:xfrm>
          <a:prstGeom prst="rect">
            <a:avLst/>
          </a:prstGeom>
          <a:noFill/>
        </p:spPr>
        <p:txBody>
          <a:bodyPr wrap="square" lIns="0" rIns="0" tIns="0" bIns="0">
            <a:spAutoFit/>
          </a:bodyPr>
          <a:lstStyle/>
          <a:p>
            <a:pPr algn="l">
              <a:lnSpc>
                <a:spcPct val="95000"/>
              </a:lnSpc>
              <a:spcAft>
                <a:spcPts val="0"/>
              </a:spcAft>
            </a:pPr>
            <a:r>
              <a:rPr sz="1000" b="1" i="0">
                <a:solidFill>
                  <a:srgbClr val="A83B2E"/>
                </a:solidFill>
                <a:latin typeface="Calibri"/>
              </a:rPr>
              <a:t>dropped — no night effect</a:t>
            </a:r>
          </a:p>
        </p:txBody>
      </p:sp>
      <p:sp>
        <p:nvSpPr>
          <p:cNvPr id="23" name="TextBox 22"/>
          <p:cNvSpPr txBox="1"/>
          <p:nvPr/>
        </p:nvSpPr>
        <p:spPr>
          <a:xfrm>
            <a:off x="777240" y="4901183"/>
            <a:ext cx="10607040" cy="822960"/>
          </a:xfrm>
          <a:prstGeom prst="rect">
            <a:avLst/>
          </a:prstGeom>
          <a:noFill/>
        </p:spPr>
        <p:txBody>
          <a:bodyPr wrap="square" lIns="0" rIns="0" tIns="0" bIns="0">
            <a:spAutoFit/>
          </a:bodyPr>
          <a:lstStyle/>
          <a:p>
            <a:pPr algn="l">
              <a:lnSpc>
                <a:spcPct val="120000"/>
              </a:lnSpc>
              <a:spcAft>
                <a:spcPts val="0"/>
              </a:spcAft>
            </a:pPr>
            <a:r>
              <a:rPr sz="1900" b="1" i="0">
                <a:solidFill>
                  <a:srgbClr val="1E2428"/>
                </a:solidFill>
                <a:latin typeface="Calibri"/>
              </a:rPr>
              <a:t>The two we kept are separated by physics, not by styling:
one moves the heat somewhere better, the other lets the air get at it where it is.</a:t>
            </a:r>
          </a:p>
        </p:txBody>
      </p:sp>
      <p:sp>
        <p:nvSpPr>
          <p:cNvPr id="24" name="TextBox 23"/>
          <p:cNvSpPr txBox="1"/>
          <p:nvPr/>
        </p:nvSpPr>
        <p:spPr>
          <a:xfrm>
            <a:off x="777240" y="5907024"/>
            <a:ext cx="10607040" cy="685800"/>
          </a:xfrm>
          <a:prstGeom prst="rect">
            <a:avLst/>
          </a:prstGeom>
          <a:noFill/>
        </p:spPr>
        <p:txBody>
          <a:bodyPr wrap="square" lIns="0" rIns="0" tIns="0" bIns="0">
            <a:spAutoFit/>
          </a:bodyPr>
          <a:lstStyle/>
          <a:p>
            <a:pPr algn="l">
              <a:lnSpc>
                <a:spcPct val="120000"/>
              </a:lnSpc>
              <a:spcAft>
                <a:spcPts val="0"/>
              </a:spcAft>
            </a:pPr>
            <a:r>
              <a:rPr sz="1600" b="0" i="0">
                <a:solidFill>
                  <a:srgbClr val="6B7277"/>
                </a:solidFill>
                <a:latin typeface="Calibri"/>
              </a:rPr>
              <a:t>A is a new-build system — the pipes must sit inside the construction.
B is the retrofit answer — it is sprayed onto what already stands.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3.2 · CONCEPT A</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The water façade — new build</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521208"/>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 2 technically distinct concept variants. Annotated concept drawings: components, functions, flows, materials, parameters.</a:t>
            </a:r>
          </a:p>
        </p:txBody>
      </p:sp>
      <p:sp>
        <p:nvSpPr>
          <p:cNvPr id="9" name="Rectangle 8"/>
          <p:cNvSpPr/>
          <p:nvPr/>
        </p:nvSpPr>
        <p:spPr>
          <a:xfrm>
            <a:off x="777240" y="2770632"/>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670048"/>
            <a:ext cx="4846320" cy="457200"/>
          </a:xfrm>
          <a:prstGeom prst="rect">
            <a:avLst/>
          </a:prstGeom>
          <a:noFill/>
        </p:spPr>
        <p:txBody>
          <a:bodyPr wrap="square" lIns="0" rIns="0" tIns="0" bIns="0">
            <a:spAutoFit/>
          </a:bodyPr>
          <a:lstStyle/>
          <a:p>
            <a:pPr algn="l">
              <a:lnSpc>
                <a:spcPct val="95000"/>
              </a:lnSpc>
              <a:spcAft>
                <a:spcPts val="0"/>
              </a:spcAft>
            </a:pPr>
            <a:r>
              <a:rPr sz="1700" b="1" i="0">
                <a:solidFill>
                  <a:srgbClr val="1E2428"/>
                </a:solidFill>
                <a:latin typeface="Calibri"/>
              </a:rPr>
              <a:t>ribbed skin shades itself — cactus</a:t>
            </a:r>
          </a:p>
        </p:txBody>
      </p:sp>
      <p:sp>
        <p:nvSpPr>
          <p:cNvPr id="11" name="Rectangle 10"/>
          <p:cNvSpPr/>
          <p:nvPr/>
        </p:nvSpPr>
        <p:spPr>
          <a:xfrm>
            <a:off x="777240" y="3282696"/>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3182112"/>
            <a:ext cx="4846320" cy="457200"/>
          </a:xfrm>
          <a:prstGeom prst="rect">
            <a:avLst/>
          </a:prstGeom>
          <a:noFill/>
        </p:spPr>
        <p:txBody>
          <a:bodyPr wrap="square" lIns="0" rIns="0" tIns="0" bIns="0">
            <a:spAutoFit/>
          </a:bodyPr>
          <a:lstStyle/>
          <a:p>
            <a:pPr algn="l">
              <a:lnSpc>
                <a:spcPct val="95000"/>
              </a:lnSpc>
              <a:spcAft>
                <a:spcPts val="0"/>
              </a:spcAft>
            </a:pPr>
            <a:r>
              <a:rPr sz="1700" b="0" i="0">
                <a:solidFill>
                  <a:srgbClr val="6B7277"/>
                </a:solidFill>
                <a:latin typeface="Calibri"/>
              </a:rPr>
              <a:t>thick water pipes inside the façade</a:t>
            </a:r>
          </a:p>
        </p:txBody>
      </p:sp>
      <p:sp>
        <p:nvSpPr>
          <p:cNvPr id="13" name="Rectangle 12"/>
          <p:cNvSpPr/>
          <p:nvPr/>
        </p:nvSpPr>
        <p:spPr>
          <a:xfrm>
            <a:off x="777240" y="379476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3694176"/>
            <a:ext cx="4846320" cy="457200"/>
          </a:xfrm>
          <a:prstGeom prst="rect">
            <a:avLst/>
          </a:prstGeom>
          <a:noFill/>
        </p:spPr>
        <p:txBody>
          <a:bodyPr wrap="square" lIns="0" rIns="0" tIns="0" bIns="0">
            <a:spAutoFit/>
          </a:bodyPr>
          <a:lstStyle/>
          <a:p>
            <a:pPr algn="l">
              <a:lnSpc>
                <a:spcPct val="95000"/>
              </a:lnSpc>
              <a:spcAft>
                <a:spcPts val="0"/>
              </a:spcAft>
            </a:pPr>
            <a:r>
              <a:rPr sz="1700" b="1" i="0">
                <a:solidFill>
                  <a:srgbClr val="1E2428"/>
                </a:solidFill>
                <a:latin typeface="Calibri"/>
              </a:rPr>
              <a:t>warm water rises on its own — no pump</a:t>
            </a:r>
          </a:p>
        </p:txBody>
      </p:sp>
      <p:sp>
        <p:nvSpPr>
          <p:cNvPr id="15" name="Rectangle 14"/>
          <p:cNvSpPr/>
          <p:nvPr/>
        </p:nvSpPr>
        <p:spPr>
          <a:xfrm>
            <a:off x="777240" y="430682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4206240"/>
            <a:ext cx="4846320" cy="457200"/>
          </a:xfrm>
          <a:prstGeom prst="rect">
            <a:avLst/>
          </a:prstGeom>
          <a:noFill/>
        </p:spPr>
        <p:txBody>
          <a:bodyPr wrap="square" lIns="0" rIns="0" tIns="0" bIns="0">
            <a:spAutoFit/>
          </a:bodyPr>
          <a:lstStyle/>
          <a:p>
            <a:pPr algn="l">
              <a:lnSpc>
                <a:spcPct val="95000"/>
              </a:lnSpc>
              <a:spcAft>
                <a:spcPts val="0"/>
              </a:spcAft>
            </a:pPr>
            <a:r>
              <a:rPr sz="1700" b="0" i="0">
                <a:solidFill>
                  <a:srgbClr val="6B7277"/>
                </a:solidFill>
                <a:latin typeface="Calibri"/>
              </a:rPr>
              <a:t>cool water sinks and returns</a:t>
            </a:r>
          </a:p>
        </p:txBody>
      </p:sp>
      <p:sp>
        <p:nvSpPr>
          <p:cNvPr id="17" name="Rectangle 16"/>
          <p:cNvSpPr/>
          <p:nvPr/>
        </p:nvSpPr>
        <p:spPr>
          <a:xfrm>
            <a:off x="777240" y="4818888"/>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8992" y="4718304"/>
            <a:ext cx="4846320" cy="457200"/>
          </a:xfrm>
          <a:prstGeom prst="rect">
            <a:avLst/>
          </a:prstGeom>
          <a:noFill/>
        </p:spPr>
        <p:txBody>
          <a:bodyPr wrap="square" lIns="0" rIns="0" tIns="0" bIns="0">
            <a:spAutoFit/>
          </a:bodyPr>
          <a:lstStyle/>
          <a:p>
            <a:pPr algn="l">
              <a:lnSpc>
                <a:spcPct val="95000"/>
              </a:lnSpc>
              <a:spcAft>
                <a:spcPts val="0"/>
              </a:spcAft>
            </a:pPr>
            <a:r>
              <a:rPr sz="1700" b="0" i="0">
                <a:solidFill>
                  <a:srgbClr val="6B7277"/>
                </a:solidFill>
                <a:latin typeface="Calibri"/>
              </a:rPr>
              <a:t>thin, wide roof surface spreads it out</a:t>
            </a:r>
          </a:p>
        </p:txBody>
      </p:sp>
      <p:sp>
        <p:nvSpPr>
          <p:cNvPr id="19" name="Rectangle 18"/>
          <p:cNvSpPr/>
          <p:nvPr/>
        </p:nvSpPr>
        <p:spPr>
          <a:xfrm>
            <a:off x="777240" y="5330952"/>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8992" y="5230368"/>
            <a:ext cx="4846320" cy="457200"/>
          </a:xfrm>
          <a:prstGeom prst="rect">
            <a:avLst/>
          </a:prstGeom>
          <a:noFill/>
        </p:spPr>
        <p:txBody>
          <a:bodyPr wrap="square" lIns="0" rIns="0" tIns="0" bIns="0">
            <a:spAutoFit/>
          </a:bodyPr>
          <a:lstStyle/>
          <a:p>
            <a:pPr algn="l">
              <a:lnSpc>
                <a:spcPct val="95000"/>
              </a:lnSpc>
              <a:spcAft>
                <a:spcPts val="0"/>
              </a:spcAft>
            </a:pPr>
            <a:r>
              <a:rPr sz="1700" b="1" i="0">
                <a:solidFill>
                  <a:srgbClr val="1E2428"/>
                </a:solidFill>
                <a:latin typeface="Calibri"/>
              </a:rPr>
              <a:t>heat leaves where the sky view is best</a:t>
            </a:r>
          </a:p>
        </p:txBody>
      </p:sp>
      <p:sp>
        <p:nvSpPr>
          <p:cNvPr id="21" name="TextBox 20"/>
          <p:cNvSpPr txBox="1"/>
          <p:nvPr/>
        </p:nvSpPr>
        <p:spPr>
          <a:xfrm>
            <a:off x="777240" y="5989320"/>
            <a:ext cx="5120640" cy="640080"/>
          </a:xfrm>
          <a:prstGeom prst="rect">
            <a:avLst/>
          </a:prstGeom>
          <a:noFill/>
        </p:spPr>
        <p:txBody>
          <a:bodyPr wrap="square" lIns="0" rIns="0" tIns="0" bIns="0">
            <a:spAutoFit/>
          </a:bodyPr>
          <a:lstStyle/>
          <a:p>
            <a:pPr algn="l">
              <a:lnSpc>
                <a:spcPct val="120000"/>
              </a:lnSpc>
              <a:spcAft>
                <a:spcPts val="0"/>
              </a:spcAft>
            </a:pPr>
            <a:r>
              <a:rPr sz="1400" b="1" i="0">
                <a:solidFill>
                  <a:srgbClr val="005A8C"/>
                </a:solidFill>
                <a:latin typeface="Calibri"/>
              </a:rPr>
              <a:t>self-regulating by construction:
hotter water → bigger density difference → faster flow</a:t>
            </a:r>
          </a:p>
        </p:txBody>
      </p:sp>
      <p:sp>
        <p:nvSpPr>
          <p:cNvPr id="22" name="Rectangle 21"/>
          <p:cNvSpPr/>
          <p:nvPr/>
        </p:nvSpPr>
        <p:spPr>
          <a:xfrm>
            <a:off x="5623560" y="2551176"/>
            <a:ext cx="5486400" cy="3566159"/>
          </a:xfrm>
          <a:prstGeom prst="rect">
            <a:avLst/>
          </a:prstGeom>
          <a:solidFill>
            <a:srgbClr val="DAE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23560" y="6117336"/>
            <a:ext cx="5486400" cy="146304"/>
          </a:xfrm>
          <a:prstGeom prst="rect">
            <a:avLst/>
          </a:prstGeom>
          <a:solidFill>
            <a:srgbClr val="9A9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88152" y="2670048"/>
            <a:ext cx="384048" cy="384048"/>
          </a:xfrm>
          <a:prstGeom prst="ellipse">
            <a:avLst/>
          </a:prstGeom>
          <a:solidFill>
            <a:srgbClr val="E8B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6190488" y="2871215"/>
            <a:ext cx="704088" cy="292609"/>
          </a:xfrm>
          <a:prstGeom prst="line">
            <a:avLst/>
          </a:prstGeom>
          <a:ln w="15240">
            <a:solidFill>
              <a:srgbClr val="E8B43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190488" y="3255263"/>
            <a:ext cx="704088" cy="292609"/>
          </a:xfrm>
          <a:prstGeom prst="line">
            <a:avLst/>
          </a:prstGeom>
          <a:ln w="15240">
            <a:solidFill>
              <a:srgbClr val="E8B43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190488" y="3639311"/>
            <a:ext cx="704088" cy="292609"/>
          </a:xfrm>
          <a:prstGeom prst="line">
            <a:avLst/>
          </a:prstGeom>
          <a:ln w="15240">
            <a:solidFill>
              <a:srgbClr val="E8B43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190488" y="4023359"/>
            <a:ext cx="704088" cy="292609"/>
          </a:xfrm>
          <a:prstGeom prst="line">
            <a:avLst/>
          </a:prstGeom>
          <a:ln w="15240">
            <a:solidFill>
              <a:srgbClr val="E8B4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949440" y="3255263"/>
            <a:ext cx="2651760" cy="2862072"/>
          </a:xfrm>
          <a:prstGeom prst="rect">
            <a:avLst/>
          </a:prstGeom>
          <a:solidFill>
            <a:srgbClr val="E3DFD7"/>
          </a:solidFill>
          <a:ln w="12700">
            <a:solidFill>
              <a:srgbClr val="A8A2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6949440" y="3511296"/>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6949440" y="3602736"/>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949440" y="3813048"/>
            <a:ext cx="182880" cy="91439"/>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949440" y="3904487"/>
            <a:ext cx="182880" cy="91441"/>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949440" y="4114800"/>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949440" y="4206240"/>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949440" y="4416552"/>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6949440" y="4507992"/>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949440" y="4718304"/>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6949440" y="4809744"/>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949440" y="5020056"/>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6949440" y="5111496"/>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949440" y="5321808"/>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949440" y="5413248"/>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949440" y="5623560"/>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6949440" y="5715000"/>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949440" y="5925312"/>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6949440" y="6016752"/>
            <a:ext cx="182880" cy="91440"/>
          </a:xfrm>
          <a:prstGeom prst="line">
            <a:avLst/>
          </a:prstGeom>
          <a:ln w="25400">
            <a:solidFill>
              <a:srgbClr val="A8A29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7452360" y="3401568"/>
            <a:ext cx="0" cy="2441448"/>
          </a:xfrm>
          <a:prstGeom prst="line">
            <a:avLst/>
          </a:prstGeom>
          <a:ln w="57150">
            <a:solidFill>
              <a:srgbClr val="B53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098280" y="3401568"/>
            <a:ext cx="0" cy="2441448"/>
          </a:xfrm>
          <a:prstGeom prst="line">
            <a:avLst/>
          </a:prstGeom>
          <a:ln w="57150">
            <a:solidFill>
              <a:srgbClr val="1D6E9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452360" y="5843016"/>
            <a:ext cx="1645920" cy="0"/>
          </a:xfrm>
          <a:prstGeom prst="line">
            <a:avLst/>
          </a:prstGeom>
          <a:ln w="38100">
            <a:solidFill>
              <a:srgbClr val="1D6E9C"/>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6446520" y="2980944"/>
            <a:ext cx="3657600" cy="237744"/>
          </a:xfrm>
          <a:prstGeom prst="rect">
            <a:avLst/>
          </a:prstGeom>
          <a:solidFill>
            <a:srgbClr val="1D6E9C"/>
          </a:solidFill>
          <a:ln w="12700">
            <a:solidFill>
              <a:srgbClr val="A8A2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flipV="1">
            <a:off x="7452360" y="3218687"/>
            <a:ext cx="0" cy="182881"/>
          </a:xfrm>
          <a:prstGeom prst="line">
            <a:avLst/>
          </a:prstGeom>
          <a:ln w="57150">
            <a:solidFill>
              <a:srgbClr val="B53A2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098280" y="3218687"/>
            <a:ext cx="0" cy="182881"/>
          </a:xfrm>
          <a:prstGeom prst="line">
            <a:avLst/>
          </a:prstGeom>
          <a:ln w="57150">
            <a:solidFill>
              <a:srgbClr val="1D6E9C"/>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6629400" y="2596896"/>
            <a:ext cx="0" cy="384048"/>
          </a:xfrm>
          <a:prstGeom prst="line">
            <a:avLst/>
          </a:prstGeom>
          <a:ln w="20320">
            <a:solidFill>
              <a:srgbClr val="B53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7315200" y="2596896"/>
            <a:ext cx="0" cy="384048"/>
          </a:xfrm>
          <a:prstGeom prst="line">
            <a:avLst/>
          </a:prstGeom>
          <a:ln w="20320">
            <a:solidFill>
              <a:srgbClr val="B53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8001000" y="2596896"/>
            <a:ext cx="0" cy="384048"/>
          </a:xfrm>
          <a:prstGeom prst="line">
            <a:avLst/>
          </a:prstGeom>
          <a:ln w="20320">
            <a:solidFill>
              <a:srgbClr val="B53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8686800" y="2596896"/>
            <a:ext cx="0" cy="384048"/>
          </a:xfrm>
          <a:prstGeom prst="line">
            <a:avLst/>
          </a:prstGeom>
          <a:ln w="20320">
            <a:solidFill>
              <a:srgbClr val="B53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9372600" y="2596896"/>
            <a:ext cx="0" cy="384048"/>
          </a:xfrm>
          <a:prstGeom prst="line">
            <a:avLst/>
          </a:prstGeom>
          <a:ln w="20320">
            <a:solidFill>
              <a:srgbClr val="B53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10058400" y="2596896"/>
            <a:ext cx="0" cy="384048"/>
          </a:xfrm>
          <a:prstGeom prst="line">
            <a:avLst/>
          </a:prstGeom>
          <a:ln w="20320">
            <a:solidFill>
              <a:srgbClr val="B53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669280" y="2267711"/>
            <a:ext cx="2926080" cy="274320"/>
          </a:xfrm>
          <a:prstGeom prst="rect">
            <a:avLst/>
          </a:prstGeom>
          <a:noFill/>
        </p:spPr>
        <p:txBody>
          <a:bodyPr wrap="square" lIns="0" rIns="0" tIns="0" bIns="0">
            <a:spAutoFit/>
          </a:bodyPr>
          <a:lstStyle/>
          <a:p>
            <a:pPr algn="l">
              <a:lnSpc>
                <a:spcPct val="95000"/>
              </a:lnSpc>
              <a:spcAft>
                <a:spcPts val="0"/>
              </a:spcAft>
            </a:pPr>
            <a:r>
              <a:rPr sz="950" b="1" i="0">
                <a:solidFill>
                  <a:srgbClr val="B53A2A"/>
                </a:solidFill>
                <a:latin typeface="Calibri"/>
              </a:rPr>
              <a:t>heat leaves to the sky and the air</a:t>
            </a:r>
          </a:p>
        </p:txBody>
      </p:sp>
      <p:sp>
        <p:nvSpPr>
          <p:cNvPr id="61" name="TextBox 60"/>
          <p:cNvSpPr txBox="1"/>
          <p:nvPr/>
        </p:nvSpPr>
        <p:spPr>
          <a:xfrm>
            <a:off x="10104120" y="2962656"/>
            <a:ext cx="1783080" cy="274320"/>
          </a:xfrm>
          <a:prstGeom prst="rect">
            <a:avLst/>
          </a:prstGeom>
          <a:noFill/>
        </p:spPr>
        <p:txBody>
          <a:bodyPr wrap="square" lIns="0" rIns="0" tIns="0" bIns="0">
            <a:spAutoFit/>
          </a:bodyPr>
          <a:lstStyle/>
          <a:p>
            <a:pPr algn="l">
              <a:lnSpc>
                <a:spcPct val="95000"/>
              </a:lnSpc>
              <a:spcAft>
                <a:spcPts val="0"/>
              </a:spcAft>
            </a:pPr>
            <a:r>
              <a:rPr sz="950" b="0" i="0">
                <a:solidFill>
                  <a:srgbClr val="1E2428"/>
                </a:solidFill>
                <a:latin typeface="Calibri"/>
              </a:rPr>
              <a:t>thin, wide release
surface — maximum area</a:t>
            </a:r>
          </a:p>
        </p:txBody>
      </p:sp>
      <p:sp>
        <p:nvSpPr>
          <p:cNvPr id="62" name="TextBox 61"/>
          <p:cNvSpPr txBox="1"/>
          <p:nvPr/>
        </p:nvSpPr>
        <p:spPr>
          <a:xfrm>
            <a:off x="5641848" y="4215383"/>
            <a:ext cx="1325880" cy="274320"/>
          </a:xfrm>
          <a:prstGeom prst="rect">
            <a:avLst/>
          </a:prstGeom>
          <a:noFill/>
        </p:spPr>
        <p:txBody>
          <a:bodyPr wrap="square" lIns="0" rIns="0" tIns="0" bIns="0">
            <a:spAutoFit/>
          </a:bodyPr>
          <a:lstStyle/>
          <a:p>
            <a:pPr algn="l">
              <a:lnSpc>
                <a:spcPct val="95000"/>
              </a:lnSpc>
              <a:spcAft>
                <a:spcPts val="0"/>
              </a:spcAft>
            </a:pPr>
            <a:r>
              <a:rPr sz="950" b="0" i="0">
                <a:solidFill>
                  <a:srgbClr val="1E2428"/>
                </a:solidFill>
                <a:latin typeface="Calibri"/>
              </a:rPr>
              <a:t>ribbed façade
shades itself</a:t>
            </a:r>
          </a:p>
        </p:txBody>
      </p:sp>
      <p:sp>
        <p:nvSpPr>
          <p:cNvPr id="63" name="TextBox 62"/>
          <p:cNvSpPr txBox="1"/>
          <p:nvPr/>
        </p:nvSpPr>
        <p:spPr>
          <a:xfrm>
            <a:off x="10104120" y="4306823"/>
            <a:ext cx="1783080" cy="274320"/>
          </a:xfrm>
          <a:prstGeom prst="rect">
            <a:avLst/>
          </a:prstGeom>
          <a:noFill/>
        </p:spPr>
        <p:txBody>
          <a:bodyPr wrap="square" lIns="0" rIns="0" tIns="0" bIns="0">
            <a:spAutoFit/>
          </a:bodyPr>
          <a:lstStyle/>
          <a:p>
            <a:pPr algn="l">
              <a:lnSpc>
                <a:spcPct val="95000"/>
              </a:lnSpc>
              <a:spcAft>
                <a:spcPts val="0"/>
              </a:spcAft>
            </a:pPr>
            <a:r>
              <a:rPr sz="950" b="1" i="0">
                <a:solidFill>
                  <a:srgbClr val="B53A2A"/>
                </a:solidFill>
                <a:latin typeface="Calibri"/>
              </a:rPr>
              <a:t>warm water rises
by itself — no pump</a:t>
            </a:r>
          </a:p>
        </p:txBody>
      </p:sp>
      <p:sp>
        <p:nvSpPr>
          <p:cNvPr id="64" name="TextBox 63"/>
          <p:cNvSpPr txBox="1"/>
          <p:nvPr/>
        </p:nvSpPr>
        <p:spPr>
          <a:xfrm>
            <a:off x="10104120" y="5129783"/>
            <a:ext cx="1783080" cy="274320"/>
          </a:xfrm>
          <a:prstGeom prst="rect">
            <a:avLst/>
          </a:prstGeom>
          <a:noFill/>
        </p:spPr>
        <p:txBody>
          <a:bodyPr wrap="square" lIns="0" rIns="0" tIns="0" bIns="0">
            <a:spAutoFit/>
          </a:bodyPr>
          <a:lstStyle/>
          <a:p>
            <a:pPr algn="l">
              <a:lnSpc>
                <a:spcPct val="95000"/>
              </a:lnSpc>
              <a:spcAft>
                <a:spcPts val="0"/>
              </a:spcAft>
            </a:pPr>
            <a:r>
              <a:rPr sz="950" b="1" i="0">
                <a:solidFill>
                  <a:srgbClr val="1D6E9C"/>
                </a:solidFill>
                <a:latin typeface="Calibri"/>
              </a:rPr>
              <a:t>cooled water sinks
back down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3.2 · CONCEPT B</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The roughness spray — retrofit</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521208"/>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 2 technically distinct concept variants. Annotated concept drawings: components, functions, flows, materials, parameters.</a:t>
            </a:r>
          </a:p>
        </p:txBody>
      </p:sp>
      <p:sp>
        <p:nvSpPr>
          <p:cNvPr id="9" name="Rectangle 8"/>
          <p:cNvSpPr/>
          <p:nvPr/>
        </p:nvSpPr>
        <p:spPr>
          <a:xfrm>
            <a:off x="777240" y="2770632"/>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670048"/>
            <a:ext cx="4937760" cy="457200"/>
          </a:xfrm>
          <a:prstGeom prst="rect">
            <a:avLst/>
          </a:prstGeom>
          <a:noFill/>
        </p:spPr>
        <p:txBody>
          <a:bodyPr wrap="square" lIns="0" rIns="0" tIns="0" bIns="0">
            <a:spAutoFit/>
          </a:bodyPr>
          <a:lstStyle/>
          <a:p>
            <a:pPr algn="l">
              <a:lnSpc>
                <a:spcPct val="95000"/>
              </a:lnSpc>
              <a:spcAft>
                <a:spcPts val="0"/>
              </a:spcAft>
            </a:pPr>
            <a:r>
              <a:rPr sz="1700" b="1" i="0">
                <a:solidFill>
                  <a:srgbClr val="1E2428"/>
                </a:solidFill>
                <a:latin typeface="Calibri"/>
              </a:rPr>
              <a:t>sprayed micro-texture, millimetre scale</a:t>
            </a:r>
          </a:p>
        </p:txBody>
      </p:sp>
      <p:sp>
        <p:nvSpPr>
          <p:cNvPr id="11" name="Rectangle 10"/>
          <p:cNvSpPr/>
          <p:nvPr/>
        </p:nvSpPr>
        <p:spPr>
          <a:xfrm>
            <a:off x="777240" y="3282696"/>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3182112"/>
            <a:ext cx="4937760" cy="457200"/>
          </a:xfrm>
          <a:prstGeom prst="rect">
            <a:avLst/>
          </a:prstGeom>
          <a:noFill/>
        </p:spPr>
        <p:txBody>
          <a:bodyPr wrap="square" lIns="0" rIns="0" tIns="0" bIns="0">
            <a:spAutoFit/>
          </a:bodyPr>
          <a:lstStyle/>
          <a:p>
            <a:pPr algn="l">
              <a:lnSpc>
                <a:spcPct val="95000"/>
              </a:lnSpc>
              <a:spcAft>
                <a:spcPts val="0"/>
              </a:spcAft>
            </a:pPr>
            <a:r>
              <a:rPr sz="1700" b="0" i="0">
                <a:solidFill>
                  <a:srgbClr val="6B7277"/>
                </a:solidFill>
                <a:latin typeface="Calibri"/>
              </a:rPr>
              <a:t>breaks the still air layer on the wall</a:t>
            </a:r>
          </a:p>
        </p:txBody>
      </p:sp>
      <p:sp>
        <p:nvSpPr>
          <p:cNvPr id="13" name="Rectangle 12"/>
          <p:cNvSpPr/>
          <p:nvPr/>
        </p:nvSpPr>
        <p:spPr>
          <a:xfrm>
            <a:off x="777240" y="379476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3694176"/>
            <a:ext cx="4937760" cy="457200"/>
          </a:xfrm>
          <a:prstGeom prst="rect">
            <a:avLst/>
          </a:prstGeom>
          <a:noFill/>
        </p:spPr>
        <p:txBody>
          <a:bodyPr wrap="square" lIns="0" rIns="0" tIns="0" bIns="0">
            <a:spAutoFit/>
          </a:bodyPr>
          <a:lstStyle/>
          <a:p>
            <a:pPr algn="l">
              <a:lnSpc>
                <a:spcPct val="95000"/>
              </a:lnSpc>
              <a:spcAft>
                <a:spcPts val="0"/>
              </a:spcAft>
            </a:pPr>
            <a:r>
              <a:rPr sz="1700" b="1" i="0">
                <a:solidFill>
                  <a:srgbClr val="1E2428"/>
                </a:solidFill>
                <a:latin typeface="Calibri"/>
              </a:rPr>
              <a:t>elephant hair + cactus rib, abstracted</a:t>
            </a:r>
          </a:p>
        </p:txBody>
      </p:sp>
      <p:sp>
        <p:nvSpPr>
          <p:cNvPr id="15" name="Rectangle 14"/>
          <p:cNvSpPr/>
          <p:nvPr/>
        </p:nvSpPr>
        <p:spPr>
          <a:xfrm>
            <a:off x="777240" y="430682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4206240"/>
            <a:ext cx="4937760" cy="457200"/>
          </a:xfrm>
          <a:prstGeom prst="rect">
            <a:avLst/>
          </a:prstGeom>
          <a:noFill/>
        </p:spPr>
        <p:txBody>
          <a:bodyPr wrap="square" lIns="0" rIns="0" tIns="0" bIns="0">
            <a:spAutoFit/>
          </a:bodyPr>
          <a:lstStyle/>
          <a:p>
            <a:pPr algn="l">
              <a:lnSpc>
                <a:spcPct val="95000"/>
              </a:lnSpc>
              <a:spcAft>
                <a:spcPts val="0"/>
              </a:spcAft>
            </a:pPr>
            <a:r>
              <a:rPr sz="1700" b="0" i="0">
                <a:solidFill>
                  <a:srgbClr val="6B7277"/>
                </a:solidFill>
                <a:latin typeface="Calibri"/>
              </a:rPr>
              <a:t>nearly invisible from the street</a:t>
            </a:r>
          </a:p>
        </p:txBody>
      </p:sp>
      <p:sp>
        <p:nvSpPr>
          <p:cNvPr id="17" name="Rectangle 16"/>
          <p:cNvSpPr/>
          <p:nvPr/>
        </p:nvSpPr>
        <p:spPr>
          <a:xfrm>
            <a:off x="777240" y="4818888"/>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8992" y="4718304"/>
            <a:ext cx="4937760" cy="457200"/>
          </a:xfrm>
          <a:prstGeom prst="rect">
            <a:avLst/>
          </a:prstGeom>
          <a:noFill/>
        </p:spPr>
        <p:txBody>
          <a:bodyPr wrap="square" lIns="0" rIns="0" tIns="0" bIns="0">
            <a:spAutoFit/>
          </a:bodyPr>
          <a:lstStyle/>
          <a:p>
            <a:pPr algn="l">
              <a:lnSpc>
                <a:spcPct val="95000"/>
              </a:lnSpc>
              <a:spcAft>
                <a:spcPts val="0"/>
              </a:spcAft>
            </a:pPr>
            <a:r>
              <a:rPr sz="1700" b="0" i="0">
                <a:solidFill>
                  <a:srgbClr val="6B7277"/>
                </a:solidFill>
                <a:latin typeface="Calibri"/>
              </a:rPr>
              <a:t>ordinary trades, no scaffolding</a:t>
            </a:r>
          </a:p>
        </p:txBody>
      </p:sp>
      <p:sp>
        <p:nvSpPr>
          <p:cNvPr id="19" name="Rectangle 18"/>
          <p:cNvSpPr/>
          <p:nvPr/>
        </p:nvSpPr>
        <p:spPr>
          <a:xfrm>
            <a:off x="777240" y="5330952"/>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8992" y="5230368"/>
            <a:ext cx="4937760" cy="457200"/>
          </a:xfrm>
          <a:prstGeom prst="rect">
            <a:avLst/>
          </a:prstGeom>
          <a:noFill/>
        </p:spPr>
        <p:txBody>
          <a:bodyPr wrap="square" lIns="0" rIns="0" tIns="0" bIns="0">
            <a:spAutoFit/>
          </a:bodyPr>
          <a:lstStyle/>
          <a:p>
            <a:pPr algn="l">
              <a:lnSpc>
                <a:spcPct val="95000"/>
              </a:lnSpc>
              <a:spcAft>
                <a:spcPts val="0"/>
              </a:spcAft>
            </a:pPr>
            <a:r>
              <a:rPr sz="1700" b="1" i="0">
                <a:solidFill>
                  <a:srgbClr val="1E2428"/>
                </a:solidFill>
                <a:latin typeface="Calibri"/>
              </a:rPr>
              <a:t>renewable — spray it again</a:t>
            </a:r>
          </a:p>
        </p:txBody>
      </p:sp>
      <p:sp>
        <p:nvSpPr>
          <p:cNvPr id="21" name="TextBox 20"/>
          <p:cNvSpPr txBox="1"/>
          <p:nvPr/>
        </p:nvSpPr>
        <p:spPr>
          <a:xfrm>
            <a:off x="777240" y="5989320"/>
            <a:ext cx="5120640" cy="640080"/>
          </a:xfrm>
          <a:prstGeom prst="rect">
            <a:avLst/>
          </a:prstGeom>
          <a:noFill/>
        </p:spPr>
        <p:txBody>
          <a:bodyPr wrap="square" lIns="0" rIns="0" tIns="0" bIns="0">
            <a:spAutoFit/>
          </a:bodyPr>
          <a:lstStyle/>
          <a:p>
            <a:pPr algn="l">
              <a:lnSpc>
                <a:spcPct val="120000"/>
              </a:lnSpc>
              <a:spcAft>
                <a:spcPts val="0"/>
              </a:spcAft>
            </a:pPr>
            <a:r>
              <a:rPr sz="1400" b="1" i="0">
                <a:solidFill>
                  <a:srgbClr val="005A8C"/>
                </a:solidFill>
                <a:latin typeface="Calibri"/>
              </a:rPr>
              <a:t>the cheap half of the pair:
no moving parts, no water, no new construction</a:t>
            </a:r>
          </a:p>
        </p:txBody>
      </p:sp>
      <p:sp>
        <p:nvSpPr>
          <p:cNvPr id="22" name="Rectangle 21"/>
          <p:cNvSpPr/>
          <p:nvPr/>
        </p:nvSpPr>
        <p:spPr>
          <a:xfrm>
            <a:off x="6035040" y="2734056"/>
            <a:ext cx="5120640" cy="32004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3008375"/>
            <a:ext cx="502920" cy="2514599"/>
          </a:xfrm>
          <a:prstGeom prst="rect">
            <a:avLst/>
          </a:prstGeom>
          <a:solidFill>
            <a:srgbClr val="E3DFD7"/>
          </a:solidFill>
          <a:ln w="12700">
            <a:solidFill>
              <a:srgbClr val="A8A2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675120" y="3008375"/>
            <a:ext cx="566928" cy="2514599"/>
          </a:xfrm>
          <a:prstGeom prst="rect">
            <a:avLst/>
          </a:prstGeom>
          <a:solidFill>
            <a:srgbClr val="E6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0488" y="5632703"/>
            <a:ext cx="1737360" cy="274320"/>
          </a:xfrm>
          <a:prstGeom prst="rect">
            <a:avLst/>
          </a:prstGeom>
          <a:noFill/>
        </p:spPr>
        <p:txBody>
          <a:bodyPr wrap="square" lIns="0" rIns="0" tIns="0" bIns="0">
            <a:spAutoFit/>
          </a:bodyPr>
          <a:lstStyle/>
          <a:p>
            <a:pPr algn="l">
              <a:lnSpc>
                <a:spcPct val="95000"/>
              </a:lnSpc>
              <a:spcAft>
                <a:spcPts val="0"/>
              </a:spcAft>
            </a:pPr>
            <a:r>
              <a:rPr sz="950" b="0" i="0">
                <a:solidFill>
                  <a:srgbClr val="6B7277"/>
                </a:solidFill>
                <a:latin typeface="Calibri"/>
              </a:rPr>
              <a:t>smooth wall</a:t>
            </a:r>
          </a:p>
        </p:txBody>
      </p:sp>
      <p:sp>
        <p:nvSpPr>
          <p:cNvPr id="26" name="TextBox 25"/>
          <p:cNvSpPr txBox="1"/>
          <p:nvPr/>
        </p:nvSpPr>
        <p:spPr>
          <a:xfrm>
            <a:off x="6647688" y="5632703"/>
            <a:ext cx="1463040" cy="274320"/>
          </a:xfrm>
          <a:prstGeom prst="rect">
            <a:avLst/>
          </a:prstGeom>
          <a:noFill/>
        </p:spPr>
        <p:txBody>
          <a:bodyPr wrap="square" lIns="0" rIns="0" tIns="0" bIns="0">
            <a:spAutoFit/>
          </a:bodyPr>
          <a:lstStyle/>
          <a:p>
            <a:pPr algn="l">
              <a:lnSpc>
                <a:spcPct val="95000"/>
              </a:lnSpc>
              <a:spcAft>
                <a:spcPts val="0"/>
              </a:spcAft>
            </a:pPr>
            <a:r>
              <a:rPr sz="950" b="0" i="0">
                <a:solidFill>
                  <a:srgbClr val="6B7277"/>
                </a:solidFill>
                <a:latin typeface="Calibri"/>
              </a:rPr>
              <a:t>still air layer</a:t>
            </a:r>
          </a:p>
        </p:txBody>
      </p:sp>
      <p:cxnSp>
        <p:nvCxnSpPr>
          <p:cNvPr id="27" name="Connector 26"/>
          <p:cNvCxnSpPr/>
          <p:nvPr/>
        </p:nvCxnSpPr>
        <p:spPr>
          <a:xfrm>
            <a:off x="6675120" y="3118103"/>
            <a:ext cx="685800" cy="0"/>
          </a:xfrm>
          <a:prstGeom prst="line">
            <a:avLst/>
          </a:prstGeom>
          <a:ln w="27940">
            <a:solidFill>
              <a:srgbClr val="005A8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675120" y="3319272"/>
            <a:ext cx="685800" cy="0"/>
          </a:xfrm>
          <a:prstGeom prst="line">
            <a:avLst/>
          </a:prstGeom>
          <a:ln w="27940">
            <a:solidFill>
              <a:srgbClr val="005A8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675120" y="3520439"/>
            <a:ext cx="685800" cy="0"/>
          </a:xfrm>
          <a:prstGeom prst="line">
            <a:avLst/>
          </a:prstGeom>
          <a:ln w="27940">
            <a:solidFill>
              <a:srgbClr val="005A8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675120" y="3721607"/>
            <a:ext cx="685800" cy="0"/>
          </a:xfrm>
          <a:prstGeom prst="line">
            <a:avLst/>
          </a:prstGeom>
          <a:ln w="27940">
            <a:solidFill>
              <a:srgbClr val="005A8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675120" y="3922776"/>
            <a:ext cx="685800" cy="0"/>
          </a:xfrm>
          <a:prstGeom prst="line">
            <a:avLst/>
          </a:prstGeom>
          <a:ln w="27940">
            <a:solidFill>
              <a:srgbClr val="005A8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675120" y="4123944"/>
            <a:ext cx="685800" cy="0"/>
          </a:xfrm>
          <a:prstGeom prst="line">
            <a:avLst/>
          </a:prstGeom>
          <a:ln w="27940">
            <a:solidFill>
              <a:srgbClr val="005A8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675120" y="4325112"/>
            <a:ext cx="685800" cy="0"/>
          </a:xfrm>
          <a:prstGeom prst="line">
            <a:avLst/>
          </a:prstGeom>
          <a:ln w="27940">
            <a:solidFill>
              <a:srgbClr val="005A8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675120" y="4526279"/>
            <a:ext cx="685800" cy="0"/>
          </a:xfrm>
          <a:prstGeom prst="line">
            <a:avLst/>
          </a:prstGeom>
          <a:ln w="27940">
            <a:solidFill>
              <a:srgbClr val="005A8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675120" y="4727448"/>
            <a:ext cx="685800" cy="0"/>
          </a:xfrm>
          <a:prstGeom prst="line">
            <a:avLst/>
          </a:prstGeom>
          <a:ln w="27940">
            <a:solidFill>
              <a:srgbClr val="005A8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675120" y="4928616"/>
            <a:ext cx="685800" cy="0"/>
          </a:xfrm>
          <a:prstGeom prst="line">
            <a:avLst/>
          </a:prstGeom>
          <a:ln w="27940">
            <a:solidFill>
              <a:srgbClr val="005A8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675120" y="5129783"/>
            <a:ext cx="685800" cy="0"/>
          </a:xfrm>
          <a:prstGeom prst="line">
            <a:avLst/>
          </a:prstGeom>
          <a:ln w="27940">
            <a:solidFill>
              <a:srgbClr val="005A8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675120" y="5330952"/>
            <a:ext cx="685800" cy="0"/>
          </a:xfrm>
          <a:prstGeom prst="line">
            <a:avLst/>
          </a:prstGeom>
          <a:ln w="27940">
            <a:solidFill>
              <a:srgbClr val="005A8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675120" y="5532120"/>
            <a:ext cx="685800" cy="0"/>
          </a:xfrm>
          <a:prstGeom prst="line">
            <a:avLst/>
          </a:prstGeom>
          <a:ln w="27940">
            <a:solidFill>
              <a:srgbClr val="005A8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7406640" y="3282695"/>
            <a:ext cx="1097280" cy="0"/>
          </a:xfrm>
          <a:prstGeom prst="line">
            <a:avLst/>
          </a:prstGeom>
          <a:ln w="25400">
            <a:solidFill>
              <a:srgbClr val="1D6E9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7406640" y="3849623"/>
            <a:ext cx="1097280" cy="0"/>
          </a:xfrm>
          <a:prstGeom prst="line">
            <a:avLst/>
          </a:prstGeom>
          <a:ln w="25400">
            <a:solidFill>
              <a:srgbClr val="1D6E9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7406640" y="4416551"/>
            <a:ext cx="1097280" cy="0"/>
          </a:xfrm>
          <a:prstGeom prst="line">
            <a:avLst/>
          </a:prstGeom>
          <a:ln w="25400">
            <a:solidFill>
              <a:srgbClr val="1D6E9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7406640" y="4983479"/>
            <a:ext cx="1097280" cy="0"/>
          </a:xfrm>
          <a:prstGeom prst="line">
            <a:avLst/>
          </a:prstGeom>
          <a:ln w="25400">
            <a:solidFill>
              <a:srgbClr val="1D6E9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7406640" y="5550407"/>
            <a:ext cx="1097280" cy="0"/>
          </a:xfrm>
          <a:prstGeom prst="line">
            <a:avLst/>
          </a:prstGeom>
          <a:ln w="25400">
            <a:solidFill>
              <a:srgbClr val="1D6E9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470648" y="5632703"/>
            <a:ext cx="2194560" cy="274320"/>
          </a:xfrm>
          <a:prstGeom prst="rect">
            <a:avLst/>
          </a:prstGeom>
          <a:noFill/>
        </p:spPr>
        <p:txBody>
          <a:bodyPr wrap="square" lIns="0" rIns="0" tIns="0" bIns="0">
            <a:spAutoFit/>
          </a:bodyPr>
          <a:lstStyle/>
          <a:p>
            <a:pPr algn="l">
              <a:lnSpc>
                <a:spcPct val="95000"/>
              </a:lnSpc>
              <a:spcAft>
                <a:spcPts val="0"/>
              </a:spcAft>
            </a:pPr>
            <a:r>
              <a:rPr sz="950" b="1" i="0">
                <a:solidFill>
                  <a:srgbClr val="1D6E9C"/>
                </a:solidFill>
                <a:latin typeface="Calibri"/>
              </a:rPr>
              <a:t>moving canyon air</a:t>
            </a:r>
          </a:p>
        </p:txBody>
      </p:sp>
      <p:sp>
        <p:nvSpPr>
          <p:cNvPr id="46" name="TextBox 45"/>
          <p:cNvSpPr txBox="1"/>
          <p:nvPr/>
        </p:nvSpPr>
        <p:spPr>
          <a:xfrm>
            <a:off x="7470648" y="2697479"/>
            <a:ext cx="3291840" cy="274320"/>
          </a:xfrm>
          <a:prstGeom prst="rect">
            <a:avLst/>
          </a:prstGeom>
          <a:noFill/>
        </p:spPr>
        <p:txBody>
          <a:bodyPr wrap="square" lIns="0" rIns="0" tIns="0" bIns="0">
            <a:spAutoFit/>
          </a:bodyPr>
          <a:lstStyle/>
          <a:p>
            <a:pPr algn="l">
              <a:lnSpc>
                <a:spcPct val="95000"/>
              </a:lnSpc>
              <a:spcAft>
                <a:spcPts val="0"/>
              </a:spcAft>
            </a:pPr>
            <a:r>
              <a:rPr sz="950" b="1" i="0">
                <a:solidFill>
                  <a:srgbClr val="1E2428"/>
                </a:solidFill>
                <a:latin typeface="Calibri"/>
              </a:rPr>
              <a:t>the spikes reach through the still layer — moving air touches the surface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3.2 · CREATING</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Canvas, critical questions, checks</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1014984"/>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Engineering Canvas and 2–3 critical engineering questions.</a:t>
            </a:r>
          </a:p>
        </p:txBody>
      </p:sp>
      <p:sp>
        <p:nvSpPr>
          <p:cNvPr id="9" name="TextBox 8"/>
          <p:cNvSpPr txBox="1"/>
          <p:nvPr/>
        </p:nvSpPr>
        <p:spPr>
          <a:xfrm>
            <a:off x="2194560" y="2212848"/>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1–2 engineering checks including a quantitative estimate.</a:t>
            </a:r>
          </a:p>
        </p:txBody>
      </p:sp>
      <p:sp>
        <p:nvSpPr>
          <p:cNvPr id="10" name="TextBox 9"/>
          <p:cNvSpPr txBox="1"/>
          <p:nvPr/>
        </p:nvSpPr>
        <p:spPr>
          <a:xfrm>
            <a:off x="2194560" y="2459736"/>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For calculations: formula, assumptions, units, result, meaning.</a:t>
            </a:r>
          </a:p>
        </p:txBody>
      </p:sp>
      <p:sp>
        <p:nvSpPr>
          <p:cNvPr id="11" name="TextBox 10"/>
          <p:cNvSpPr txBox="1"/>
          <p:nvPr/>
        </p:nvSpPr>
        <p:spPr>
          <a:xfrm>
            <a:off x="777240" y="3108960"/>
            <a:ext cx="5120640" cy="274320"/>
          </a:xfrm>
          <a:prstGeom prst="rect">
            <a:avLst/>
          </a:prstGeom>
          <a:noFill/>
        </p:spPr>
        <p:txBody>
          <a:bodyPr wrap="square" lIns="0" rIns="0" tIns="0" bIns="0">
            <a:spAutoFit/>
          </a:bodyPr>
          <a:lstStyle/>
          <a:p>
            <a:pPr algn="l">
              <a:lnSpc>
                <a:spcPct val="95000"/>
              </a:lnSpc>
              <a:spcAft>
                <a:spcPts val="0"/>
              </a:spcAft>
            </a:pPr>
            <a:r>
              <a:rPr sz="1100" b="1" i="0">
                <a:solidFill>
                  <a:srgbClr val="005A8C"/>
                </a:solidFill>
                <a:latin typeface="Calibri"/>
              </a:rPr>
              <a:t>CRITICAL QUESTIONS</a:t>
            </a:r>
          </a:p>
        </p:txBody>
      </p:sp>
      <p:sp>
        <p:nvSpPr>
          <p:cNvPr id="12" name="Rectangle 11"/>
          <p:cNvSpPr/>
          <p:nvPr/>
        </p:nvSpPr>
        <p:spPr>
          <a:xfrm>
            <a:off x="777240" y="3511296"/>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3410712"/>
            <a:ext cx="5029200" cy="457200"/>
          </a:xfrm>
          <a:prstGeom prst="rect">
            <a:avLst/>
          </a:prstGeom>
          <a:noFill/>
        </p:spPr>
        <p:txBody>
          <a:bodyPr wrap="square" lIns="0" rIns="0" tIns="0" bIns="0">
            <a:spAutoFit/>
          </a:bodyPr>
          <a:lstStyle/>
          <a:p>
            <a:pPr algn="l">
              <a:lnSpc>
                <a:spcPct val="95000"/>
              </a:lnSpc>
              <a:spcAft>
                <a:spcPts val="0"/>
              </a:spcAft>
            </a:pPr>
            <a:r>
              <a:rPr sz="1550" b="0" i="0">
                <a:solidFill>
                  <a:srgbClr val="6B7277"/>
                </a:solidFill>
                <a:latin typeface="Calibri"/>
              </a:rPr>
              <a:t>A — is the buoyancy head enough?</a:t>
            </a:r>
          </a:p>
        </p:txBody>
      </p:sp>
      <p:sp>
        <p:nvSpPr>
          <p:cNvPr id="14" name="Rectangle 13"/>
          <p:cNvSpPr/>
          <p:nvPr/>
        </p:nvSpPr>
        <p:spPr>
          <a:xfrm>
            <a:off x="777240" y="393192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3831336"/>
            <a:ext cx="5029200" cy="457200"/>
          </a:xfrm>
          <a:prstGeom prst="rect">
            <a:avLst/>
          </a:prstGeom>
          <a:noFill/>
        </p:spPr>
        <p:txBody>
          <a:bodyPr wrap="square" lIns="0" rIns="0" tIns="0" bIns="0">
            <a:spAutoFit/>
          </a:bodyPr>
          <a:lstStyle/>
          <a:p>
            <a:pPr algn="l">
              <a:lnSpc>
                <a:spcPct val="95000"/>
              </a:lnSpc>
              <a:spcAft>
                <a:spcPts val="0"/>
              </a:spcAft>
            </a:pPr>
            <a:r>
              <a:rPr sz="1550" b="0" i="0">
                <a:solidFill>
                  <a:srgbClr val="6B7277"/>
                </a:solidFill>
                <a:latin typeface="Calibri"/>
              </a:rPr>
              <a:t>A — what stops it freezing in winter?</a:t>
            </a:r>
          </a:p>
        </p:txBody>
      </p:sp>
      <p:sp>
        <p:nvSpPr>
          <p:cNvPr id="16" name="Rectangle 15"/>
          <p:cNvSpPr/>
          <p:nvPr/>
        </p:nvSpPr>
        <p:spPr>
          <a:xfrm>
            <a:off x="777240" y="435254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992" y="4251960"/>
            <a:ext cx="5029200" cy="457200"/>
          </a:xfrm>
          <a:prstGeom prst="rect">
            <a:avLst/>
          </a:prstGeom>
          <a:noFill/>
        </p:spPr>
        <p:txBody>
          <a:bodyPr wrap="square" lIns="0" rIns="0" tIns="0" bIns="0">
            <a:spAutoFit/>
          </a:bodyPr>
          <a:lstStyle/>
          <a:p>
            <a:pPr algn="l">
              <a:lnSpc>
                <a:spcPct val="95000"/>
              </a:lnSpc>
              <a:spcAft>
                <a:spcPts val="0"/>
              </a:spcAft>
            </a:pPr>
            <a:r>
              <a:rPr sz="1550" b="1" i="0">
                <a:solidFill>
                  <a:srgbClr val="1E2428"/>
                </a:solidFill>
                <a:latin typeface="Calibri"/>
              </a:rPr>
              <a:t>A — is the roof big enough to dump it?</a:t>
            </a:r>
          </a:p>
        </p:txBody>
      </p:sp>
      <p:sp>
        <p:nvSpPr>
          <p:cNvPr id="18" name="Rectangle 17"/>
          <p:cNvSpPr/>
          <p:nvPr/>
        </p:nvSpPr>
        <p:spPr>
          <a:xfrm>
            <a:off x="777240" y="4773168"/>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992" y="4672584"/>
            <a:ext cx="5029200" cy="457200"/>
          </a:xfrm>
          <a:prstGeom prst="rect">
            <a:avLst/>
          </a:prstGeom>
          <a:noFill/>
        </p:spPr>
        <p:txBody>
          <a:bodyPr wrap="square" lIns="0" rIns="0" tIns="0" bIns="0">
            <a:spAutoFit/>
          </a:bodyPr>
          <a:lstStyle/>
          <a:p>
            <a:pPr algn="l">
              <a:lnSpc>
                <a:spcPct val="95000"/>
              </a:lnSpc>
              <a:spcAft>
                <a:spcPts val="0"/>
              </a:spcAft>
            </a:pPr>
            <a:r>
              <a:rPr sz="1550" b="0" i="0">
                <a:solidFill>
                  <a:srgbClr val="6B7277"/>
                </a:solidFill>
                <a:latin typeface="Calibri"/>
              </a:rPr>
              <a:t>B — does roughness help, or trap still air?</a:t>
            </a:r>
          </a:p>
        </p:txBody>
      </p:sp>
      <p:sp>
        <p:nvSpPr>
          <p:cNvPr id="20" name="Rectangle 19"/>
          <p:cNvSpPr/>
          <p:nvPr/>
        </p:nvSpPr>
        <p:spPr>
          <a:xfrm>
            <a:off x="777240" y="5193792"/>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8992" y="5093208"/>
            <a:ext cx="5029200" cy="457200"/>
          </a:xfrm>
          <a:prstGeom prst="rect">
            <a:avLst/>
          </a:prstGeom>
          <a:noFill/>
        </p:spPr>
        <p:txBody>
          <a:bodyPr wrap="square" lIns="0" rIns="0" tIns="0" bIns="0">
            <a:spAutoFit/>
          </a:bodyPr>
          <a:lstStyle/>
          <a:p>
            <a:pPr algn="l">
              <a:lnSpc>
                <a:spcPct val="95000"/>
              </a:lnSpc>
              <a:spcAft>
                <a:spcPts val="0"/>
              </a:spcAft>
            </a:pPr>
            <a:r>
              <a:rPr sz="1550" b="0" i="0">
                <a:solidFill>
                  <a:srgbClr val="6B7277"/>
                </a:solidFill>
                <a:latin typeface="Calibri"/>
              </a:rPr>
              <a:t>B — does texture make soiling worse?</a:t>
            </a:r>
          </a:p>
        </p:txBody>
      </p:sp>
      <p:sp>
        <p:nvSpPr>
          <p:cNvPr id="22" name="TextBox 21"/>
          <p:cNvSpPr txBox="1"/>
          <p:nvPr/>
        </p:nvSpPr>
        <p:spPr>
          <a:xfrm>
            <a:off x="6309360" y="3063239"/>
            <a:ext cx="5120640" cy="274320"/>
          </a:xfrm>
          <a:prstGeom prst="rect">
            <a:avLst/>
          </a:prstGeom>
          <a:noFill/>
        </p:spPr>
        <p:txBody>
          <a:bodyPr wrap="square" lIns="0" rIns="0" tIns="0" bIns="0">
            <a:spAutoFit/>
          </a:bodyPr>
          <a:lstStyle/>
          <a:p>
            <a:pPr algn="l">
              <a:lnSpc>
                <a:spcPct val="95000"/>
              </a:lnSpc>
              <a:spcAft>
                <a:spcPts val="0"/>
              </a:spcAft>
            </a:pPr>
            <a:r>
              <a:rPr sz="1100" b="1" i="0">
                <a:solidFill>
                  <a:srgbClr val="005A8C"/>
                </a:solidFill>
                <a:latin typeface="Calibri"/>
              </a:rPr>
              <a:t>CHECK 1 — DOES THE LOOP DRIVE ITSELF?</a:t>
            </a:r>
          </a:p>
        </p:txBody>
      </p:sp>
      <p:sp>
        <p:nvSpPr>
          <p:cNvPr id="23" name="TextBox 22"/>
          <p:cNvSpPr txBox="1"/>
          <p:nvPr/>
        </p:nvSpPr>
        <p:spPr>
          <a:xfrm>
            <a:off x="6309360" y="3401568"/>
            <a:ext cx="5029200" cy="365760"/>
          </a:xfrm>
          <a:prstGeom prst="rect">
            <a:avLst/>
          </a:prstGeom>
          <a:noFill/>
        </p:spPr>
        <p:txBody>
          <a:bodyPr wrap="square" lIns="0" rIns="0" tIns="0" bIns="0">
            <a:spAutoFit/>
          </a:bodyPr>
          <a:lstStyle/>
          <a:p>
            <a:pPr algn="l">
              <a:lnSpc>
                <a:spcPct val="95000"/>
              </a:lnSpc>
              <a:spcAft>
                <a:spcPts val="0"/>
              </a:spcAft>
            </a:pPr>
            <a:r>
              <a:rPr sz="1900" b="1" i="0">
                <a:solidFill>
                  <a:srgbClr val="1E2428"/>
                </a:solidFill>
                <a:latin typeface="Calibri"/>
              </a:rPr>
              <a:t>Δp = β · ΔT · ρ · g · h</a:t>
            </a:r>
          </a:p>
        </p:txBody>
      </p:sp>
      <p:sp>
        <p:nvSpPr>
          <p:cNvPr id="24" name="TextBox 23"/>
          <p:cNvSpPr txBox="1"/>
          <p:nvPr/>
        </p:nvSpPr>
        <p:spPr>
          <a:xfrm>
            <a:off x="6309360" y="3840480"/>
            <a:ext cx="5029200" cy="320040"/>
          </a:xfrm>
          <a:prstGeom prst="rect">
            <a:avLst/>
          </a:prstGeom>
          <a:noFill/>
        </p:spPr>
        <p:txBody>
          <a:bodyPr wrap="square" lIns="0" rIns="0" tIns="0" bIns="0">
            <a:spAutoFit/>
          </a:bodyPr>
          <a:lstStyle/>
          <a:p>
            <a:pPr algn="l">
              <a:lnSpc>
                <a:spcPct val="95000"/>
              </a:lnSpc>
              <a:spcAft>
                <a:spcPts val="0"/>
              </a:spcAft>
            </a:pPr>
            <a:r>
              <a:rPr sz="1450" b="0" i="0">
                <a:solidFill>
                  <a:srgbClr val="6B7277"/>
                </a:solidFill>
                <a:latin typeface="Calibri"/>
              </a:rPr>
              <a:t>β 3·10⁻⁴/K · ΔT 10 K · h 16 m</a:t>
            </a:r>
          </a:p>
        </p:txBody>
      </p:sp>
      <p:sp>
        <p:nvSpPr>
          <p:cNvPr id="25" name="TextBox 24"/>
          <p:cNvSpPr txBox="1"/>
          <p:nvPr/>
        </p:nvSpPr>
        <p:spPr>
          <a:xfrm>
            <a:off x="6309360" y="4187952"/>
            <a:ext cx="5029200" cy="320040"/>
          </a:xfrm>
          <a:prstGeom prst="rect">
            <a:avLst/>
          </a:prstGeom>
          <a:noFill/>
        </p:spPr>
        <p:txBody>
          <a:bodyPr wrap="square" lIns="0" rIns="0" tIns="0" bIns="0">
            <a:spAutoFit/>
          </a:bodyPr>
          <a:lstStyle/>
          <a:p>
            <a:pPr algn="l">
              <a:lnSpc>
                <a:spcPct val="95000"/>
              </a:lnSpc>
              <a:spcAft>
                <a:spcPts val="0"/>
              </a:spcAft>
            </a:pPr>
            <a:r>
              <a:rPr sz="1500" b="1" i="0">
                <a:solidFill>
                  <a:srgbClr val="1E2428"/>
                </a:solidFill>
                <a:latin typeface="Calibri"/>
              </a:rPr>
              <a:t>→ ≈ 0.5 kPa — enough only with wide pipes</a:t>
            </a:r>
          </a:p>
        </p:txBody>
      </p:sp>
      <p:sp>
        <p:nvSpPr>
          <p:cNvPr id="26" name="TextBox 25"/>
          <p:cNvSpPr txBox="1"/>
          <p:nvPr/>
        </p:nvSpPr>
        <p:spPr>
          <a:xfrm>
            <a:off x="6309360" y="4754879"/>
            <a:ext cx="5120640" cy="274320"/>
          </a:xfrm>
          <a:prstGeom prst="rect">
            <a:avLst/>
          </a:prstGeom>
          <a:noFill/>
        </p:spPr>
        <p:txBody>
          <a:bodyPr wrap="square" lIns="0" rIns="0" tIns="0" bIns="0">
            <a:spAutoFit/>
          </a:bodyPr>
          <a:lstStyle/>
          <a:p>
            <a:pPr algn="l">
              <a:lnSpc>
                <a:spcPct val="95000"/>
              </a:lnSpc>
              <a:spcAft>
                <a:spcPts val="0"/>
              </a:spcAft>
            </a:pPr>
            <a:r>
              <a:rPr sz="1100" b="1" i="0">
                <a:solidFill>
                  <a:srgbClr val="005A8C"/>
                </a:solidFill>
                <a:latin typeface="Calibri"/>
              </a:rPr>
              <a:t>CHECK 2 — WHERE DOES THE HEAT GO?</a:t>
            </a:r>
          </a:p>
        </p:txBody>
      </p:sp>
      <p:sp>
        <p:nvSpPr>
          <p:cNvPr id="27" name="TextBox 26"/>
          <p:cNvSpPr txBox="1"/>
          <p:nvPr/>
        </p:nvSpPr>
        <p:spPr>
          <a:xfrm>
            <a:off x="6309360" y="5093208"/>
            <a:ext cx="5029200" cy="365760"/>
          </a:xfrm>
          <a:prstGeom prst="rect">
            <a:avLst/>
          </a:prstGeom>
          <a:noFill/>
        </p:spPr>
        <p:txBody>
          <a:bodyPr wrap="square" lIns="0" rIns="0" tIns="0" bIns="0">
            <a:spAutoFit/>
          </a:bodyPr>
          <a:lstStyle/>
          <a:p>
            <a:pPr algn="l">
              <a:lnSpc>
                <a:spcPct val="95000"/>
              </a:lnSpc>
              <a:spcAft>
                <a:spcPts val="0"/>
              </a:spcAft>
            </a:pPr>
            <a:r>
              <a:rPr sz="1900" b="1" i="0">
                <a:solidFill>
                  <a:srgbClr val="1E2428"/>
                </a:solidFill>
                <a:latin typeface="Calibri"/>
              </a:rPr>
              <a:t>A = Q̇ / q″</a:t>
            </a:r>
          </a:p>
        </p:txBody>
      </p:sp>
      <p:sp>
        <p:nvSpPr>
          <p:cNvPr id="28" name="TextBox 27"/>
          <p:cNvSpPr txBox="1"/>
          <p:nvPr/>
        </p:nvSpPr>
        <p:spPr>
          <a:xfrm>
            <a:off x="6309360" y="5532120"/>
            <a:ext cx="5029200" cy="320040"/>
          </a:xfrm>
          <a:prstGeom prst="rect">
            <a:avLst/>
          </a:prstGeom>
          <a:noFill/>
        </p:spPr>
        <p:txBody>
          <a:bodyPr wrap="square" lIns="0" rIns="0" tIns="0" bIns="0">
            <a:spAutoFit/>
          </a:bodyPr>
          <a:lstStyle/>
          <a:p>
            <a:pPr algn="l">
              <a:lnSpc>
                <a:spcPct val="95000"/>
              </a:lnSpc>
              <a:spcAft>
                <a:spcPts val="0"/>
              </a:spcAft>
            </a:pPr>
            <a:r>
              <a:rPr sz="1450" b="0" i="0">
                <a:solidFill>
                  <a:srgbClr val="6B7277"/>
                </a:solidFill>
                <a:latin typeface="Calibri"/>
              </a:rPr>
              <a:t>30 kW façade load · ~100 W/m² net</a:t>
            </a:r>
          </a:p>
        </p:txBody>
      </p:sp>
      <p:sp>
        <p:nvSpPr>
          <p:cNvPr id="29" name="TextBox 28"/>
          <p:cNvSpPr txBox="1"/>
          <p:nvPr/>
        </p:nvSpPr>
        <p:spPr>
          <a:xfrm>
            <a:off x="6309360" y="5879592"/>
            <a:ext cx="5029200" cy="320040"/>
          </a:xfrm>
          <a:prstGeom prst="rect">
            <a:avLst/>
          </a:prstGeom>
          <a:noFill/>
        </p:spPr>
        <p:txBody>
          <a:bodyPr wrap="square" lIns="0" rIns="0" tIns="0" bIns="0">
            <a:spAutoFit/>
          </a:bodyPr>
          <a:lstStyle/>
          <a:p>
            <a:pPr algn="l">
              <a:lnSpc>
                <a:spcPct val="95000"/>
              </a:lnSpc>
              <a:spcAft>
                <a:spcPts val="0"/>
              </a:spcAft>
            </a:pPr>
            <a:r>
              <a:rPr sz="1500" b="1" i="0">
                <a:solidFill>
                  <a:srgbClr val="1E2428"/>
                </a:solidFill>
                <a:latin typeface="Calibri"/>
              </a:rPr>
              <a:t>→ ≈ 300 m² of release surface</a:t>
            </a:r>
          </a:p>
        </p:txBody>
      </p:sp>
      <p:sp>
        <p:nvSpPr>
          <p:cNvPr id="30" name="TextBox 29"/>
          <p:cNvSpPr txBox="1"/>
          <p:nvPr/>
        </p:nvSpPr>
        <p:spPr>
          <a:xfrm>
            <a:off x="777240" y="5989320"/>
            <a:ext cx="10607040" cy="594360"/>
          </a:xfrm>
          <a:prstGeom prst="rect">
            <a:avLst/>
          </a:prstGeom>
          <a:noFill/>
        </p:spPr>
        <p:txBody>
          <a:bodyPr wrap="square" lIns="0" rIns="0" tIns="0" bIns="0">
            <a:spAutoFit/>
          </a:bodyPr>
          <a:lstStyle/>
          <a:p>
            <a:pPr algn="l">
              <a:lnSpc>
                <a:spcPct val="120000"/>
              </a:lnSpc>
              <a:spcAft>
                <a:spcPts val="0"/>
              </a:spcAft>
            </a:pPr>
            <a:r>
              <a:rPr sz="1600" b="1" i="0">
                <a:solidFill>
                  <a:srgbClr val="A83B2E"/>
                </a:solidFill>
                <a:latin typeface="Calibri"/>
              </a:rPr>
              <a:t>That is larger than the roof. The release surface, not the driving pressure, is the binding limit on A —
the check changed what we think the hard problem 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3.3 · EVALUATION</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Compared against the six criteria</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1014984"/>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Compare both variants against the Section 2 KPIs in a decision matrix.</a:t>
            </a:r>
          </a:p>
        </p:txBody>
      </p:sp>
      <p:sp>
        <p:nvSpPr>
          <p:cNvPr id="9" name="TextBox 8"/>
          <p:cNvSpPr txBox="1"/>
          <p:nvPr/>
        </p:nvSpPr>
        <p:spPr>
          <a:xfrm>
            <a:off x="2194560" y="2212848"/>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Use the checks and critical questions as evidence.</a:t>
            </a:r>
          </a:p>
        </p:txBody>
      </p:sp>
      <p:sp>
        <p:nvSpPr>
          <p:cNvPr id="10" name="TextBox 9"/>
          <p:cNvSpPr txBox="1"/>
          <p:nvPr/>
        </p:nvSpPr>
        <p:spPr>
          <a:xfrm>
            <a:off x="2194560" y="2459736"/>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Peer / instructor / AI review, assessed critically.</a:t>
            </a:r>
          </a:p>
        </p:txBody>
      </p:sp>
      <p:sp>
        <p:nvSpPr>
          <p:cNvPr id="11" name="TextBox 10"/>
          <p:cNvSpPr txBox="1"/>
          <p:nvPr/>
        </p:nvSpPr>
        <p:spPr>
          <a:xfrm>
            <a:off x="777240" y="3136391"/>
            <a:ext cx="3657600" cy="274320"/>
          </a:xfrm>
          <a:prstGeom prst="rect">
            <a:avLst/>
          </a:prstGeom>
          <a:noFill/>
        </p:spPr>
        <p:txBody>
          <a:bodyPr wrap="square" lIns="0" rIns="0" tIns="0" bIns="0">
            <a:spAutoFit/>
          </a:bodyPr>
          <a:lstStyle/>
          <a:p>
            <a:pPr algn="l">
              <a:lnSpc>
                <a:spcPct val="95000"/>
              </a:lnSpc>
              <a:spcAft>
                <a:spcPts val="0"/>
              </a:spcAft>
            </a:pPr>
            <a:r>
              <a:rPr sz="1000" b="1" i="0">
                <a:solidFill>
                  <a:srgbClr val="6B7277"/>
                </a:solidFill>
                <a:latin typeface="Calibri"/>
              </a:rPr>
              <a:t>CRITERION</a:t>
            </a:r>
          </a:p>
        </p:txBody>
      </p:sp>
      <p:sp>
        <p:nvSpPr>
          <p:cNvPr id="12" name="TextBox 11"/>
          <p:cNvSpPr txBox="1"/>
          <p:nvPr/>
        </p:nvSpPr>
        <p:spPr>
          <a:xfrm>
            <a:off x="4526280" y="3136391"/>
            <a:ext cx="914400" cy="274320"/>
          </a:xfrm>
          <a:prstGeom prst="rect">
            <a:avLst/>
          </a:prstGeom>
          <a:noFill/>
        </p:spPr>
        <p:txBody>
          <a:bodyPr wrap="square" lIns="0" rIns="0" tIns="0" bIns="0">
            <a:spAutoFit/>
          </a:bodyPr>
          <a:lstStyle/>
          <a:p>
            <a:pPr algn="l">
              <a:lnSpc>
                <a:spcPct val="95000"/>
              </a:lnSpc>
              <a:spcAft>
                <a:spcPts val="0"/>
              </a:spcAft>
            </a:pPr>
            <a:r>
              <a:rPr sz="1000" b="1" i="0">
                <a:solidFill>
                  <a:srgbClr val="6B7277"/>
                </a:solidFill>
                <a:latin typeface="Calibri"/>
              </a:rPr>
              <a:t>LEADS</a:t>
            </a:r>
          </a:p>
        </p:txBody>
      </p:sp>
      <p:sp>
        <p:nvSpPr>
          <p:cNvPr id="13" name="TextBox 12"/>
          <p:cNvSpPr txBox="1"/>
          <p:nvPr/>
        </p:nvSpPr>
        <p:spPr>
          <a:xfrm>
            <a:off x="5669280" y="3136391"/>
            <a:ext cx="5669280" cy="274320"/>
          </a:xfrm>
          <a:prstGeom prst="rect">
            <a:avLst/>
          </a:prstGeom>
          <a:noFill/>
        </p:spPr>
        <p:txBody>
          <a:bodyPr wrap="square" lIns="0" rIns="0" tIns="0" bIns="0">
            <a:spAutoFit/>
          </a:bodyPr>
          <a:lstStyle/>
          <a:p>
            <a:pPr algn="l">
              <a:lnSpc>
                <a:spcPct val="95000"/>
              </a:lnSpc>
              <a:spcAft>
                <a:spcPts val="0"/>
              </a:spcAft>
            </a:pPr>
            <a:r>
              <a:rPr sz="1000" b="1" i="0">
                <a:solidFill>
                  <a:srgbClr val="6B7277"/>
                </a:solidFill>
                <a:latin typeface="Calibri"/>
              </a:rPr>
              <a:t>EVIDENCE USED</a:t>
            </a:r>
          </a:p>
        </p:txBody>
      </p:sp>
      <p:sp>
        <p:nvSpPr>
          <p:cNvPr id="14" name="TextBox 13"/>
          <p:cNvSpPr txBox="1"/>
          <p:nvPr/>
        </p:nvSpPr>
        <p:spPr>
          <a:xfrm>
            <a:off x="777240" y="3456432"/>
            <a:ext cx="3657600" cy="365760"/>
          </a:xfrm>
          <a:prstGeom prst="rect">
            <a:avLst/>
          </a:prstGeom>
          <a:noFill/>
        </p:spPr>
        <p:txBody>
          <a:bodyPr wrap="square" lIns="0" rIns="0" tIns="0" bIns="0">
            <a:spAutoFit/>
          </a:bodyPr>
          <a:lstStyle/>
          <a:p>
            <a:pPr algn="l">
              <a:lnSpc>
                <a:spcPct val="95000"/>
              </a:lnSpc>
              <a:spcAft>
                <a:spcPts val="0"/>
              </a:spcAft>
            </a:pPr>
            <a:r>
              <a:rPr sz="1600" b="1" i="0">
                <a:solidFill>
                  <a:srgbClr val="1E2428"/>
                </a:solidFill>
                <a:latin typeface="Calibri"/>
              </a:rPr>
              <a:t>Cooling Slope</a:t>
            </a:r>
          </a:p>
        </p:txBody>
      </p:sp>
      <p:sp>
        <p:nvSpPr>
          <p:cNvPr id="15" name="TextBox 14"/>
          <p:cNvSpPr txBox="1"/>
          <p:nvPr/>
        </p:nvSpPr>
        <p:spPr>
          <a:xfrm>
            <a:off x="4526280" y="3456432"/>
            <a:ext cx="914400" cy="365760"/>
          </a:xfrm>
          <a:prstGeom prst="rect">
            <a:avLst/>
          </a:prstGeom>
          <a:noFill/>
        </p:spPr>
        <p:txBody>
          <a:bodyPr wrap="square" lIns="0" rIns="0" tIns="0" bIns="0">
            <a:spAutoFit/>
          </a:bodyPr>
          <a:lstStyle/>
          <a:p>
            <a:pPr algn="l">
              <a:lnSpc>
                <a:spcPct val="95000"/>
              </a:lnSpc>
              <a:spcAft>
                <a:spcPts val="0"/>
              </a:spcAft>
            </a:pPr>
            <a:r>
              <a:rPr sz="1700" b="1" i="0">
                <a:solidFill>
                  <a:srgbClr val="005A8C"/>
                </a:solidFill>
                <a:latin typeface="Calibri"/>
              </a:rPr>
              <a:t>A</a:t>
            </a:r>
          </a:p>
        </p:txBody>
      </p:sp>
      <p:sp>
        <p:nvSpPr>
          <p:cNvPr id="16" name="TextBox 15"/>
          <p:cNvSpPr txBox="1"/>
          <p:nvPr/>
        </p:nvSpPr>
        <p:spPr>
          <a:xfrm>
            <a:off x="5669280" y="3456432"/>
            <a:ext cx="5669280" cy="365760"/>
          </a:xfrm>
          <a:prstGeom prst="rect">
            <a:avLst/>
          </a:prstGeom>
          <a:noFill/>
        </p:spPr>
        <p:txBody>
          <a:bodyPr wrap="square" lIns="0" rIns="0" tIns="0" bIns="0">
            <a:spAutoFit/>
          </a:bodyPr>
          <a:lstStyle/>
          <a:p>
            <a:pPr algn="l">
              <a:lnSpc>
                <a:spcPct val="95000"/>
              </a:lnSpc>
              <a:spcAft>
                <a:spcPts val="0"/>
              </a:spcAft>
            </a:pPr>
            <a:r>
              <a:rPr sz="1400" b="0" i="0">
                <a:solidFill>
                  <a:srgbClr val="6B7277"/>
                </a:solidFill>
                <a:latin typeface="Calibri"/>
              </a:rPr>
              <a:t>buoyancy grows with ΔT</a:t>
            </a:r>
          </a:p>
        </p:txBody>
      </p:sp>
      <p:sp>
        <p:nvSpPr>
          <p:cNvPr id="17" name="TextBox 16"/>
          <p:cNvSpPr txBox="1"/>
          <p:nvPr/>
        </p:nvSpPr>
        <p:spPr>
          <a:xfrm>
            <a:off x="777240" y="3867911"/>
            <a:ext cx="3657600" cy="365760"/>
          </a:xfrm>
          <a:prstGeom prst="rect">
            <a:avLst/>
          </a:prstGeom>
          <a:noFill/>
        </p:spPr>
        <p:txBody>
          <a:bodyPr wrap="square" lIns="0" rIns="0" tIns="0" bIns="0">
            <a:spAutoFit/>
          </a:bodyPr>
          <a:lstStyle/>
          <a:p>
            <a:pPr algn="l">
              <a:lnSpc>
                <a:spcPct val="95000"/>
              </a:lnSpc>
              <a:spcAft>
                <a:spcPts val="0"/>
              </a:spcAft>
            </a:pPr>
            <a:r>
              <a:rPr sz="1600" b="1" i="0">
                <a:solidFill>
                  <a:srgbClr val="1E2428"/>
                </a:solidFill>
                <a:latin typeface="Calibri"/>
              </a:rPr>
              <a:t>Reflectance</a:t>
            </a:r>
          </a:p>
        </p:txBody>
      </p:sp>
      <p:sp>
        <p:nvSpPr>
          <p:cNvPr id="18" name="TextBox 17"/>
          <p:cNvSpPr txBox="1"/>
          <p:nvPr/>
        </p:nvSpPr>
        <p:spPr>
          <a:xfrm>
            <a:off x="4526280" y="3867911"/>
            <a:ext cx="914400" cy="365760"/>
          </a:xfrm>
          <a:prstGeom prst="rect">
            <a:avLst/>
          </a:prstGeom>
          <a:noFill/>
        </p:spPr>
        <p:txBody>
          <a:bodyPr wrap="square" lIns="0" rIns="0" tIns="0" bIns="0">
            <a:spAutoFit/>
          </a:bodyPr>
          <a:lstStyle/>
          <a:p>
            <a:pPr algn="l">
              <a:lnSpc>
                <a:spcPct val="95000"/>
              </a:lnSpc>
              <a:spcAft>
                <a:spcPts val="0"/>
              </a:spcAft>
            </a:pPr>
            <a:r>
              <a:rPr sz="1700" b="1" i="0">
                <a:solidFill>
                  <a:srgbClr val="6B7277"/>
                </a:solidFill>
                <a:latin typeface="Calibri"/>
              </a:rPr>
              <a:t>=</a:t>
            </a:r>
          </a:p>
        </p:txBody>
      </p:sp>
      <p:sp>
        <p:nvSpPr>
          <p:cNvPr id="19" name="TextBox 18"/>
          <p:cNvSpPr txBox="1"/>
          <p:nvPr/>
        </p:nvSpPr>
        <p:spPr>
          <a:xfrm>
            <a:off x="5669280" y="3867911"/>
            <a:ext cx="5669280" cy="365760"/>
          </a:xfrm>
          <a:prstGeom prst="rect">
            <a:avLst/>
          </a:prstGeom>
          <a:noFill/>
        </p:spPr>
        <p:txBody>
          <a:bodyPr wrap="square" lIns="0" rIns="0" tIns="0" bIns="0">
            <a:spAutoFit/>
          </a:bodyPr>
          <a:lstStyle/>
          <a:p>
            <a:pPr algn="l">
              <a:lnSpc>
                <a:spcPct val="95000"/>
              </a:lnSpc>
              <a:spcAft>
                <a:spcPts val="0"/>
              </a:spcAft>
            </a:pPr>
            <a:r>
              <a:rPr sz="1400" b="0" i="0">
                <a:solidFill>
                  <a:srgbClr val="6B7277"/>
                </a:solidFill>
                <a:latin typeface="Calibri"/>
              </a:rPr>
              <a:t>both keep a bright finish</a:t>
            </a:r>
          </a:p>
        </p:txBody>
      </p:sp>
      <p:sp>
        <p:nvSpPr>
          <p:cNvPr id="20" name="TextBox 19"/>
          <p:cNvSpPr txBox="1"/>
          <p:nvPr/>
        </p:nvSpPr>
        <p:spPr>
          <a:xfrm>
            <a:off x="777240" y="4279392"/>
            <a:ext cx="3657600" cy="365760"/>
          </a:xfrm>
          <a:prstGeom prst="rect">
            <a:avLst/>
          </a:prstGeom>
          <a:noFill/>
        </p:spPr>
        <p:txBody>
          <a:bodyPr wrap="square" lIns="0" rIns="0" tIns="0" bIns="0">
            <a:spAutoFit/>
          </a:bodyPr>
          <a:lstStyle/>
          <a:p>
            <a:pPr algn="l">
              <a:lnSpc>
                <a:spcPct val="95000"/>
              </a:lnSpc>
              <a:spcAft>
                <a:spcPts val="0"/>
              </a:spcAft>
            </a:pPr>
            <a:r>
              <a:rPr sz="1600" b="1" i="0">
                <a:solidFill>
                  <a:srgbClr val="1E2428"/>
                </a:solidFill>
                <a:latin typeface="Calibri"/>
              </a:rPr>
              <a:t>Surface Cooling</a:t>
            </a:r>
          </a:p>
        </p:txBody>
      </p:sp>
      <p:sp>
        <p:nvSpPr>
          <p:cNvPr id="21" name="TextBox 20"/>
          <p:cNvSpPr txBox="1"/>
          <p:nvPr/>
        </p:nvSpPr>
        <p:spPr>
          <a:xfrm>
            <a:off x="4526280" y="4279392"/>
            <a:ext cx="914400" cy="365760"/>
          </a:xfrm>
          <a:prstGeom prst="rect">
            <a:avLst/>
          </a:prstGeom>
          <a:noFill/>
        </p:spPr>
        <p:txBody>
          <a:bodyPr wrap="square" lIns="0" rIns="0" tIns="0" bIns="0">
            <a:spAutoFit/>
          </a:bodyPr>
          <a:lstStyle/>
          <a:p>
            <a:pPr algn="l">
              <a:lnSpc>
                <a:spcPct val="95000"/>
              </a:lnSpc>
              <a:spcAft>
                <a:spcPts val="0"/>
              </a:spcAft>
            </a:pPr>
            <a:r>
              <a:rPr sz="1700" b="1" i="0">
                <a:solidFill>
                  <a:srgbClr val="005A8C"/>
                </a:solidFill>
                <a:latin typeface="Calibri"/>
              </a:rPr>
              <a:t>A</a:t>
            </a:r>
          </a:p>
        </p:txBody>
      </p:sp>
      <p:sp>
        <p:nvSpPr>
          <p:cNvPr id="22" name="TextBox 21"/>
          <p:cNvSpPr txBox="1"/>
          <p:nvPr/>
        </p:nvSpPr>
        <p:spPr>
          <a:xfrm>
            <a:off x="5669280" y="4279392"/>
            <a:ext cx="5669280" cy="365760"/>
          </a:xfrm>
          <a:prstGeom prst="rect">
            <a:avLst/>
          </a:prstGeom>
          <a:noFill/>
        </p:spPr>
        <p:txBody>
          <a:bodyPr wrap="square" lIns="0" rIns="0" tIns="0" bIns="0">
            <a:spAutoFit/>
          </a:bodyPr>
          <a:lstStyle/>
          <a:p>
            <a:pPr algn="l">
              <a:lnSpc>
                <a:spcPct val="95000"/>
              </a:lnSpc>
              <a:spcAft>
                <a:spcPts val="0"/>
              </a:spcAft>
            </a:pPr>
            <a:r>
              <a:rPr sz="1400" b="0" i="0">
                <a:solidFill>
                  <a:srgbClr val="6B7277"/>
                </a:solidFill>
                <a:latin typeface="Calibri"/>
              </a:rPr>
              <a:t>heat is carried away, not only reflected</a:t>
            </a:r>
          </a:p>
        </p:txBody>
      </p:sp>
      <p:sp>
        <p:nvSpPr>
          <p:cNvPr id="23" name="TextBox 22"/>
          <p:cNvSpPr txBox="1"/>
          <p:nvPr/>
        </p:nvSpPr>
        <p:spPr>
          <a:xfrm>
            <a:off x="777240" y="4690872"/>
            <a:ext cx="3657600" cy="365760"/>
          </a:xfrm>
          <a:prstGeom prst="rect">
            <a:avLst/>
          </a:prstGeom>
          <a:noFill/>
        </p:spPr>
        <p:txBody>
          <a:bodyPr wrap="square" lIns="0" rIns="0" tIns="0" bIns="0">
            <a:spAutoFit/>
          </a:bodyPr>
          <a:lstStyle/>
          <a:p>
            <a:pPr algn="l">
              <a:lnSpc>
                <a:spcPct val="95000"/>
              </a:lnSpc>
              <a:spcAft>
                <a:spcPts val="0"/>
              </a:spcAft>
            </a:pPr>
            <a:r>
              <a:rPr sz="1600" b="1" i="0">
                <a:solidFill>
                  <a:srgbClr val="1E2428"/>
                </a:solidFill>
                <a:latin typeface="Calibri"/>
              </a:rPr>
              <a:t>Street-Level Comfort</a:t>
            </a:r>
          </a:p>
        </p:txBody>
      </p:sp>
      <p:sp>
        <p:nvSpPr>
          <p:cNvPr id="24" name="TextBox 23"/>
          <p:cNvSpPr txBox="1"/>
          <p:nvPr/>
        </p:nvSpPr>
        <p:spPr>
          <a:xfrm>
            <a:off x="4526280" y="4690872"/>
            <a:ext cx="914400" cy="365760"/>
          </a:xfrm>
          <a:prstGeom prst="rect">
            <a:avLst/>
          </a:prstGeom>
          <a:noFill/>
        </p:spPr>
        <p:txBody>
          <a:bodyPr wrap="square" lIns="0" rIns="0" tIns="0" bIns="0">
            <a:spAutoFit/>
          </a:bodyPr>
          <a:lstStyle/>
          <a:p>
            <a:pPr algn="l">
              <a:lnSpc>
                <a:spcPct val="95000"/>
              </a:lnSpc>
              <a:spcAft>
                <a:spcPts val="0"/>
              </a:spcAft>
            </a:pPr>
            <a:r>
              <a:rPr sz="1700" b="1" i="0">
                <a:solidFill>
                  <a:srgbClr val="005A8C"/>
                </a:solidFill>
                <a:latin typeface="Calibri"/>
              </a:rPr>
              <a:t>A</a:t>
            </a:r>
          </a:p>
        </p:txBody>
      </p:sp>
      <p:sp>
        <p:nvSpPr>
          <p:cNvPr id="25" name="TextBox 24"/>
          <p:cNvSpPr txBox="1"/>
          <p:nvPr/>
        </p:nvSpPr>
        <p:spPr>
          <a:xfrm>
            <a:off x="5669280" y="4690872"/>
            <a:ext cx="5669280" cy="365760"/>
          </a:xfrm>
          <a:prstGeom prst="rect">
            <a:avLst/>
          </a:prstGeom>
          <a:noFill/>
        </p:spPr>
        <p:txBody>
          <a:bodyPr wrap="square" lIns="0" rIns="0" tIns="0" bIns="0">
            <a:spAutoFit/>
          </a:bodyPr>
          <a:lstStyle/>
          <a:p>
            <a:pPr algn="l">
              <a:lnSpc>
                <a:spcPct val="95000"/>
              </a:lnSpc>
              <a:spcAft>
                <a:spcPts val="0"/>
              </a:spcAft>
            </a:pPr>
            <a:r>
              <a:rPr sz="1400" b="0" i="0">
                <a:solidFill>
                  <a:srgbClr val="6B7277"/>
                </a:solidFill>
                <a:latin typeface="Calibri"/>
              </a:rPr>
              <a:t>the release is on the roof, not the canyon</a:t>
            </a:r>
          </a:p>
        </p:txBody>
      </p:sp>
      <p:sp>
        <p:nvSpPr>
          <p:cNvPr id="26" name="TextBox 25"/>
          <p:cNvSpPr txBox="1"/>
          <p:nvPr/>
        </p:nvSpPr>
        <p:spPr>
          <a:xfrm>
            <a:off x="777240" y="5102352"/>
            <a:ext cx="3657600" cy="365760"/>
          </a:xfrm>
          <a:prstGeom prst="rect">
            <a:avLst/>
          </a:prstGeom>
          <a:noFill/>
        </p:spPr>
        <p:txBody>
          <a:bodyPr wrap="square" lIns="0" rIns="0" tIns="0" bIns="0">
            <a:spAutoFit/>
          </a:bodyPr>
          <a:lstStyle/>
          <a:p>
            <a:pPr algn="l">
              <a:lnSpc>
                <a:spcPct val="95000"/>
              </a:lnSpc>
              <a:spcAft>
                <a:spcPts val="0"/>
              </a:spcAft>
            </a:pPr>
            <a:r>
              <a:rPr sz="1600" b="1" i="0">
                <a:solidFill>
                  <a:srgbClr val="1E2428"/>
                </a:solidFill>
                <a:latin typeface="Calibri"/>
              </a:rPr>
              <a:t>Night Release</a:t>
            </a:r>
          </a:p>
        </p:txBody>
      </p:sp>
      <p:sp>
        <p:nvSpPr>
          <p:cNvPr id="27" name="TextBox 26"/>
          <p:cNvSpPr txBox="1"/>
          <p:nvPr/>
        </p:nvSpPr>
        <p:spPr>
          <a:xfrm>
            <a:off x="4526280" y="5102352"/>
            <a:ext cx="914400" cy="365760"/>
          </a:xfrm>
          <a:prstGeom prst="rect">
            <a:avLst/>
          </a:prstGeom>
          <a:noFill/>
        </p:spPr>
        <p:txBody>
          <a:bodyPr wrap="square" lIns="0" rIns="0" tIns="0" bIns="0">
            <a:spAutoFit/>
          </a:bodyPr>
          <a:lstStyle/>
          <a:p>
            <a:pPr algn="l">
              <a:lnSpc>
                <a:spcPct val="95000"/>
              </a:lnSpc>
              <a:spcAft>
                <a:spcPts val="0"/>
              </a:spcAft>
            </a:pPr>
            <a:r>
              <a:rPr sz="1700" b="1" i="0">
                <a:solidFill>
                  <a:srgbClr val="005A8C"/>
                </a:solidFill>
                <a:latin typeface="Calibri"/>
              </a:rPr>
              <a:t>A</a:t>
            </a:r>
          </a:p>
        </p:txBody>
      </p:sp>
      <p:sp>
        <p:nvSpPr>
          <p:cNvPr id="28" name="TextBox 27"/>
          <p:cNvSpPr txBox="1"/>
          <p:nvPr/>
        </p:nvSpPr>
        <p:spPr>
          <a:xfrm>
            <a:off x="5669280" y="5102352"/>
            <a:ext cx="5669280" cy="365760"/>
          </a:xfrm>
          <a:prstGeom prst="rect">
            <a:avLst/>
          </a:prstGeom>
          <a:noFill/>
        </p:spPr>
        <p:txBody>
          <a:bodyPr wrap="square" lIns="0" rIns="0" tIns="0" bIns="0">
            <a:spAutoFit/>
          </a:bodyPr>
          <a:lstStyle/>
          <a:p>
            <a:pPr algn="l">
              <a:lnSpc>
                <a:spcPct val="95000"/>
              </a:lnSpc>
              <a:spcAft>
                <a:spcPts val="0"/>
              </a:spcAft>
            </a:pPr>
            <a:r>
              <a:rPr sz="1400" b="0" i="0">
                <a:solidFill>
                  <a:srgbClr val="6B7277"/>
                </a:solidFill>
                <a:latin typeface="Calibri"/>
              </a:rPr>
              <a:t>the loop runs after sunset</a:t>
            </a:r>
          </a:p>
        </p:txBody>
      </p:sp>
      <p:sp>
        <p:nvSpPr>
          <p:cNvPr id="29" name="TextBox 28"/>
          <p:cNvSpPr txBox="1"/>
          <p:nvPr/>
        </p:nvSpPr>
        <p:spPr>
          <a:xfrm>
            <a:off x="777240" y="5513831"/>
            <a:ext cx="3657600" cy="365760"/>
          </a:xfrm>
          <a:prstGeom prst="rect">
            <a:avLst/>
          </a:prstGeom>
          <a:noFill/>
        </p:spPr>
        <p:txBody>
          <a:bodyPr wrap="square" lIns="0" rIns="0" tIns="0" bIns="0">
            <a:spAutoFit/>
          </a:bodyPr>
          <a:lstStyle/>
          <a:p>
            <a:pPr algn="l">
              <a:lnSpc>
                <a:spcPct val="95000"/>
              </a:lnSpc>
              <a:spcAft>
                <a:spcPts val="0"/>
              </a:spcAft>
            </a:pPr>
            <a:r>
              <a:rPr sz="1600" b="1" i="0">
                <a:solidFill>
                  <a:srgbClr val="1E2428"/>
                </a:solidFill>
                <a:latin typeface="Calibri"/>
              </a:rPr>
              <a:t>Staying Power</a:t>
            </a:r>
          </a:p>
        </p:txBody>
      </p:sp>
      <p:sp>
        <p:nvSpPr>
          <p:cNvPr id="30" name="TextBox 29"/>
          <p:cNvSpPr txBox="1"/>
          <p:nvPr/>
        </p:nvSpPr>
        <p:spPr>
          <a:xfrm>
            <a:off x="4526280" y="5513831"/>
            <a:ext cx="914400" cy="365760"/>
          </a:xfrm>
          <a:prstGeom prst="rect">
            <a:avLst/>
          </a:prstGeom>
          <a:noFill/>
        </p:spPr>
        <p:txBody>
          <a:bodyPr wrap="square" lIns="0" rIns="0" tIns="0" bIns="0">
            <a:spAutoFit/>
          </a:bodyPr>
          <a:lstStyle/>
          <a:p>
            <a:pPr algn="l">
              <a:lnSpc>
                <a:spcPct val="95000"/>
              </a:lnSpc>
              <a:spcAft>
                <a:spcPts val="0"/>
              </a:spcAft>
            </a:pPr>
            <a:r>
              <a:rPr sz="1700" b="1" i="0">
                <a:solidFill>
                  <a:srgbClr val="005A8C"/>
                </a:solidFill>
                <a:latin typeface="Calibri"/>
              </a:rPr>
              <a:t>B</a:t>
            </a:r>
          </a:p>
        </p:txBody>
      </p:sp>
      <p:sp>
        <p:nvSpPr>
          <p:cNvPr id="31" name="TextBox 30"/>
          <p:cNvSpPr txBox="1"/>
          <p:nvPr/>
        </p:nvSpPr>
        <p:spPr>
          <a:xfrm>
            <a:off x="5669280" y="5513831"/>
            <a:ext cx="5669280" cy="365760"/>
          </a:xfrm>
          <a:prstGeom prst="rect">
            <a:avLst/>
          </a:prstGeom>
          <a:noFill/>
        </p:spPr>
        <p:txBody>
          <a:bodyPr wrap="square" lIns="0" rIns="0" tIns="0" bIns="0">
            <a:spAutoFit/>
          </a:bodyPr>
          <a:lstStyle/>
          <a:p>
            <a:pPr algn="l">
              <a:lnSpc>
                <a:spcPct val="95000"/>
              </a:lnSpc>
              <a:spcAft>
                <a:spcPts val="0"/>
              </a:spcAft>
            </a:pPr>
            <a:r>
              <a:rPr sz="1400" b="0" i="0">
                <a:solidFill>
                  <a:srgbClr val="6B7277"/>
                </a:solidFill>
                <a:latin typeface="Calibri"/>
              </a:rPr>
              <a:t>sprayed on, sprayed again</a:t>
            </a:r>
          </a:p>
        </p:txBody>
      </p:sp>
      <p:sp>
        <p:nvSpPr>
          <p:cNvPr id="32" name="TextBox 31"/>
          <p:cNvSpPr txBox="1"/>
          <p:nvPr/>
        </p:nvSpPr>
        <p:spPr>
          <a:xfrm>
            <a:off x="777240" y="6016752"/>
            <a:ext cx="10607040" cy="502920"/>
          </a:xfrm>
          <a:prstGeom prst="rect">
            <a:avLst/>
          </a:prstGeom>
          <a:noFill/>
        </p:spPr>
        <p:txBody>
          <a:bodyPr wrap="square" lIns="0" rIns="0" tIns="0" bIns="0">
            <a:spAutoFit/>
          </a:bodyPr>
          <a:lstStyle/>
          <a:p>
            <a:pPr algn="l">
              <a:lnSpc>
                <a:spcPct val="120000"/>
              </a:lnSpc>
              <a:spcAft>
                <a:spcPts val="0"/>
              </a:spcAft>
            </a:pPr>
            <a:r>
              <a:rPr sz="1700" b="1" i="0">
                <a:solidFill>
                  <a:srgbClr val="1E2428"/>
                </a:solidFill>
                <a:latin typeface="Calibri"/>
              </a:rPr>
              <a:t>B wins the one criterion A is weakest on — that is an argument for a hybrid, not for a winner.</a:t>
            </a:r>
          </a:p>
        </p:txBody>
      </p:sp>
      <p:sp>
        <p:nvSpPr>
          <p:cNvPr id="33" name="TextBox 32"/>
          <p:cNvSpPr txBox="1"/>
          <p:nvPr/>
        </p:nvSpPr>
        <p:spPr>
          <a:xfrm>
            <a:off x="777240" y="6528816"/>
            <a:ext cx="10607040" cy="292608"/>
          </a:xfrm>
          <a:prstGeom prst="rect">
            <a:avLst/>
          </a:prstGeom>
          <a:noFill/>
        </p:spPr>
        <p:txBody>
          <a:bodyPr wrap="square" lIns="0" rIns="0" tIns="0" bIns="0">
            <a:spAutoFit/>
          </a:bodyPr>
          <a:lstStyle/>
          <a:p>
            <a:pPr algn="l">
              <a:lnSpc>
                <a:spcPct val="95000"/>
              </a:lnSpc>
              <a:spcAft>
                <a:spcPts val="0"/>
              </a:spcAft>
            </a:pPr>
            <a:r>
              <a:rPr sz="1400" b="1" i="0">
                <a:solidFill>
                  <a:srgbClr val="A83B2E"/>
                </a:solidFill>
                <a:latin typeface="Calibri"/>
              </a:rPr>
              <a:t>OPEN — weights, 1–5 ratings, and the documented AI review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3.3 · ITERATION</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Selection and Concept V2</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1014984"/>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Select Concept A, B or a justified hybrid.</a:t>
            </a:r>
          </a:p>
        </p:txBody>
      </p:sp>
      <p:sp>
        <p:nvSpPr>
          <p:cNvPr id="9" name="TextBox 8"/>
          <p:cNvSpPr txBox="1"/>
          <p:nvPr/>
        </p:nvSpPr>
        <p:spPr>
          <a:xfrm>
            <a:off x="2194560" y="2212848"/>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Develop a revised Final Concept V2 and show what changed and why.</a:t>
            </a:r>
          </a:p>
        </p:txBody>
      </p:sp>
      <p:sp>
        <p:nvSpPr>
          <p:cNvPr id="10" name="TextBox 9"/>
          <p:cNvSpPr txBox="1"/>
          <p:nvPr/>
        </p:nvSpPr>
        <p:spPr>
          <a:xfrm>
            <a:off x="2194560" y="2459736"/>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Discuss remaining uncertainties and what to test next.</a:t>
            </a:r>
          </a:p>
        </p:txBody>
      </p:sp>
      <p:sp>
        <p:nvSpPr>
          <p:cNvPr id="11" name="TextBox 10"/>
          <p:cNvSpPr txBox="1"/>
          <p:nvPr/>
        </p:nvSpPr>
        <p:spPr>
          <a:xfrm>
            <a:off x="777240" y="3136391"/>
            <a:ext cx="10607040" cy="457200"/>
          </a:xfrm>
          <a:prstGeom prst="rect">
            <a:avLst/>
          </a:prstGeom>
          <a:noFill/>
        </p:spPr>
        <p:txBody>
          <a:bodyPr wrap="square" lIns="0" rIns="0" tIns="0" bIns="0">
            <a:spAutoFit/>
          </a:bodyPr>
          <a:lstStyle/>
          <a:p>
            <a:pPr algn="l">
              <a:lnSpc>
                <a:spcPct val="95000"/>
              </a:lnSpc>
              <a:spcAft>
                <a:spcPts val="0"/>
              </a:spcAft>
            </a:pPr>
            <a:r>
              <a:rPr sz="3000" b="1" i="0">
                <a:solidFill>
                  <a:srgbClr val="005A8C"/>
                </a:solidFill>
                <a:latin typeface="Calibri"/>
              </a:rPr>
              <a:t>V2  =  A with B sprayed onto it</a:t>
            </a:r>
          </a:p>
        </p:txBody>
      </p:sp>
      <p:sp>
        <p:nvSpPr>
          <p:cNvPr id="12" name="Rectangle 11"/>
          <p:cNvSpPr/>
          <p:nvPr/>
        </p:nvSpPr>
        <p:spPr>
          <a:xfrm>
            <a:off x="777240" y="3877056"/>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3776472"/>
            <a:ext cx="10424160" cy="457200"/>
          </a:xfrm>
          <a:prstGeom prst="rect">
            <a:avLst/>
          </a:prstGeom>
          <a:noFill/>
        </p:spPr>
        <p:txBody>
          <a:bodyPr wrap="square" lIns="0" rIns="0" tIns="0" bIns="0">
            <a:spAutoFit/>
          </a:bodyPr>
          <a:lstStyle/>
          <a:p>
            <a:pPr algn="l">
              <a:lnSpc>
                <a:spcPct val="95000"/>
              </a:lnSpc>
              <a:spcAft>
                <a:spcPts val="0"/>
              </a:spcAft>
            </a:pPr>
            <a:r>
              <a:rPr sz="1800" b="1" i="0">
                <a:solidFill>
                  <a:srgbClr val="1E2428"/>
                </a:solidFill>
                <a:latin typeface="Calibri"/>
              </a:rPr>
              <a:t>the loop moves the heat, the texture helps it leave</a:t>
            </a:r>
          </a:p>
        </p:txBody>
      </p:sp>
      <p:sp>
        <p:nvSpPr>
          <p:cNvPr id="14" name="Rectangle 13"/>
          <p:cNvSpPr/>
          <p:nvPr/>
        </p:nvSpPr>
        <p:spPr>
          <a:xfrm>
            <a:off x="777240" y="4407408"/>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4306824"/>
            <a:ext cx="104241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V1 weakness: the roof area could not take the load</a:t>
            </a:r>
          </a:p>
        </p:txBody>
      </p:sp>
      <p:sp>
        <p:nvSpPr>
          <p:cNvPr id="16" name="Rectangle 15"/>
          <p:cNvSpPr/>
          <p:nvPr/>
        </p:nvSpPr>
        <p:spPr>
          <a:xfrm>
            <a:off x="777240" y="4937760"/>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992" y="4837176"/>
            <a:ext cx="10424160" cy="457200"/>
          </a:xfrm>
          <a:prstGeom prst="rect">
            <a:avLst/>
          </a:prstGeom>
          <a:noFill/>
        </p:spPr>
        <p:txBody>
          <a:bodyPr wrap="square" lIns="0" rIns="0" tIns="0" bIns="0">
            <a:spAutoFit/>
          </a:bodyPr>
          <a:lstStyle/>
          <a:p>
            <a:pPr algn="l">
              <a:lnSpc>
                <a:spcPct val="95000"/>
              </a:lnSpc>
              <a:spcAft>
                <a:spcPts val="0"/>
              </a:spcAft>
            </a:pPr>
            <a:r>
              <a:rPr sz="1800" b="1" i="0">
                <a:solidFill>
                  <a:srgbClr val="1E2428"/>
                </a:solidFill>
                <a:latin typeface="Calibri"/>
              </a:rPr>
              <a:t>V2 answer: the ribbed façade releases too, not only the roof</a:t>
            </a:r>
          </a:p>
        </p:txBody>
      </p:sp>
      <p:sp>
        <p:nvSpPr>
          <p:cNvPr id="18" name="Rectangle 17"/>
          <p:cNvSpPr/>
          <p:nvPr/>
        </p:nvSpPr>
        <p:spPr>
          <a:xfrm>
            <a:off x="777240" y="5468112"/>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992" y="5367527"/>
            <a:ext cx="104241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the spray raises the release rate on both surfaces</a:t>
            </a:r>
          </a:p>
        </p:txBody>
      </p:sp>
      <p:sp>
        <p:nvSpPr>
          <p:cNvPr id="20" name="TextBox 19"/>
          <p:cNvSpPr txBox="1"/>
          <p:nvPr/>
        </p:nvSpPr>
        <p:spPr>
          <a:xfrm>
            <a:off x="777240" y="6016752"/>
            <a:ext cx="10607040" cy="292608"/>
          </a:xfrm>
          <a:prstGeom prst="rect">
            <a:avLst/>
          </a:prstGeom>
          <a:noFill/>
        </p:spPr>
        <p:txBody>
          <a:bodyPr wrap="square" lIns="0" rIns="0" tIns="0" bIns="0">
            <a:spAutoFit/>
          </a:bodyPr>
          <a:lstStyle/>
          <a:p>
            <a:pPr algn="l">
              <a:lnSpc>
                <a:spcPct val="95000"/>
              </a:lnSpc>
              <a:spcAft>
                <a:spcPts val="0"/>
              </a:spcAft>
            </a:pPr>
            <a:r>
              <a:rPr sz="1100" b="1" i="0">
                <a:solidFill>
                  <a:srgbClr val="A83B2E"/>
                </a:solidFill>
                <a:latin typeface="Calibri"/>
              </a:rPr>
              <a:t>STILL UNCERTAIN</a:t>
            </a:r>
          </a:p>
        </p:txBody>
      </p:sp>
      <p:sp>
        <p:nvSpPr>
          <p:cNvPr id="21" name="TextBox 20"/>
          <p:cNvSpPr txBox="1"/>
          <p:nvPr/>
        </p:nvSpPr>
        <p:spPr>
          <a:xfrm>
            <a:off x="777240" y="6309360"/>
            <a:ext cx="10607040" cy="502920"/>
          </a:xfrm>
          <a:prstGeom prst="rect">
            <a:avLst/>
          </a:prstGeom>
          <a:noFill/>
        </p:spPr>
        <p:txBody>
          <a:bodyPr wrap="square" lIns="0" rIns="0" tIns="0" bIns="0">
            <a:spAutoFit/>
          </a:bodyPr>
          <a:lstStyle/>
          <a:p>
            <a:pPr algn="l">
              <a:lnSpc>
                <a:spcPct val="120000"/>
              </a:lnSpc>
              <a:spcAft>
                <a:spcPts val="0"/>
              </a:spcAft>
            </a:pPr>
            <a:r>
              <a:rPr sz="1500" b="0" i="0">
                <a:solidFill>
                  <a:srgbClr val="6B7277"/>
                </a:solidFill>
                <a:latin typeface="Calibri"/>
              </a:rPr>
              <a:t>does millimetre texture survive twenty winters?   ·   freeze protection without energy   ·
does the loop still drive itself at ΔT = 3 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4 · SUSTAINABILITY</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Assessed, not listed</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1261872"/>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Life's Principles most relevant to the final concept, and how well it applies them.</a:t>
            </a:r>
          </a:p>
        </p:txBody>
      </p:sp>
      <p:sp>
        <p:nvSpPr>
          <p:cNvPr id="9" name="TextBox 8"/>
          <p:cNvSpPr txBox="1"/>
          <p:nvPr/>
        </p:nvSpPr>
        <p:spPr>
          <a:xfrm>
            <a:off x="2194560" y="2212848"/>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Benefits, limitations and trade-offs; no unsupported claims.</a:t>
            </a:r>
          </a:p>
        </p:txBody>
      </p:sp>
      <p:sp>
        <p:nvSpPr>
          <p:cNvPr id="10" name="TextBox 9"/>
          <p:cNvSpPr txBox="1"/>
          <p:nvPr/>
        </p:nvSpPr>
        <p:spPr>
          <a:xfrm>
            <a:off x="2194560" y="2459736"/>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Materials, durability, repair, reuse, circularity.</a:t>
            </a:r>
          </a:p>
        </p:txBody>
      </p:sp>
      <p:sp>
        <p:nvSpPr>
          <p:cNvPr id="11" name="TextBox 10"/>
          <p:cNvSpPr txBox="1"/>
          <p:nvPr/>
        </p:nvSpPr>
        <p:spPr>
          <a:xfrm>
            <a:off x="2194560" y="2706624"/>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Did sustainability change the design?</a:t>
            </a:r>
          </a:p>
        </p:txBody>
      </p:sp>
      <p:sp>
        <p:nvSpPr>
          <p:cNvPr id="12" name="Rectangle 11"/>
          <p:cNvSpPr/>
          <p:nvPr/>
        </p:nvSpPr>
        <p:spPr>
          <a:xfrm>
            <a:off x="777240" y="3483863"/>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3383279"/>
            <a:ext cx="5486400" cy="457200"/>
          </a:xfrm>
          <a:prstGeom prst="rect">
            <a:avLst/>
          </a:prstGeom>
          <a:noFill/>
        </p:spPr>
        <p:txBody>
          <a:bodyPr wrap="square" lIns="0" rIns="0" tIns="0" bIns="0">
            <a:spAutoFit/>
          </a:bodyPr>
          <a:lstStyle/>
          <a:p>
            <a:pPr algn="l">
              <a:lnSpc>
                <a:spcPct val="95000"/>
              </a:lnSpc>
              <a:spcAft>
                <a:spcPts val="0"/>
              </a:spcAft>
            </a:pPr>
            <a:r>
              <a:rPr sz="1700" b="1" i="0">
                <a:solidFill>
                  <a:srgbClr val="1E2428"/>
                </a:solidFill>
                <a:latin typeface="Calibri"/>
              </a:rPr>
              <a:t>every principle carries a named shortfall</a:t>
            </a:r>
          </a:p>
        </p:txBody>
      </p:sp>
      <p:sp>
        <p:nvSpPr>
          <p:cNvPr id="14" name="Rectangle 13"/>
          <p:cNvSpPr/>
          <p:nvPr/>
        </p:nvSpPr>
        <p:spPr>
          <a:xfrm>
            <a:off x="777240" y="398678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3886200"/>
            <a:ext cx="5486400" cy="457200"/>
          </a:xfrm>
          <a:prstGeom prst="rect">
            <a:avLst/>
          </a:prstGeom>
          <a:noFill/>
        </p:spPr>
        <p:txBody>
          <a:bodyPr wrap="square" lIns="0" rIns="0" tIns="0" bIns="0">
            <a:spAutoFit/>
          </a:bodyPr>
          <a:lstStyle/>
          <a:p>
            <a:pPr algn="l">
              <a:lnSpc>
                <a:spcPct val="95000"/>
              </a:lnSpc>
              <a:spcAft>
                <a:spcPts val="0"/>
              </a:spcAft>
            </a:pPr>
            <a:r>
              <a:rPr sz="1700" b="0" i="0">
                <a:solidFill>
                  <a:srgbClr val="6B7277"/>
                </a:solidFill>
                <a:latin typeface="Calibri"/>
              </a:rPr>
              <a:t>closed loop — no water is spent</a:t>
            </a:r>
          </a:p>
        </p:txBody>
      </p:sp>
      <p:sp>
        <p:nvSpPr>
          <p:cNvPr id="16" name="Rectangle 15"/>
          <p:cNvSpPr/>
          <p:nvPr/>
        </p:nvSpPr>
        <p:spPr>
          <a:xfrm>
            <a:off x="777240" y="448970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992" y="4389120"/>
            <a:ext cx="5486400" cy="457200"/>
          </a:xfrm>
          <a:prstGeom prst="rect">
            <a:avLst/>
          </a:prstGeom>
          <a:noFill/>
        </p:spPr>
        <p:txBody>
          <a:bodyPr wrap="square" lIns="0" rIns="0" tIns="0" bIns="0">
            <a:spAutoFit/>
          </a:bodyPr>
          <a:lstStyle/>
          <a:p>
            <a:pPr algn="l">
              <a:lnSpc>
                <a:spcPct val="95000"/>
              </a:lnSpc>
              <a:spcAft>
                <a:spcPts val="0"/>
              </a:spcAft>
            </a:pPr>
            <a:r>
              <a:rPr sz="1700" b="0" i="0">
                <a:solidFill>
                  <a:srgbClr val="6B7277"/>
                </a:solidFill>
                <a:latin typeface="Calibri"/>
              </a:rPr>
              <a:t>the sprayed layer wears into the street below</a:t>
            </a:r>
          </a:p>
        </p:txBody>
      </p:sp>
      <p:sp>
        <p:nvSpPr>
          <p:cNvPr id="18" name="Rectangle 17"/>
          <p:cNvSpPr/>
          <p:nvPr/>
        </p:nvSpPr>
        <p:spPr>
          <a:xfrm>
            <a:off x="777240" y="499262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992" y="4892040"/>
            <a:ext cx="5486400" cy="457200"/>
          </a:xfrm>
          <a:prstGeom prst="rect">
            <a:avLst/>
          </a:prstGeom>
          <a:noFill/>
        </p:spPr>
        <p:txBody>
          <a:bodyPr wrap="square" lIns="0" rIns="0" tIns="0" bIns="0">
            <a:spAutoFit/>
          </a:bodyPr>
          <a:lstStyle/>
          <a:p>
            <a:pPr algn="l">
              <a:lnSpc>
                <a:spcPct val="95000"/>
              </a:lnSpc>
              <a:spcAft>
                <a:spcPts val="0"/>
              </a:spcAft>
            </a:pPr>
            <a:r>
              <a:rPr sz="1700" b="1" i="0">
                <a:solidFill>
                  <a:srgbClr val="1E2428"/>
                </a:solidFill>
                <a:latin typeface="Calibri"/>
              </a:rPr>
              <a:t>so it must be benign, not merely durable</a:t>
            </a:r>
          </a:p>
        </p:txBody>
      </p:sp>
      <p:sp>
        <p:nvSpPr>
          <p:cNvPr id="20" name="Rectangle 19"/>
          <p:cNvSpPr/>
          <p:nvPr/>
        </p:nvSpPr>
        <p:spPr>
          <a:xfrm>
            <a:off x="777240" y="549554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8992" y="5394960"/>
            <a:ext cx="5486400" cy="457200"/>
          </a:xfrm>
          <a:prstGeom prst="rect">
            <a:avLst/>
          </a:prstGeom>
          <a:noFill/>
        </p:spPr>
        <p:txBody>
          <a:bodyPr wrap="square" lIns="0" rIns="0" tIns="0" bIns="0">
            <a:spAutoFit/>
          </a:bodyPr>
          <a:lstStyle/>
          <a:p>
            <a:pPr algn="l">
              <a:lnSpc>
                <a:spcPct val="95000"/>
              </a:lnSpc>
              <a:spcAft>
                <a:spcPts val="0"/>
              </a:spcAft>
            </a:pPr>
            <a:r>
              <a:rPr sz="1700" b="0" i="0">
                <a:solidFill>
                  <a:srgbClr val="6B7277"/>
                </a:solidFill>
                <a:latin typeface="Calibri"/>
              </a:rPr>
              <a:t>pipes are a technical nutrient — demountable</a:t>
            </a:r>
          </a:p>
        </p:txBody>
      </p:sp>
      <p:sp>
        <p:nvSpPr>
          <p:cNvPr id="22" name="TextBox 21"/>
          <p:cNvSpPr txBox="1"/>
          <p:nvPr/>
        </p:nvSpPr>
        <p:spPr>
          <a:xfrm>
            <a:off x="6583680" y="3383279"/>
            <a:ext cx="4846320" cy="274320"/>
          </a:xfrm>
          <a:prstGeom prst="rect">
            <a:avLst/>
          </a:prstGeom>
          <a:noFill/>
        </p:spPr>
        <p:txBody>
          <a:bodyPr wrap="square" lIns="0" rIns="0" tIns="0" bIns="0">
            <a:spAutoFit/>
          </a:bodyPr>
          <a:lstStyle/>
          <a:p>
            <a:pPr algn="l">
              <a:lnSpc>
                <a:spcPct val="95000"/>
              </a:lnSpc>
              <a:spcAft>
                <a:spcPts val="0"/>
              </a:spcAft>
            </a:pPr>
            <a:r>
              <a:rPr sz="1100" b="1" i="0">
                <a:solidFill>
                  <a:srgbClr val="005A8C"/>
                </a:solidFill>
                <a:latin typeface="Calibri"/>
              </a:rPr>
              <a:t>SUSTAINABILITY CHANGED THE DESIGN</a:t>
            </a:r>
          </a:p>
        </p:txBody>
      </p:sp>
      <p:sp>
        <p:nvSpPr>
          <p:cNvPr id="23" name="Rectangle 22"/>
          <p:cNvSpPr/>
          <p:nvPr/>
        </p:nvSpPr>
        <p:spPr>
          <a:xfrm>
            <a:off x="6583680" y="384962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85432" y="3749039"/>
            <a:ext cx="4754880" cy="457200"/>
          </a:xfrm>
          <a:prstGeom prst="rect">
            <a:avLst/>
          </a:prstGeom>
          <a:noFill/>
        </p:spPr>
        <p:txBody>
          <a:bodyPr wrap="square" lIns="0" rIns="0" tIns="0" bIns="0">
            <a:spAutoFit/>
          </a:bodyPr>
          <a:lstStyle/>
          <a:p>
            <a:pPr algn="l">
              <a:lnSpc>
                <a:spcPct val="95000"/>
              </a:lnSpc>
              <a:spcAft>
                <a:spcPts val="0"/>
              </a:spcAft>
            </a:pPr>
            <a:r>
              <a:rPr sz="1700" b="0" i="0">
                <a:solidFill>
                  <a:srgbClr val="6B7277"/>
                </a:solidFill>
                <a:latin typeface="Calibri"/>
              </a:rPr>
              <a:t>albedo target 0.98 → 0.80</a:t>
            </a:r>
          </a:p>
        </p:txBody>
      </p:sp>
      <p:sp>
        <p:nvSpPr>
          <p:cNvPr id="25" name="Rectangle 24"/>
          <p:cNvSpPr/>
          <p:nvPr/>
        </p:nvSpPr>
        <p:spPr>
          <a:xfrm>
            <a:off x="6583680" y="435254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85432" y="4251959"/>
            <a:ext cx="4754880" cy="457200"/>
          </a:xfrm>
          <a:prstGeom prst="rect">
            <a:avLst/>
          </a:prstGeom>
          <a:noFill/>
        </p:spPr>
        <p:txBody>
          <a:bodyPr wrap="square" lIns="0" rIns="0" tIns="0" bIns="0">
            <a:spAutoFit/>
          </a:bodyPr>
          <a:lstStyle/>
          <a:p>
            <a:pPr algn="l">
              <a:lnSpc>
                <a:spcPct val="95000"/>
              </a:lnSpc>
              <a:spcAft>
                <a:spcPts val="0"/>
              </a:spcAft>
            </a:pPr>
            <a:r>
              <a:rPr sz="1700" b="0" i="0">
                <a:solidFill>
                  <a:srgbClr val="6B7277"/>
                </a:solidFill>
                <a:latin typeface="Calibri"/>
              </a:rPr>
              <a:t>no biocide — texture, not chemistry</a:t>
            </a:r>
          </a:p>
        </p:txBody>
      </p:sp>
      <p:sp>
        <p:nvSpPr>
          <p:cNvPr id="27" name="Rectangle 26"/>
          <p:cNvSpPr/>
          <p:nvPr/>
        </p:nvSpPr>
        <p:spPr>
          <a:xfrm>
            <a:off x="6583680" y="4855464"/>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85432" y="4754879"/>
            <a:ext cx="4754880" cy="457200"/>
          </a:xfrm>
          <a:prstGeom prst="rect">
            <a:avLst/>
          </a:prstGeom>
          <a:noFill/>
        </p:spPr>
        <p:txBody>
          <a:bodyPr wrap="square" lIns="0" rIns="0" tIns="0" bIns="0">
            <a:spAutoFit/>
          </a:bodyPr>
          <a:lstStyle/>
          <a:p>
            <a:pPr algn="l">
              <a:lnSpc>
                <a:spcPct val="95000"/>
              </a:lnSpc>
              <a:spcAft>
                <a:spcPts val="0"/>
              </a:spcAft>
            </a:pPr>
            <a:r>
              <a:rPr sz="1700" b="0" i="0">
                <a:solidFill>
                  <a:srgbClr val="6B7277"/>
                </a:solidFill>
                <a:latin typeface="Calibri"/>
              </a:rPr>
              <a:t>cost and CO₂ became constraints</a:t>
            </a:r>
          </a:p>
        </p:txBody>
      </p:sp>
      <p:sp>
        <p:nvSpPr>
          <p:cNvPr id="29" name="TextBox 28"/>
          <p:cNvSpPr txBox="1"/>
          <p:nvPr/>
        </p:nvSpPr>
        <p:spPr>
          <a:xfrm>
            <a:off x="777240" y="6172200"/>
            <a:ext cx="10607040" cy="320040"/>
          </a:xfrm>
          <a:prstGeom prst="rect">
            <a:avLst/>
          </a:prstGeom>
          <a:noFill/>
        </p:spPr>
        <p:txBody>
          <a:bodyPr wrap="square" lIns="0" rIns="0" tIns="0" bIns="0">
            <a:spAutoFit/>
          </a:bodyPr>
          <a:lstStyle/>
          <a:p>
            <a:pPr algn="l">
              <a:lnSpc>
                <a:spcPct val="95000"/>
              </a:lnSpc>
              <a:spcAft>
                <a:spcPts val="0"/>
              </a:spcAft>
            </a:pPr>
            <a:r>
              <a:rPr sz="1600" b="1" i="0">
                <a:solidFill>
                  <a:srgbClr val="A83B2E"/>
                </a:solidFill>
                <a:latin typeface="Calibri"/>
              </a:rPr>
              <a:t>we do not call it sustainable — on this evidence we could not defend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9144000" cy="292608"/>
          </a:xfrm>
          <a:prstGeom prst="rect">
            <a:avLst/>
          </a:prstGeom>
          <a:noFill/>
        </p:spPr>
        <p:txBody>
          <a:bodyPr wrap="square" lIns="0" rIns="0" tIns="0" bIns="0">
            <a:spAutoFit/>
          </a:bodyPr>
          <a:lstStyle/>
          <a:p>
            <a:pPr algn="l">
              <a:lnSpc>
                <a:spcPct val="95000"/>
              </a:lnSpc>
              <a:spcAft>
                <a:spcPts val="0"/>
              </a:spcAft>
            </a:pPr>
            <a:r>
              <a:rPr sz="1250" b="1" i="0">
                <a:solidFill>
                  <a:srgbClr val="005A8C"/>
                </a:solidFill>
                <a:latin typeface="Calibri"/>
              </a:rPr>
              <a:t>5 · DISCUSSION</a:t>
            </a:r>
          </a:p>
        </p:txBody>
      </p:sp>
      <p:sp>
        <p:nvSpPr>
          <p:cNvPr id="4" name="TextBox 3"/>
          <p:cNvSpPr txBox="1"/>
          <p:nvPr/>
        </p:nvSpPr>
        <p:spPr>
          <a:xfrm>
            <a:off x="777240" y="868680"/>
            <a:ext cx="10607040" cy="868680"/>
          </a:xfrm>
          <a:prstGeom prst="rect">
            <a:avLst/>
          </a:prstGeom>
          <a:noFill/>
        </p:spPr>
        <p:txBody>
          <a:bodyPr wrap="square" lIns="0" rIns="0" tIns="0" bIns="0">
            <a:spAutoFit/>
          </a:bodyPr>
          <a:lstStyle/>
          <a:p>
            <a:pPr algn="l">
              <a:lnSpc>
                <a:spcPct val="92000"/>
              </a:lnSpc>
              <a:spcAft>
                <a:spcPts val="0"/>
              </a:spcAft>
            </a:pPr>
            <a:r>
              <a:rPr sz="3300" b="1" i="0">
                <a:solidFill>
                  <a:srgbClr val="1E2428"/>
                </a:solidFill>
                <a:latin typeface="Calibri"/>
              </a:rPr>
              <a:t>What the biology actually gave us</a:t>
            </a:r>
          </a:p>
        </p:txBody>
      </p:sp>
      <p:sp>
        <p:nvSpPr>
          <p:cNvPr id="5" name="Rectangle 4"/>
          <p:cNvSpPr/>
          <p:nvPr/>
        </p:nvSpPr>
        <p:spPr>
          <a:xfrm>
            <a:off x="777240" y="1783080"/>
            <a:ext cx="1371600" cy="14000"/>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74519"/>
            <a:ext cx="10607040" cy="1261872"/>
          </a:xfrm>
          <a:prstGeom prst="roundRect">
            <a:avLst>
              <a:gd name="adj" fmla="val 12000"/>
            </a:avLst>
          </a:prstGeom>
          <a:solidFill>
            <a:srgbClr val="F0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965960"/>
            <a:ext cx="1188720" cy="219456"/>
          </a:xfrm>
          <a:prstGeom prst="rect">
            <a:avLst/>
          </a:prstGeom>
          <a:noFill/>
        </p:spPr>
        <p:txBody>
          <a:bodyPr wrap="square" lIns="0" rIns="0" tIns="0" bIns="0">
            <a:spAutoFit/>
          </a:bodyPr>
          <a:lstStyle/>
          <a:p>
            <a:pPr algn="l">
              <a:lnSpc>
                <a:spcPct val="95000"/>
              </a:lnSpc>
              <a:spcAft>
                <a:spcPts val="0"/>
              </a:spcAft>
            </a:pPr>
            <a:r>
              <a:rPr sz="950" b="1" i="0">
                <a:solidFill>
                  <a:srgbClr val="005A8C"/>
                </a:solidFill>
                <a:latin typeface="Calibri"/>
              </a:rPr>
              <a:t>REQUIRED</a:t>
            </a:r>
          </a:p>
        </p:txBody>
      </p:sp>
      <p:sp>
        <p:nvSpPr>
          <p:cNvPr id="8" name="TextBox 7"/>
          <p:cNvSpPr txBox="1"/>
          <p:nvPr/>
        </p:nvSpPr>
        <p:spPr>
          <a:xfrm>
            <a:off x="2194560" y="1965960"/>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Did biomimicry produce ideas a conventional approach would not have?</a:t>
            </a:r>
          </a:p>
        </p:txBody>
      </p:sp>
      <p:sp>
        <p:nvSpPr>
          <p:cNvPr id="9" name="TextBox 8"/>
          <p:cNvSpPr txBox="1"/>
          <p:nvPr/>
        </p:nvSpPr>
        <p:spPr>
          <a:xfrm>
            <a:off x="2194560" y="2212848"/>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Critically reflect on the strongest and weakest aspects.</a:t>
            </a:r>
          </a:p>
        </p:txBody>
      </p:sp>
      <p:sp>
        <p:nvSpPr>
          <p:cNvPr id="10" name="TextBox 9"/>
          <p:cNvSpPr txBox="1"/>
          <p:nvPr/>
        </p:nvSpPr>
        <p:spPr>
          <a:xfrm>
            <a:off x="2194560" y="2459736"/>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Assess whether the challenge and the performance criteria were addressed.</a:t>
            </a:r>
          </a:p>
        </p:txBody>
      </p:sp>
      <p:sp>
        <p:nvSpPr>
          <p:cNvPr id="11" name="TextBox 10"/>
          <p:cNvSpPr txBox="1"/>
          <p:nvPr/>
        </p:nvSpPr>
        <p:spPr>
          <a:xfrm>
            <a:off x="2194560" y="2706624"/>
            <a:ext cx="8915400" cy="237744"/>
          </a:xfrm>
          <a:prstGeom prst="rect">
            <a:avLst/>
          </a:prstGeom>
          <a:noFill/>
        </p:spPr>
        <p:txBody>
          <a:bodyPr wrap="square" lIns="0" rIns="0" tIns="0" bIns="0">
            <a:spAutoFit/>
          </a:bodyPr>
          <a:lstStyle/>
          <a:p>
            <a:pPr algn="l">
              <a:lnSpc>
                <a:spcPct val="95000"/>
              </a:lnSpc>
              <a:spcAft>
                <a:spcPts val="0"/>
              </a:spcAft>
            </a:pPr>
            <a:r>
              <a:rPr sz="1050" b="0" i="1">
                <a:solidFill>
                  <a:srgbClr val="6B7277"/>
                </a:solidFill>
                <a:latin typeface="Calibri"/>
              </a:rPr>
              <a:t>Discuss the innovative character and the limits of the evidence.</a:t>
            </a:r>
          </a:p>
        </p:txBody>
      </p:sp>
      <p:sp>
        <p:nvSpPr>
          <p:cNvPr id="12" name="Rectangle 11"/>
          <p:cNvSpPr/>
          <p:nvPr/>
        </p:nvSpPr>
        <p:spPr>
          <a:xfrm>
            <a:off x="777240" y="3483863"/>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3383279"/>
            <a:ext cx="10424160" cy="457200"/>
          </a:xfrm>
          <a:prstGeom prst="rect">
            <a:avLst/>
          </a:prstGeom>
          <a:noFill/>
        </p:spPr>
        <p:txBody>
          <a:bodyPr wrap="square" lIns="0" rIns="0" tIns="0" bIns="0">
            <a:spAutoFit/>
          </a:bodyPr>
          <a:lstStyle/>
          <a:p>
            <a:pPr algn="l">
              <a:lnSpc>
                <a:spcPct val="95000"/>
              </a:lnSpc>
              <a:spcAft>
                <a:spcPts val="0"/>
              </a:spcAft>
            </a:pPr>
            <a:r>
              <a:rPr sz="1800" b="1" i="0">
                <a:solidFill>
                  <a:srgbClr val="1E2428"/>
                </a:solidFill>
                <a:latin typeface="Calibri"/>
              </a:rPr>
              <a:t>separate where heat is absorbed from where it is released — the ear</a:t>
            </a:r>
          </a:p>
        </p:txBody>
      </p:sp>
      <p:sp>
        <p:nvSpPr>
          <p:cNvPr id="14" name="Rectangle 13"/>
          <p:cNvSpPr/>
          <p:nvPr/>
        </p:nvSpPr>
        <p:spPr>
          <a:xfrm>
            <a:off x="777240" y="3995928"/>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3895344"/>
            <a:ext cx="104241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let the load drive the flow — no controller, no pump</a:t>
            </a:r>
          </a:p>
        </p:txBody>
      </p:sp>
      <p:sp>
        <p:nvSpPr>
          <p:cNvPr id="16" name="Rectangle 15"/>
          <p:cNvSpPr/>
          <p:nvPr/>
        </p:nvSpPr>
        <p:spPr>
          <a:xfrm>
            <a:off x="777240" y="4507992"/>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992" y="4407408"/>
            <a:ext cx="10424160" cy="457200"/>
          </a:xfrm>
          <a:prstGeom prst="rect">
            <a:avLst/>
          </a:prstGeom>
          <a:noFill/>
        </p:spPr>
        <p:txBody>
          <a:bodyPr wrap="square" lIns="0" rIns="0" tIns="0" bIns="0">
            <a:spAutoFit/>
          </a:bodyPr>
          <a:lstStyle/>
          <a:p>
            <a:pPr algn="l">
              <a:lnSpc>
                <a:spcPct val="95000"/>
              </a:lnSpc>
              <a:spcAft>
                <a:spcPts val="0"/>
              </a:spcAft>
            </a:pPr>
            <a:r>
              <a:rPr sz="1800" b="1" i="0">
                <a:solidFill>
                  <a:srgbClr val="1E2428"/>
                </a:solidFill>
                <a:latin typeface="Calibri"/>
              </a:rPr>
              <a:t>roughness instead of chemistry, texture instead of coating</a:t>
            </a:r>
          </a:p>
        </p:txBody>
      </p:sp>
      <p:sp>
        <p:nvSpPr>
          <p:cNvPr id="18" name="Rectangle 17"/>
          <p:cNvSpPr/>
          <p:nvPr/>
        </p:nvSpPr>
        <p:spPr>
          <a:xfrm>
            <a:off x="777240" y="5020056"/>
            <a:ext cx="118872" cy="118872"/>
          </a:xfrm>
          <a:prstGeom prst="rect">
            <a:avLst/>
          </a:pr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992" y="4919472"/>
            <a:ext cx="10424160" cy="457200"/>
          </a:xfrm>
          <a:prstGeom prst="rect">
            <a:avLst/>
          </a:prstGeom>
          <a:noFill/>
        </p:spPr>
        <p:txBody>
          <a:bodyPr wrap="square" lIns="0" rIns="0" tIns="0" bIns="0">
            <a:spAutoFit/>
          </a:bodyPr>
          <a:lstStyle/>
          <a:p>
            <a:pPr algn="l">
              <a:lnSpc>
                <a:spcPct val="95000"/>
              </a:lnSpc>
              <a:spcAft>
                <a:spcPts val="0"/>
              </a:spcAft>
            </a:pPr>
            <a:r>
              <a:rPr sz="1800" b="0" i="0">
                <a:solidFill>
                  <a:srgbClr val="6B7277"/>
                </a:solidFill>
                <a:latin typeface="Calibri"/>
              </a:rPr>
              <a:t>conventional anyway: the bright finish itself</a:t>
            </a:r>
          </a:p>
        </p:txBody>
      </p:sp>
      <p:sp>
        <p:nvSpPr>
          <p:cNvPr id="20" name="TextBox 19"/>
          <p:cNvSpPr txBox="1"/>
          <p:nvPr/>
        </p:nvSpPr>
        <p:spPr>
          <a:xfrm>
            <a:off x="777240" y="5486400"/>
            <a:ext cx="10607040" cy="320040"/>
          </a:xfrm>
          <a:prstGeom prst="rect">
            <a:avLst/>
          </a:prstGeom>
          <a:noFill/>
        </p:spPr>
        <p:txBody>
          <a:bodyPr wrap="square" lIns="0" rIns="0" tIns="0" bIns="0">
            <a:spAutoFit/>
          </a:bodyPr>
          <a:lstStyle/>
          <a:p>
            <a:pPr algn="l">
              <a:lnSpc>
                <a:spcPct val="95000"/>
              </a:lnSpc>
              <a:spcAft>
                <a:spcPts val="0"/>
              </a:spcAft>
            </a:pPr>
            <a:r>
              <a:rPr sz="1100" b="1" i="0">
                <a:solidFill>
                  <a:srgbClr val="A83B2E"/>
                </a:solidFill>
                <a:latin typeface="Calibri"/>
              </a:rPr>
              <a:t>WEAKEST POINT</a:t>
            </a:r>
          </a:p>
        </p:txBody>
      </p:sp>
      <p:sp>
        <p:nvSpPr>
          <p:cNvPr id="21" name="TextBox 20"/>
          <p:cNvSpPr txBox="1"/>
          <p:nvPr/>
        </p:nvSpPr>
        <p:spPr>
          <a:xfrm>
            <a:off x="777240" y="5806440"/>
            <a:ext cx="10607040" cy="411480"/>
          </a:xfrm>
          <a:prstGeom prst="rect">
            <a:avLst/>
          </a:prstGeom>
          <a:noFill/>
        </p:spPr>
        <p:txBody>
          <a:bodyPr wrap="square" lIns="0" rIns="0" tIns="0" bIns="0">
            <a:spAutoFit/>
          </a:bodyPr>
          <a:lstStyle/>
          <a:p>
            <a:pPr algn="l">
              <a:lnSpc>
                <a:spcPct val="95000"/>
              </a:lnSpc>
              <a:spcAft>
                <a:spcPts val="0"/>
              </a:spcAft>
            </a:pPr>
            <a:r>
              <a:rPr sz="1700" b="1" i="0">
                <a:solidFill>
                  <a:srgbClr val="1E2428"/>
                </a:solidFill>
                <a:latin typeface="Calibri"/>
              </a:rPr>
              <a:t>the release surface is too small — the concept is limited by the roof, not by the idea</a:t>
            </a:r>
          </a:p>
        </p:txBody>
      </p:sp>
      <p:sp>
        <p:nvSpPr>
          <p:cNvPr id="22" name="TextBox 21"/>
          <p:cNvSpPr txBox="1"/>
          <p:nvPr/>
        </p:nvSpPr>
        <p:spPr>
          <a:xfrm>
            <a:off x="777240" y="6035040"/>
            <a:ext cx="10607040" cy="502920"/>
          </a:xfrm>
          <a:prstGeom prst="rect">
            <a:avLst/>
          </a:prstGeom>
          <a:noFill/>
        </p:spPr>
        <p:txBody>
          <a:bodyPr wrap="square" lIns="0" rIns="0" tIns="0" bIns="0">
            <a:spAutoFit/>
          </a:bodyPr>
          <a:lstStyle/>
          <a:p>
            <a:pPr algn="l">
              <a:lnSpc>
                <a:spcPct val="120000"/>
              </a:lnSpc>
              <a:spcAft>
                <a:spcPts val="0"/>
              </a:spcAft>
            </a:pPr>
            <a:r>
              <a:rPr sz="1500" b="1" i="0">
                <a:solidFill>
                  <a:srgbClr val="6B7277"/>
                </a:solidFill>
                <a:latin typeface="Calibri"/>
              </a:rPr>
              <a:t>LIMITS — nothing built or measured  ·  no LCA  ·  10 of 21 models still cited to AskNature alone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