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68680" y="1874519"/>
            <a:ext cx="4206240" cy="41148"/>
          </a:xfrm>
          <a:prstGeom prst="rect">
            <a:avLst/>
          </a:prstGeom>
          <a:solidFill>
            <a:srgbClr val="1A1B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822960"/>
            <a:ext cx="10637215" cy="1005840"/>
          </a:xfrm>
          <a:prstGeom prst="rect">
            <a:avLst/>
          </a:prstGeom>
          <a:noFill/>
        </p:spPr>
        <p:txBody>
          <a:bodyPr wrap="square" lIns="0" rIns="0" tIns="0" bIns="0" anchor="t">
            <a:spAutoFit/>
          </a:bodyPr>
          <a:lstStyle/>
          <a:p>
            <a:pPr algn="l">
              <a:lnSpc>
                <a:spcPct val="115000"/>
              </a:lnSpc>
              <a:spcBef>
                <a:spcPts val="0"/>
              </a:spcBef>
              <a:spcAft>
                <a:spcPts val="1400"/>
              </a:spcAft>
            </a:pPr>
            <a:r>
              <a:rPr sz="1000" b="1" i="0" spc="200">
                <a:solidFill>
                  <a:srgbClr val="86867C"/>
                </a:solidFill>
                <a:latin typeface="Arial"/>
              </a:rPr>
              <a:t>ZHAW · BLOCKWEEK BIONICS 2026 · CHALLENGE 1</a:t>
            </a:r>
          </a:p>
        </p:txBody>
      </p:sp>
      <p:sp>
        <p:nvSpPr>
          <p:cNvPr id="5" name="TextBox 4"/>
          <p:cNvSpPr txBox="1"/>
          <p:nvPr/>
        </p:nvSpPr>
        <p:spPr>
          <a:xfrm>
            <a:off x="868680" y="2148840"/>
            <a:ext cx="8778240" cy="1828800"/>
          </a:xfrm>
          <a:prstGeom prst="rect">
            <a:avLst/>
          </a:prstGeom>
          <a:noFill/>
        </p:spPr>
        <p:txBody>
          <a:bodyPr wrap="square" lIns="0" rIns="0" tIns="0" bIns="0" anchor="t">
            <a:spAutoFit/>
          </a:bodyPr>
          <a:lstStyle/>
          <a:p>
            <a:pPr algn="l">
              <a:lnSpc>
                <a:spcPct val="95000"/>
              </a:lnSpc>
              <a:spcBef>
                <a:spcPts val="0"/>
              </a:spcBef>
              <a:spcAft>
                <a:spcPts val="0"/>
              </a:spcAft>
            </a:pPr>
            <a:r>
              <a:rPr sz="4600" b="1" i="0">
                <a:solidFill>
                  <a:srgbClr val="1A1B19"/>
                </a:solidFill>
                <a:latin typeface="Arial"/>
              </a:rPr>
              <a:t>Discovering &amp;</a:t>
            </a:r>
          </a:p>
          <a:p>
            <a:pPr algn="l">
              <a:lnSpc>
                <a:spcPct val="95000"/>
              </a:lnSpc>
              <a:spcBef>
                <a:spcPts val="0"/>
              </a:spcBef>
              <a:spcAft>
                <a:spcPts val="1600"/>
              </a:spcAft>
            </a:pPr>
            <a:r>
              <a:rPr sz="4600" b="1" i="0">
                <a:solidFill>
                  <a:srgbClr val="1A1B19"/>
                </a:solidFill>
                <a:latin typeface="Arial"/>
              </a:rPr>
              <a:t>Abstracting</a:t>
            </a:r>
          </a:p>
        </p:txBody>
      </p:sp>
      <p:sp>
        <p:nvSpPr>
          <p:cNvPr id="6" name="TextBox 5"/>
          <p:cNvSpPr txBox="1"/>
          <p:nvPr/>
        </p:nvSpPr>
        <p:spPr>
          <a:xfrm>
            <a:off x="868680" y="3977639"/>
            <a:ext cx="7863840" cy="1280160"/>
          </a:xfrm>
          <a:prstGeom prst="rect">
            <a:avLst/>
          </a:prstGeom>
          <a:noFill/>
        </p:spPr>
        <p:txBody>
          <a:bodyPr wrap="square" lIns="0" rIns="0" tIns="0" bIns="0" anchor="t">
            <a:spAutoFit/>
          </a:bodyPr>
          <a:lstStyle/>
          <a:p>
            <a:pPr algn="l">
              <a:lnSpc>
                <a:spcPct val="130000"/>
              </a:lnSpc>
              <a:spcBef>
                <a:spcPts val="0"/>
              </a:spcBef>
              <a:spcAft>
                <a:spcPts val="400"/>
              </a:spcAft>
            </a:pPr>
            <a:r>
              <a:rPr sz="1500" b="0" i="0">
                <a:solidFill>
                  <a:srgbClr val="4A4B45"/>
                </a:solidFill>
                <a:latin typeface="Georgia"/>
              </a:rPr>
              <a:t>Twelve biological models for cooling a city, the mechanism behind each one, and what it would mean for Zurich.</a:t>
            </a:r>
          </a:p>
        </p:txBody>
      </p:sp>
      <p:sp>
        <p:nvSpPr>
          <p:cNvPr id="7" name="TextBox 6"/>
          <p:cNvSpPr txBox="1"/>
          <p:nvPr/>
        </p:nvSpPr>
        <p:spPr>
          <a:xfrm>
            <a:off x="868680" y="5257800"/>
            <a:ext cx="2377440" cy="822960"/>
          </a:xfrm>
          <a:prstGeom prst="rect">
            <a:avLst/>
          </a:prstGeom>
          <a:noFill/>
        </p:spPr>
        <p:txBody>
          <a:bodyPr wrap="square" lIns="0" rIns="0" tIns="0" bIns="0" anchor="t">
            <a:spAutoFit/>
          </a:bodyPr>
          <a:lstStyle/>
          <a:p>
            <a:pPr algn="l">
              <a:lnSpc>
                <a:spcPct val="115000"/>
              </a:lnSpc>
              <a:spcBef>
                <a:spcPts val="0"/>
              </a:spcBef>
              <a:spcAft>
                <a:spcPts val="400"/>
              </a:spcAft>
            </a:pPr>
            <a:r>
              <a:rPr sz="850" b="1" i="0" spc="140">
                <a:solidFill>
                  <a:srgbClr val="86867C"/>
                </a:solidFill>
                <a:latin typeface="Arial"/>
              </a:rPr>
              <a:t>MODELS FOUND</a:t>
            </a:r>
          </a:p>
          <a:p>
            <a:pPr algn="l">
              <a:lnSpc>
                <a:spcPct val="115000"/>
              </a:lnSpc>
              <a:spcBef>
                <a:spcPts val="0"/>
              </a:spcBef>
              <a:spcAft>
                <a:spcPts val="0"/>
              </a:spcAft>
            </a:pPr>
            <a:r>
              <a:rPr sz="1700" b="1" i="0">
                <a:solidFill>
                  <a:srgbClr val="1A1B19"/>
                </a:solidFill>
                <a:latin typeface="Arial"/>
              </a:rPr>
              <a:t>12</a:t>
            </a:r>
          </a:p>
        </p:txBody>
      </p:sp>
      <p:sp>
        <p:nvSpPr>
          <p:cNvPr id="8" name="TextBox 7"/>
          <p:cNvSpPr txBox="1"/>
          <p:nvPr/>
        </p:nvSpPr>
        <p:spPr>
          <a:xfrm>
            <a:off x="3520440" y="5257800"/>
            <a:ext cx="2377440" cy="822960"/>
          </a:xfrm>
          <a:prstGeom prst="rect">
            <a:avLst/>
          </a:prstGeom>
          <a:noFill/>
        </p:spPr>
        <p:txBody>
          <a:bodyPr wrap="square" lIns="0" rIns="0" tIns="0" bIns="0" anchor="t">
            <a:spAutoFit/>
          </a:bodyPr>
          <a:lstStyle/>
          <a:p>
            <a:pPr algn="l">
              <a:lnSpc>
                <a:spcPct val="115000"/>
              </a:lnSpc>
              <a:spcBef>
                <a:spcPts val="0"/>
              </a:spcBef>
              <a:spcAft>
                <a:spcPts val="400"/>
              </a:spcAft>
            </a:pPr>
            <a:r>
              <a:rPr sz="850" b="1" i="0" spc="140">
                <a:solidFill>
                  <a:srgbClr val="86867C"/>
                </a:solidFill>
                <a:latin typeface="Arial"/>
              </a:rPr>
              <a:t>DE-SELECTED</a:t>
            </a:r>
          </a:p>
          <a:p>
            <a:pPr algn="l">
              <a:lnSpc>
                <a:spcPct val="115000"/>
              </a:lnSpc>
              <a:spcBef>
                <a:spcPts val="0"/>
              </a:spcBef>
              <a:spcAft>
                <a:spcPts val="0"/>
              </a:spcAft>
            </a:pPr>
            <a:r>
              <a:rPr sz="1700" b="1" i="0">
                <a:solidFill>
                  <a:srgbClr val="1A1B19"/>
                </a:solidFill>
                <a:latin typeface="Arial"/>
              </a:rPr>
              <a:t>4</a:t>
            </a:r>
          </a:p>
        </p:txBody>
      </p:sp>
      <p:sp>
        <p:nvSpPr>
          <p:cNvPr id="9" name="TextBox 8"/>
          <p:cNvSpPr txBox="1"/>
          <p:nvPr/>
        </p:nvSpPr>
        <p:spPr>
          <a:xfrm>
            <a:off x="6172200" y="5257800"/>
            <a:ext cx="2377440" cy="822960"/>
          </a:xfrm>
          <a:prstGeom prst="rect">
            <a:avLst/>
          </a:prstGeom>
          <a:noFill/>
        </p:spPr>
        <p:txBody>
          <a:bodyPr wrap="square" lIns="0" rIns="0" tIns="0" bIns="0" anchor="t">
            <a:spAutoFit/>
          </a:bodyPr>
          <a:lstStyle/>
          <a:p>
            <a:pPr algn="l">
              <a:lnSpc>
                <a:spcPct val="115000"/>
              </a:lnSpc>
              <a:spcBef>
                <a:spcPts val="0"/>
              </a:spcBef>
              <a:spcAft>
                <a:spcPts val="400"/>
              </a:spcAft>
            </a:pPr>
            <a:r>
              <a:rPr sz="850" b="1" i="0" spc="140">
                <a:solidFill>
                  <a:srgbClr val="86867C"/>
                </a:solidFill>
                <a:latin typeface="Arial"/>
              </a:rPr>
              <a:t>FUNCTIONS COVERED</a:t>
            </a:r>
          </a:p>
          <a:p>
            <a:pPr algn="l">
              <a:lnSpc>
                <a:spcPct val="115000"/>
              </a:lnSpc>
              <a:spcBef>
                <a:spcPts val="0"/>
              </a:spcBef>
              <a:spcAft>
                <a:spcPts val="0"/>
              </a:spcAft>
            </a:pPr>
            <a:r>
              <a:rPr sz="1700" b="1" i="0">
                <a:solidFill>
                  <a:srgbClr val="1A1B19"/>
                </a:solidFill>
                <a:latin typeface="Arial"/>
              </a:rPr>
              <a:t>F1–F11</a:t>
            </a:r>
          </a:p>
        </p:txBody>
      </p:sp>
      <p:sp>
        <p:nvSpPr>
          <p:cNvPr id="10" name="TextBox 9"/>
          <p:cNvSpPr txBox="1"/>
          <p:nvPr/>
        </p:nvSpPr>
        <p:spPr>
          <a:xfrm>
            <a:off x="8823960" y="5257800"/>
            <a:ext cx="2377440" cy="822960"/>
          </a:xfrm>
          <a:prstGeom prst="rect">
            <a:avLst/>
          </a:prstGeom>
          <a:noFill/>
        </p:spPr>
        <p:txBody>
          <a:bodyPr wrap="square" lIns="0" rIns="0" tIns="0" bIns="0" anchor="t">
            <a:spAutoFit/>
          </a:bodyPr>
          <a:lstStyle/>
          <a:p>
            <a:pPr algn="l">
              <a:lnSpc>
                <a:spcPct val="115000"/>
              </a:lnSpc>
              <a:spcBef>
                <a:spcPts val="0"/>
              </a:spcBef>
              <a:spcAft>
                <a:spcPts val="400"/>
              </a:spcAft>
            </a:pPr>
            <a:r>
              <a:rPr sz="850" b="1" i="0" spc="140">
                <a:solidFill>
                  <a:srgbClr val="86867C"/>
                </a:solidFill>
                <a:latin typeface="Arial"/>
              </a:rPr>
              <a:t>REFERENCE CITY</a:t>
            </a:r>
          </a:p>
          <a:p>
            <a:pPr algn="l">
              <a:lnSpc>
                <a:spcPct val="115000"/>
              </a:lnSpc>
              <a:spcBef>
                <a:spcPts val="0"/>
              </a:spcBef>
              <a:spcAft>
                <a:spcPts val="0"/>
              </a:spcAft>
            </a:pPr>
            <a:r>
              <a:rPr sz="1700" b="1" i="0">
                <a:solidFill>
                  <a:srgbClr val="1A1B19"/>
                </a:solidFill>
                <a:latin typeface="Arial"/>
              </a:rPr>
              <a:t>Zurich</a:t>
            </a:r>
          </a:p>
        </p:txBody>
      </p:sp>
      <p:sp>
        <p:nvSpPr>
          <p:cNvPr id="11" name="TextBox 10"/>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Cooling the City — urban heat islands</a:t>
            </a:r>
          </a:p>
        </p:txBody>
      </p:sp>
      <p:sp>
        <p:nvSpPr>
          <p:cNvPr id="12" name="Rectangle 11"/>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AE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AE3B2E"/>
                </a:solidFill>
                <a:latin typeface="Arial"/>
              </a:rPr>
              <a:t>THE PHASE</a:t>
            </a:r>
          </a:p>
        </p:txBody>
      </p:sp>
      <p:sp>
        <p:nvSpPr>
          <p:cNvPr id="5" name="TextBox 4"/>
          <p:cNvSpPr txBox="1"/>
          <p:nvPr/>
        </p:nvSpPr>
        <p:spPr>
          <a:xfrm>
            <a:off x="868680" y="841248"/>
            <a:ext cx="10241280" cy="914400"/>
          </a:xfrm>
          <a:prstGeom prst="rect">
            <a:avLst/>
          </a:prstGeom>
          <a:noFill/>
        </p:spPr>
        <p:txBody>
          <a:bodyPr wrap="square" lIns="0" rIns="0" tIns="0" bIns="0" anchor="t">
            <a:spAutoFit/>
          </a:bodyPr>
          <a:lstStyle/>
          <a:p>
            <a:pPr algn="l">
              <a:lnSpc>
                <a:spcPct val="102000"/>
              </a:lnSpc>
              <a:spcBef>
                <a:spcPts val="0"/>
              </a:spcBef>
              <a:spcAft>
                <a:spcPts val="400"/>
              </a:spcAft>
            </a:pPr>
            <a:r>
              <a:rPr sz="3000" b="1" i="0">
                <a:solidFill>
                  <a:srgbClr val="1A1B19"/>
                </a:solidFill>
                <a:latin typeface="Arial"/>
              </a:rPr>
              <a:t>What this step has to deliver</a:t>
            </a:r>
          </a:p>
        </p:txBody>
      </p:sp>
      <p:sp>
        <p:nvSpPr>
          <p:cNvPr id="6" name="TextBox 5"/>
          <p:cNvSpPr txBox="1"/>
          <p:nvPr/>
        </p:nvSpPr>
        <p:spPr>
          <a:xfrm>
            <a:off x="868680" y="1691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AE3B2E"/>
                </a:solidFill>
                <a:latin typeface="Arial"/>
              </a:rPr>
              <a:t>THE SPIRAL</a:t>
            </a:r>
          </a:p>
          <a:p>
            <a:pPr algn="l">
              <a:lnSpc>
                <a:spcPct val="125000"/>
              </a:lnSpc>
              <a:spcBef>
                <a:spcPts val="0"/>
              </a:spcBef>
              <a:spcAft>
                <a:spcPts val="0"/>
              </a:spcAft>
            </a:pPr>
            <a:r>
              <a:rPr sz="1300" b="0" i="0">
                <a:solidFill>
                  <a:srgbClr val="4A4B45"/>
                </a:solidFill>
                <a:latin typeface="Georgia"/>
              </a:rPr>
              <a:t>Discovering has two halves. DISCOVER: find biological models and the evidence for them. ABSTRACT: turn each mechanism into a transferable design principle — without copying the organism's shape.</a:t>
            </a:r>
          </a:p>
        </p:txBody>
      </p:sp>
      <p:sp>
        <p:nvSpPr>
          <p:cNvPr id="7" name="TextBox 6"/>
          <p:cNvSpPr txBox="1"/>
          <p:nvPr/>
        </p:nvSpPr>
        <p:spPr>
          <a:xfrm>
            <a:off x="868680" y="2834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AE3B2E"/>
                </a:solidFill>
                <a:latin typeface="Arial"/>
              </a:rPr>
              <a:t>REQUIRED OUTPUT</a:t>
            </a:r>
          </a:p>
          <a:p>
            <a:pPr algn="l">
              <a:lnSpc>
                <a:spcPct val="125000"/>
              </a:lnSpc>
              <a:spcBef>
                <a:spcPts val="0"/>
              </a:spcBef>
              <a:spcAft>
                <a:spcPts val="0"/>
              </a:spcAft>
            </a:pPr>
            <a:r>
              <a:rPr sz="1300" b="0" i="0">
                <a:solidFill>
                  <a:srgbClr val="4A4B45"/>
                </a:solidFill>
                <a:latin typeface="Georgia"/>
              </a:rPr>
              <a:t>At least three biological models, an explicit research path showing how they were found and why others were dropped, mechanisms explained in depth, and a clean separation of biological observation, abstracted principle and possible technical interpretation.</a:t>
            </a:r>
          </a:p>
        </p:txBody>
      </p:sp>
      <p:sp>
        <p:nvSpPr>
          <p:cNvPr id="8" name="TextBox 7"/>
          <p:cNvSpPr txBox="1"/>
          <p:nvPr/>
        </p:nvSpPr>
        <p:spPr>
          <a:xfrm>
            <a:off x="868680" y="3977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AE3B2E"/>
                </a:solidFill>
                <a:latin typeface="Arial"/>
              </a:rPr>
              <a:t>WHAT WE HAVE</a:t>
            </a:r>
          </a:p>
          <a:p>
            <a:pPr algn="l">
              <a:lnSpc>
                <a:spcPct val="125000"/>
              </a:lnSpc>
              <a:spcBef>
                <a:spcPts val="0"/>
              </a:spcBef>
              <a:spcAft>
                <a:spcPts val="0"/>
              </a:spcAft>
            </a:pPr>
            <a:r>
              <a:rPr sz="1300" b="0" i="0">
                <a:solidFill>
                  <a:srgbClr val="4A4B45"/>
                </a:solidFill>
                <a:latin typeface="Georgia"/>
              </a:rPr>
              <a:t>Twelve models, each mapped to one of our functions F1–F11, plus four documented de-selections. The abstraction of every model is stated on its own slide, in the highlighted band.</a:t>
            </a:r>
          </a:p>
        </p:txBody>
      </p:sp>
      <p:sp>
        <p:nvSpPr>
          <p:cNvPr id="9" name="TextBox 8"/>
          <p:cNvSpPr txBox="1"/>
          <p:nvPr/>
        </p:nvSpPr>
        <p:spPr>
          <a:xfrm>
            <a:off x="868680" y="5623560"/>
            <a:ext cx="10424160" cy="548640"/>
          </a:xfrm>
          <a:prstGeom prst="rect">
            <a:avLst/>
          </a:prstGeom>
          <a:noFill/>
        </p:spPr>
        <p:txBody>
          <a:bodyPr wrap="square" lIns="0" rIns="0" tIns="0" bIns="0" anchor="t">
            <a:spAutoFit/>
          </a:bodyPr>
          <a:lstStyle/>
          <a:p>
            <a:pPr algn="l">
              <a:lnSpc>
                <a:spcPct val="120000"/>
              </a:lnSpc>
              <a:spcBef>
                <a:spcPts val="0"/>
              </a:spcBef>
              <a:spcAft>
                <a:spcPts val="400"/>
              </a:spcAft>
            </a:pPr>
            <a:r>
              <a:rPr sz="1150" b="0" i="1">
                <a:solidFill>
                  <a:srgbClr val="86867C"/>
                </a:solidFill>
                <a:latin typeface="Georgia"/>
              </a:rPr>
              <a:t>"Do not stop at the organism. The mechanism is more important than the name." — Discovering lecture, slide 34</a:t>
            </a:r>
          </a:p>
        </p:txBody>
      </p:sp>
      <p:sp>
        <p:nvSpPr>
          <p:cNvPr id="10" name="TextBox 9"/>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THE PHASE</a:t>
            </a:r>
          </a:p>
        </p:txBody>
      </p:sp>
      <p:sp>
        <p:nvSpPr>
          <p:cNvPr id="11" name="Rectangle 10"/>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1570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15709F"/>
                </a:solidFill>
                <a:latin typeface="Arial"/>
              </a:rPr>
              <a:t>RESEARCH PATH</a:t>
            </a:r>
          </a:p>
        </p:txBody>
      </p:sp>
      <p:sp>
        <p:nvSpPr>
          <p:cNvPr id="5" name="TextBox 4"/>
          <p:cNvSpPr txBox="1"/>
          <p:nvPr/>
        </p:nvSpPr>
        <p:spPr>
          <a:xfrm>
            <a:off x="868680" y="841248"/>
            <a:ext cx="10241280" cy="914400"/>
          </a:xfrm>
          <a:prstGeom prst="rect">
            <a:avLst/>
          </a:prstGeom>
          <a:noFill/>
        </p:spPr>
        <p:txBody>
          <a:bodyPr wrap="square" lIns="0" rIns="0" tIns="0" bIns="0" anchor="t">
            <a:spAutoFit/>
          </a:bodyPr>
          <a:lstStyle/>
          <a:p>
            <a:pPr algn="l">
              <a:lnSpc>
                <a:spcPct val="102000"/>
              </a:lnSpc>
              <a:spcBef>
                <a:spcPts val="0"/>
              </a:spcBef>
              <a:spcAft>
                <a:spcPts val="400"/>
              </a:spcAft>
            </a:pPr>
            <a:r>
              <a:rPr sz="3000" b="1" i="0">
                <a:solidFill>
                  <a:srgbClr val="1A1B19"/>
                </a:solidFill>
                <a:latin typeface="Arial"/>
              </a:rPr>
              <a:t>How we searched</a:t>
            </a:r>
          </a:p>
        </p:txBody>
      </p:sp>
      <p:sp>
        <p:nvSpPr>
          <p:cNvPr id="6" name="TextBox 5"/>
          <p:cNvSpPr txBox="1"/>
          <p:nvPr/>
        </p:nvSpPr>
        <p:spPr>
          <a:xfrm>
            <a:off x="868680" y="1691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15709F"/>
                </a:solidFill>
                <a:latin typeface="Arial"/>
              </a:rPr>
              <a:t>BY FUNCTION, NOT BY ORGANISM</a:t>
            </a:r>
          </a:p>
          <a:p>
            <a:pPr algn="l">
              <a:lnSpc>
                <a:spcPct val="125000"/>
              </a:lnSpc>
              <a:spcBef>
                <a:spcPts val="0"/>
              </a:spcBef>
              <a:spcAft>
                <a:spcPts val="0"/>
              </a:spcAft>
            </a:pPr>
            <a:r>
              <a:rPr sz="1300" b="0" i="0">
                <a:solidFill>
                  <a:srgbClr val="4A4B45"/>
                </a:solidFill>
                <a:latin typeface="Georgia"/>
              </a:rPr>
              <a:t>Every search started from a verb in our function list, never from an animal. "How does nature emit heat to the night sky?" — not "how does a termite mound work?"</a:t>
            </a:r>
          </a:p>
        </p:txBody>
      </p:sp>
      <p:sp>
        <p:nvSpPr>
          <p:cNvPr id="7" name="TextBox 6"/>
          <p:cNvSpPr txBox="1"/>
          <p:nvPr/>
        </p:nvSpPr>
        <p:spPr>
          <a:xfrm>
            <a:off x="868680" y="2834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15709F"/>
                </a:solidFill>
                <a:latin typeface="Arial"/>
              </a:rPr>
              <a:t>THE TAXONOMY AS THE MAP</a:t>
            </a:r>
          </a:p>
          <a:p>
            <a:pPr algn="l">
              <a:lnSpc>
                <a:spcPct val="125000"/>
              </a:lnSpc>
              <a:spcBef>
                <a:spcPts val="0"/>
              </a:spcBef>
              <a:spcAft>
                <a:spcPts val="0"/>
              </a:spcAft>
            </a:pPr>
            <a:r>
              <a:rPr sz="1300" b="0" i="0">
                <a:solidFill>
                  <a:srgbClr val="4A4B45"/>
                </a:solidFill>
                <a:latin typeface="Georgia"/>
              </a:rPr>
              <a:t>F1 reflect → Modify physical state: light/colour. F2 emit → Transform energy: thermal. F6–F8 water → Capture, Store and Distribute liquids. F9 is the exception: it is the pairing of Sense signals: temperature with Process signals: respond to signals.</a:t>
            </a:r>
          </a:p>
        </p:txBody>
      </p:sp>
      <p:sp>
        <p:nvSpPr>
          <p:cNvPr id="8" name="TextBox 7"/>
          <p:cNvSpPr txBox="1"/>
          <p:nvPr/>
        </p:nvSpPr>
        <p:spPr>
          <a:xfrm>
            <a:off x="868680" y="3977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15709F"/>
                </a:solidFill>
                <a:latin typeface="Arial"/>
              </a:rPr>
              <a:t>FOUR SOURCE TYPES</a:t>
            </a:r>
          </a:p>
          <a:p>
            <a:pPr algn="l">
              <a:lnSpc>
                <a:spcPct val="125000"/>
              </a:lnSpc>
              <a:spcBef>
                <a:spcPts val="0"/>
              </a:spcBef>
              <a:spcAft>
                <a:spcPts val="0"/>
              </a:spcAft>
            </a:pPr>
            <a:r>
              <a:rPr sz="1300" b="0" i="0">
                <a:solidFill>
                  <a:srgbClr val="4A4B45"/>
                </a:solidFill>
                <a:latin typeface="Georgia"/>
              </a:rPr>
              <a:t>AskNature strategies and innovations · the Genius of Biome report for the temperate broadleaf forest, which is Zurich's own biome · primary papers behind each claim · commercial products where the transfer has already been made.</a:t>
            </a:r>
          </a:p>
        </p:txBody>
      </p:sp>
      <p:sp>
        <p:nvSpPr>
          <p:cNvPr id="9" name="TextBox 8"/>
          <p:cNvSpPr txBox="1"/>
          <p:nvPr/>
        </p:nvSpPr>
        <p:spPr>
          <a:xfrm>
            <a:off x="868680" y="5623560"/>
            <a:ext cx="10424160" cy="548640"/>
          </a:xfrm>
          <a:prstGeom prst="rect">
            <a:avLst/>
          </a:prstGeom>
          <a:noFill/>
        </p:spPr>
        <p:txBody>
          <a:bodyPr wrap="square" lIns="0" rIns="0" tIns="0" bIns="0" anchor="t">
            <a:spAutoFit/>
          </a:bodyPr>
          <a:lstStyle/>
          <a:p>
            <a:pPr algn="l">
              <a:lnSpc>
                <a:spcPct val="120000"/>
              </a:lnSpc>
              <a:spcBef>
                <a:spcPts val="0"/>
              </a:spcBef>
              <a:spcAft>
                <a:spcPts val="400"/>
              </a:spcAft>
            </a:pPr>
            <a:r>
              <a:rPr sz="1150" b="0" i="1">
                <a:solidFill>
                  <a:srgbClr val="86867C"/>
                </a:solidFill>
                <a:latin typeface="Georgia"/>
              </a:rPr>
              <a:t>Discovery is not evidence. AskNature and AI find candidates; the paper or the measurement is what we cite.</a:t>
            </a:r>
          </a:p>
        </p:txBody>
      </p:sp>
      <p:sp>
        <p:nvSpPr>
          <p:cNvPr id="10" name="TextBox 9"/>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RESEARCH PATH</a:t>
            </a:r>
          </a:p>
        </p:txBody>
      </p:sp>
      <p:sp>
        <p:nvSpPr>
          <p:cNvPr id="11" name="Rectangle 10"/>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A88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A8871A"/>
                </a:solidFill>
                <a:latin typeface="Arial"/>
              </a:rPr>
              <a:t>BIOLOGIZED QUESTIONS</a:t>
            </a:r>
          </a:p>
        </p:txBody>
      </p:sp>
      <p:sp>
        <p:nvSpPr>
          <p:cNvPr id="5" name="TextBox 4"/>
          <p:cNvSpPr txBox="1"/>
          <p:nvPr/>
        </p:nvSpPr>
        <p:spPr>
          <a:xfrm>
            <a:off x="868680" y="841248"/>
            <a:ext cx="10241280" cy="914400"/>
          </a:xfrm>
          <a:prstGeom prst="rect">
            <a:avLst/>
          </a:prstGeom>
          <a:noFill/>
        </p:spPr>
        <p:txBody>
          <a:bodyPr wrap="square" lIns="0" rIns="0" tIns="0" bIns="0" anchor="t">
            <a:spAutoFit/>
          </a:bodyPr>
          <a:lstStyle/>
          <a:p>
            <a:pPr algn="l">
              <a:lnSpc>
                <a:spcPct val="102000"/>
              </a:lnSpc>
              <a:spcBef>
                <a:spcPts val="0"/>
              </a:spcBef>
              <a:spcAft>
                <a:spcPts val="400"/>
              </a:spcAft>
            </a:pPr>
            <a:r>
              <a:rPr sz="3000" b="1" i="0">
                <a:solidFill>
                  <a:srgbClr val="1A1B19"/>
                </a:solidFill>
                <a:latin typeface="Arial"/>
              </a:rPr>
              <a:t>From our functions to questions for nature</a:t>
            </a:r>
          </a:p>
        </p:txBody>
      </p:sp>
      <p:sp>
        <p:nvSpPr>
          <p:cNvPr id="6" name="TextBox 5"/>
          <p:cNvSpPr txBox="1"/>
          <p:nvPr/>
        </p:nvSpPr>
        <p:spPr>
          <a:xfrm>
            <a:off x="868680" y="1691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A8871A"/>
                </a:solidFill>
                <a:latin typeface="Arial"/>
              </a:rPr>
              <a:t>PREVENTION — F1, F5</a:t>
            </a:r>
          </a:p>
          <a:p>
            <a:pPr algn="l">
              <a:lnSpc>
                <a:spcPct val="125000"/>
              </a:lnSpc>
              <a:spcBef>
                <a:spcPts val="0"/>
              </a:spcBef>
              <a:spcAft>
                <a:spcPts val="0"/>
              </a:spcAft>
            </a:pPr>
            <a:r>
              <a:rPr sz="1300" b="0" i="0">
                <a:solidFill>
                  <a:srgbClr val="4A4B45"/>
                </a:solidFill>
                <a:latin typeface="Georgia"/>
              </a:rPr>
              <a:t>How does nature reflect intense sunlight without pigments that bleach and without a mirror finish? How does nature shade itself with its own geometry?</a:t>
            </a:r>
          </a:p>
        </p:txBody>
      </p:sp>
      <p:sp>
        <p:nvSpPr>
          <p:cNvPr id="7" name="TextBox 6"/>
          <p:cNvSpPr txBox="1"/>
          <p:nvPr/>
        </p:nvSpPr>
        <p:spPr>
          <a:xfrm>
            <a:off x="868680" y="2834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A8871A"/>
                </a:solidFill>
                <a:latin typeface="Arial"/>
              </a:rPr>
              <a:t>REMOVAL — F2, F3, F4</a:t>
            </a:r>
          </a:p>
          <a:p>
            <a:pPr algn="l">
              <a:lnSpc>
                <a:spcPct val="125000"/>
              </a:lnSpc>
              <a:spcBef>
                <a:spcPts val="0"/>
              </a:spcBef>
              <a:spcAft>
                <a:spcPts val="0"/>
              </a:spcAft>
            </a:pPr>
            <a:r>
              <a:rPr sz="1300" b="0" i="0">
                <a:solidFill>
                  <a:srgbClr val="4A4B45"/>
                </a:solidFill>
                <a:latin typeface="Georgia"/>
              </a:rPr>
              <a:t>How does nature release heat to the night sky? How does nature hand heat to moving air? How does nature buffer a daily extreme instead of resisting it?</a:t>
            </a:r>
          </a:p>
        </p:txBody>
      </p:sp>
      <p:sp>
        <p:nvSpPr>
          <p:cNvPr id="8" name="TextBox 7"/>
          <p:cNvSpPr txBox="1"/>
          <p:nvPr/>
        </p:nvSpPr>
        <p:spPr>
          <a:xfrm>
            <a:off x="868680" y="3977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A8871A"/>
                </a:solidFill>
                <a:latin typeface="Arial"/>
              </a:rPr>
              <a:t>WATER AND REGULATION — F6–F9</a:t>
            </a:r>
          </a:p>
          <a:p>
            <a:pPr algn="l">
              <a:lnSpc>
                <a:spcPct val="125000"/>
              </a:lnSpc>
              <a:spcBef>
                <a:spcPts val="0"/>
              </a:spcBef>
              <a:spcAft>
                <a:spcPts val="0"/>
              </a:spcAft>
            </a:pPr>
            <a:r>
              <a:rPr sz="1300" b="0" i="0">
                <a:solidFill>
                  <a:srgbClr val="4A4B45"/>
                </a:solidFill>
                <a:latin typeface="Georgia"/>
              </a:rPr>
              <a:t>How does nature capture, store and meter out scarce water so a reserve lasts a dry period? And the central one: how does nature make a response stronger when the load is stronger, without a controller?</a:t>
            </a:r>
          </a:p>
        </p:txBody>
      </p:sp>
      <p:sp>
        <p:nvSpPr>
          <p:cNvPr id="9" name="TextBox 8"/>
          <p:cNvSpPr txBox="1"/>
          <p:nvPr/>
        </p:nvSpPr>
        <p:spPr>
          <a:xfrm>
            <a:off x="868680" y="5623560"/>
            <a:ext cx="10424160" cy="548640"/>
          </a:xfrm>
          <a:prstGeom prst="rect">
            <a:avLst/>
          </a:prstGeom>
          <a:noFill/>
        </p:spPr>
        <p:txBody>
          <a:bodyPr wrap="square" lIns="0" rIns="0" tIns="0" bIns="0" anchor="t">
            <a:spAutoFit/>
          </a:bodyPr>
          <a:lstStyle/>
          <a:p>
            <a:pPr algn="l">
              <a:lnSpc>
                <a:spcPct val="120000"/>
              </a:lnSpc>
              <a:spcBef>
                <a:spcPts val="0"/>
              </a:spcBef>
              <a:spcAft>
                <a:spcPts val="400"/>
              </a:spcAft>
            </a:pPr>
            <a:r>
              <a:rPr sz="1150" b="0" i="1">
                <a:solidFill>
                  <a:srgbClr val="86867C"/>
                </a:solidFill>
                <a:latin typeface="Georgia"/>
              </a:rPr>
              <a:t>The challenge brief asks a fourth question we should answer explicitly: what can we learn from desert organisms about passive cooling?</a:t>
            </a:r>
          </a:p>
        </p:txBody>
      </p:sp>
      <p:sp>
        <p:nvSpPr>
          <p:cNvPr id="10" name="TextBox 9"/>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BIOLOGIZED QUESTIONS</a:t>
            </a:r>
          </a:p>
        </p:txBody>
      </p:sp>
      <p:sp>
        <p:nvSpPr>
          <p:cNvPr id="11" name="Rectangle 10"/>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1570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15709F"/>
                </a:solidFill>
                <a:latin typeface="Arial"/>
              </a:rPr>
              <a:t>MODEL 01   ·   F2 · F3   REMOVAL</a:t>
            </a:r>
          </a:p>
        </p:txBody>
      </p:sp>
      <p:sp>
        <p:nvSpPr>
          <p:cNvPr id="5" name="TextBox 4"/>
          <p:cNvSpPr txBox="1"/>
          <p:nvPr/>
        </p:nvSpPr>
        <p:spPr>
          <a:xfrm>
            <a:off x="868680" y="822960"/>
            <a:ext cx="10241280" cy="685800"/>
          </a:xfrm>
          <a:prstGeom prst="rect">
            <a:avLst/>
          </a:prstGeom>
          <a:noFill/>
        </p:spPr>
        <p:txBody>
          <a:bodyPr wrap="square" lIns="0" rIns="0" tIns="0" bIns="0" anchor="t">
            <a:spAutoFit/>
          </a:bodyPr>
          <a:lstStyle/>
          <a:p>
            <a:pPr algn="l">
              <a:lnSpc>
                <a:spcPct val="100000"/>
              </a:lnSpc>
              <a:spcBef>
                <a:spcPts val="0"/>
              </a:spcBef>
              <a:spcAft>
                <a:spcPts val="300"/>
              </a:spcAft>
            </a:pPr>
            <a:r>
              <a:rPr sz="2900" b="1" i="0">
                <a:solidFill>
                  <a:srgbClr val="1A1B19"/>
                </a:solidFill>
                <a:latin typeface="Arial"/>
              </a:rPr>
              <a:t>African elephant — ears</a:t>
            </a:r>
          </a:p>
        </p:txBody>
      </p:sp>
      <p:sp>
        <p:nvSpPr>
          <p:cNvPr id="6" name="TextBox 5"/>
          <p:cNvSpPr txBox="1"/>
          <p:nvPr/>
        </p:nvSpPr>
        <p:spPr>
          <a:xfrm>
            <a:off x="868680" y="1389888"/>
            <a:ext cx="10241280" cy="365760"/>
          </a:xfrm>
          <a:prstGeom prst="rect">
            <a:avLst/>
          </a:prstGeom>
          <a:noFill/>
        </p:spPr>
        <p:txBody>
          <a:bodyPr wrap="square" lIns="0" rIns="0" tIns="0" bIns="0" anchor="t">
            <a:spAutoFit/>
          </a:bodyPr>
          <a:lstStyle/>
          <a:p>
            <a:pPr algn="l">
              <a:lnSpc>
                <a:spcPct val="115000"/>
              </a:lnSpc>
              <a:spcBef>
                <a:spcPts val="0"/>
              </a:spcBef>
              <a:spcAft>
                <a:spcPts val="0"/>
              </a:spcAft>
            </a:pPr>
            <a:r>
              <a:rPr sz="1250" b="0" i="1">
                <a:solidFill>
                  <a:srgbClr val="86867C"/>
                </a:solidFill>
                <a:latin typeface="Georgia"/>
              </a:rPr>
              <a:t>Loxodonta africana · dissipates body heat in hot, exposed habitat</a:t>
            </a:r>
          </a:p>
        </p:txBody>
      </p:sp>
      <p:sp>
        <p:nvSpPr>
          <p:cNvPr id="7" name="Rectangle 6"/>
          <p:cNvSpPr/>
          <p:nvPr/>
        </p:nvSpPr>
        <p:spPr>
          <a:xfrm>
            <a:off x="868680" y="1938528"/>
            <a:ext cx="10637215" cy="1097280"/>
          </a:xfrm>
          <a:prstGeom prst="rect">
            <a:avLst/>
          </a:prstGeom>
          <a:solidFill>
            <a:srgbClr val="D3D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68680" y="1938528"/>
            <a:ext cx="45720" cy="1097280"/>
          </a:xfrm>
          <a:prstGeom prst="rect">
            <a:avLst/>
          </a:prstGeom>
          <a:solidFill>
            <a:srgbClr val="1570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2075688"/>
            <a:ext cx="10088575" cy="731520"/>
          </a:xfrm>
          <a:prstGeom prst="rect">
            <a:avLst/>
          </a:prstGeom>
          <a:noFill/>
        </p:spPr>
        <p:txBody>
          <a:bodyPr wrap="square" lIns="0" rIns="0" tIns="0" bIns="0" anchor="t">
            <a:spAutoFit/>
          </a:bodyPr>
          <a:lstStyle/>
          <a:p>
            <a:pPr algn="l">
              <a:lnSpc>
                <a:spcPct val="115000"/>
              </a:lnSpc>
              <a:spcBef>
                <a:spcPts val="0"/>
              </a:spcBef>
              <a:spcAft>
                <a:spcPts val="500"/>
              </a:spcAft>
            </a:pPr>
            <a:r>
              <a:rPr sz="850" b="1" i="0" spc="150">
                <a:solidFill>
                  <a:srgbClr val="15709F"/>
                </a:solidFill>
                <a:latin typeface="Arial"/>
              </a:rPr>
              <a:t>ABSTRACTION</a:t>
            </a:r>
          </a:p>
          <a:p>
            <a:pPr algn="l">
              <a:lnSpc>
                <a:spcPct val="118000"/>
              </a:lnSpc>
              <a:spcBef>
                <a:spcPts val="0"/>
              </a:spcBef>
              <a:spcAft>
                <a:spcPts val="0"/>
              </a:spcAft>
            </a:pPr>
            <a:r>
              <a:rPr sz="1450" b="0" i="1">
                <a:solidFill>
                  <a:srgbClr val="1A1B19"/>
                </a:solidFill>
                <a:latin typeface="Georgia"/>
              </a:rPr>
              <a:t>Transfer heat to a large surface and increase the airflow around it.</a:t>
            </a:r>
          </a:p>
        </p:txBody>
      </p:sp>
      <p:sp>
        <p:nvSpPr>
          <p:cNvPr id="10" name="TextBox 9"/>
          <p:cNvSpPr txBox="1"/>
          <p:nvPr/>
        </p:nvSpPr>
        <p:spPr>
          <a:xfrm>
            <a:off x="868680"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THE MECHANISM</a:t>
            </a:r>
          </a:p>
          <a:p>
            <a:pPr algn="l">
              <a:lnSpc>
                <a:spcPct val="126000"/>
              </a:lnSpc>
              <a:spcBef>
                <a:spcPts val="0"/>
              </a:spcBef>
              <a:spcAft>
                <a:spcPts val="0"/>
              </a:spcAft>
            </a:pPr>
            <a:r>
              <a:rPr sz="1200" b="0" i="0">
                <a:solidFill>
                  <a:srgbClr val="4A4B45"/>
                </a:solidFill>
                <a:latin typeface="Georgia"/>
              </a:rPr>
              <a:t>Warm blood is carried from the body core into large, thin ears. The big, well-supplied surface lets heat escape to the air, and flapping raises the airflow across it.</a:t>
            </a:r>
          </a:p>
        </p:txBody>
      </p:sp>
      <p:sp>
        <p:nvSpPr>
          <p:cNvPr id="11" name="TextBox 10"/>
          <p:cNvSpPr txBox="1"/>
          <p:nvPr/>
        </p:nvSpPr>
        <p:spPr>
          <a:xfrm>
            <a:off x="6507327"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WHAT IT MEANS FOR THE CITY</a:t>
            </a:r>
          </a:p>
          <a:p>
            <a:pPr algn="l">
              <a:lnSpc>
                <a:spcPct val="126000"/>
              </a:lnSpc>
              <a:spcBef>
                <a:spcPts val="0"/>
              </a:spcBef>
              <a:spcAft>
                <a:spcPts val="0"/>
              </a:spcAft>
            </a:pPr>
            <a:r>
              <a:rPr sz="1200" b="0" i="0">
                <a:solidFill>
                  <a:srgbClr val="4A4B45"/>
                </a:solidFill>
                <a:latin typeface="Georgia"/>
              </a:rPr>
              <a:t>It separates where heat is picked up from where it is released. A canyon wall stores heat but cannot get rid of it; a dedicated, well-exposed surface can.</a:t>
            </a:r>
          </a:p>
        </p:txBody>
      </p:sp>
      <p:sp>
        <p:nvSpPr>
          <p:cNvPr id="12" name="TextBox 11"/>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asknature.org/strategy/large-ears-aid-cooling/</a:t>
            </a:r>
          </a:p>
        </p:txBody>
      </p:sp>
      <p:sp>
        <p:nvSpPr>
          <p:cNvPr id="13" name="Rectangle 12"/>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1570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15709F"/>
                </a:solidFill>
                <a:latin typeface="Arial"/>
              </a:rPr>
              <a:t>MODEL 02   ·   F3   REMOVAL</a:t>
            </a:r>
          </a:p>
        </p:txBody>
      </p:sp>
      <p:sp>
        <p:nvSpPr>
          <p:cNvPr id="5" name="TextBox 4"/>
          <p:cNvSpPr txBox="1"/>
          <p:nvPr/>
        </p:nvSpPr>
        <p:spPr>
          <a:xfrm>
            <a:off x="868680" y="822960"/>
            <a:ext cx="10241280" cy="685800"/>
          </a:xfrm>
          <a:prstGeom prst="rect">
            <a:avLst/>
          </a:prstGeom>
          <a:noFill/>
        </p:spPr>
        <p:txBody>
          <a:bodyPr wrap="square" lIns="0" rIns="0" tIns="0" bIns="0" anchor="t">
            <a:spAutoFit/>
          </a:bodyPr>
          <a:lstStyle/>
          <a:p>
            <a:pPr algn="l">
              <a:lnSpc>
                <a:spcPct val="100000"/>
              </a:lnSpc>
              <a:spcBef>
                <a:spcPts val="0"/>
              </a:spcBef>
              <a:spcAft>
                <a:spcPts val="300"/>
              </a:spcAft>
            </a:pPr>
            <a:r>
              <a:rPr sz="2900" b="1" i="0">
                <a:solidFill>
                  <a:srgbClr val="1A1B19"/>
                </a:solidFill>
                <a:latin typeface="Arial"/>
              </a:rPr>
              <a:t>Elephant skin — sparse hairs</a:t>
            </a:r>
          </a:p>
        </p:txBody>
      </p:sp>
      <p:sp>
        <p:nvSpPr>
          <p:cNvPr id="6" name="TextBox 5"/>
          <p:cNvSpPr txBox="1"/>
          <p:nvPr/>
        </p:nvSpPr>
        <p:spPr>
          <a:xfrm>
            <a:off x="868680" y="1389888"/>
            <a:ext cx="10241280" cy="365760"/>
          </a:xfrm>
          <a:prstGeom prst="rect">
            <a:avLst/>
          </a:prstGeom>
          <a:noFill/>
        </p:spPr>
        <p:txBody>
          <a:bodyPr wrap="square" lIns="0" rIns="0" tIns="0" bIns="0" anchor="t">
            <a:spAutoFit/>
          </a:bodyPr>
          <a:lstStyle/>
          <a:p>
            <a:pPr algn="l">
              <a:lnSpc>
                <a:spcPct val="115000"/>
              </a:lnSpc>
              <a:spcBef>
                <a:spcPts val="0"/>
              </a:spcBef>
              <a:spcAft>
                <a:spcPts val="0"/>
              </a:spcAft>
            </a:pPr>
            <a:r>
              <a:rPr sz="1250" b="0" i="1">
                <a:solidFill>
                  <a:srgbClr val="86867C"/>
                </a:solidFill>
                <a:latin typeface="Georgia"/>
              </a:rPr>
              <a:t>Micro-finned surface · heat transfer at low wind speed</a:t>
            </a:r>
          </a:p>
        </p:txBody>
      </p:sp>
      <p:sp>
        <p:nvSpPr>
          <p:cNvPr id="7" name="Rectangle 6"/>
          <p:cNvSpPr/>
          <p:nvPr/>
        </p:nvSpPr>
        <p:spPr>
          <a:xfrm>
            <a:off x="868680" y="1938528"/>
            <a:ext cx="10637215" cy="1097280"/>
          </a:xfrm>
          <a:prstGeom prst="rect">
            <a:avLst/>
          </a:prstGeom>
          <a:solidFill>
            <a:srgbClr val="D3D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68680" y="1938528"/>
            <a:ext cx="45720" cy="1097280"/>
          </a:xfrm>
          <a:prstGeom prst="rect">
            <a:avLst/>
          </a:prstGeom>
          <a:solidFill>
            <a:srgbClr val="1570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2075688"/>
            <a:ext cx="10088575" cy="731520"/>
          </a:xfrm>
          <a:prstGeom prst="rect">
            <a:avLst/>
          </a:prstGeom>
          <a:noFill/>
        </p:spPr>
        <p:txBody>
          <a:bodyPr wrap="square" lIns="0" rIns="0" tIns="0" bIns="0" anchor="t">
            <a:spAutoFit/>
          </a:bodyPr>
          <a:lstStyle/>
          <a:p>
            <a:pPr algn="l">
              <a:lnSpc>
                <a:spcPct val="115000"/>
              </a:lnSpc>
              <a:spcBef>
                <a:spcPts val="0"/>
              </a:spcBef>
              <a:spcAft>
                <a:spcPts val="500"/>
              </a:spcAft>
            </a:pPr>
            <a:r>
              <a:rPr sz="850" b="1" i="0" spc="150">
                <a:solidFill>
                  <a:srgbClr val="15709F"/>
                </a:solidFill>
                <a:latin typeface="Arial"/>
              </a:rPr>
              <a:t>ABSTRACTION</a:t>
            </a:r>
          </a:p>
          <a:p>
            <a:pPr algn="l">
              <a:lnSpc>
                <a:spcPct val="118000"/>
              </a:lnSpc>
              <a:spcBef>
                <a:spcPts val="0"/>
              </a:spcBef>
              <a:spcAft>
                <a:spcPts val="0"/>
              </a:spcAft>
            </a:pPr>
            <a:r>
              <a:rPr sz="1450" b="0" i="1">
                <a:solidFill>
                  <a:srgbClr val="1A1B19"/>
                </a:solidFill>
                <a:latin typeface="Georgia"/>
              </a:rPr>
              <a:t>Add small protrusions to break the boundary layer and hand heat over to passing air.</a:t>
            </a:r>
          </a:p>
        </p:txBody>
      </p:sp>
      <p:sp>
        <p:nvSpPr>
          <p:cNvPr id="10" name="TextBox 9"/>
          <p:cNvSpPr txBox="1"/>
          <p:nvPr/>
        </p:nvSpPr>
        <p:spPr>
          <a:xfrm>
            <a:off x="868680"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THE MECHANISM</a:t>
            </a:r>
          </a:p>
          <a:p>
            <a:pPr algn="l">
              <a:lnSpc>
                <a:spcPct val="126000"/>
              </a:lnSpc>
              <a:spcBef>
                <a:spcPts val="0"/>
              </a:spcBef>
              <a:spcAft>
                <a:spcPts val="0"/>
              </a:spcAft>
            </a:pPr>
            <a:r>
              <a:rPr sz="1200" b="0" i="0">
                <a:solidFill>
                  <a:srgbClr val="4A4B45"/>
                </a:solidFill>
                <a:latin typeface="Georgia"/>
              </a:rPr>
              <a:t>A thin layer of still air clings to any warm surface and insulates it. Sparse hairs reach through that boundary layer so moving air actually reaches the skin. Reported additional heat loss of up to 23 %.</a:t>
            </a:r>
          </a:p>
        </p:txBody>
      </p:sp>
      <p:sp>
        <p:nvSpPr>
          <p:cNvPr id="11" name="TextBox 10"/>
          <p:cNvSpPr txBox="1"/>
          <p:nvPr/>
        </p:nvSpPr>
        <p:spPr>
          <a:xfrm>
            <a:off x="6507327"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WHAT IT MEANS FOR THE CITY</a:t>
            </a:r>
          </a:p>
          <a:p>
            <a:pPr algn="l">
              <a:lnSpc>
                <a:spcPct val="126000"/>
              </a:lnSpc>
              <a:spcBef>
                <a:spcPts val="0"/>
              </a:spcBef>
              <a:spcAft>
                <a:spcPts val="0"/>
              </a:spcAft>
            </a:pPr>
            <a:r>
              <a:rPr sz="1200" b="0" i="0">
                <a:solidFill>
                  <a:srgbClr val="4A4B45"/>
                </a:solidFill>
                <a:latin typeface="Georgia"/>
              </a:rPr>
              <a:t>Street canyons have low wind speeds, so the insulating boundary layer is thick. Texture at millimetre scale on façades and pavements adds no material and no maintenance.</a:t>
            </a:r>
          </a:p>
        </p:txBody>
      </p:sp>
      <p:sp>
        <p:nvSpPr>
          <p:cNvPr id="12" name="TextBox 11"/>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sites.nd.edu — biomechanics in the wild · asknature.org/strategy/small-leaves-buffer-insect-eggs-from-heat/</a:t>
            </a:r>
          </a:p>
        </p:txBody>
      </p:sp>
      <p:sp>
        <p:nvSpPr>
          <p:cNvPr id="13" name="Rectangle 12"/>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A88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A8871A"/>
                </a:solidFill>
                <a:latin typeface="Arial"/>
              </a:rPr>
              <a:t>MODEL 03   ·   F1 · F2   PREVENTION + REMOVAL</a:t>
            </a:r>
          </a:p>
        </p:txBody>
      </p:sp>
      <p:sp>
        <p:nvSpPr>
          <p:cNvPr id="5" name="TextBox 4"/>
          <p:cNvSpPr txBox="1"/>
          <p:nvPr/>
        </p:nvSpPr>
        <p:spPr>
          <a:xfrm>
            <a:off x="868680" y="822960"/>
            <a:ext cx="10241280" cy="685800"/>
          </a:xfrm>
          <a:prstGeom prst="rect">
            <a:avLst/>
          </a:prstGeom>
          <a:noFill/>
        </p:spPr>
        <p:txBody>
          <a:bodyPr wrap="square" lIns="0" rIns="0" tIns="0" bIns="0" anchor="t">
            <a:spAutoFit/>
          </a:bodyPr>
          <a:lstStyle/>
          <a:p>
            <a:pPr algn="l">
              <a:lnSpc>
                <a:spcPct val="100000"/>
              </a:lnSpc>
              <a:spcBef>
                <a:spcPts val="0"/>
              </a:spcBef>
              <a:spcAft>
                <a:spcPts val="300"/>
              </a:spcAft>
            </a:pPr>
            <a:r>
              <a:rPr sz="2900" b="1" i="0">
                <a:solidFill>
                  <a:srgbClr val="1A1B19"/>
                </a:solidFill>
                <a:latin typeface="Arial"/>
              </a:rPr>
              <a:t>Tree bark</a:t>
            </a:r>
          </a:p>
        </p:txBody>
      </p:sp>
      <p:sp>
        <p:nvSpPr>
          <p:cNvPr id="6" name="TextBox 5"/>
          <p:cNvSpPr txBox="1"/>
          <p:nvPr/>
        </p:nvSpPr>
        <p:spPr>
          <a:xfrm>
            <a:off x="868680" y="1389888"/>
            <a:ext cx="10241280" cy="365760"/>
          </a:xfrm>
          <a:prstGeom prst="rect">
            <a:avLst/>
          </a:prstGeom>
          <a:noFill/>
        </p:spPr>
        <p:txBody>
          <a:bodyPr wrap="square" lIns="0" rIns="0" tIns="0" bIns="0" anchor="t">
            <a:spAutoFit/>
          </a:bodyPr>
          <a:lstStyle/>
          <a:p>
            <a:pPr algn="l">
              <a:lnSpc>
                <a:spcPct val="115000"/>
              </a:lnSpc>
              <a:spcBef>
                <a:spcPts val="0"/>
              </a:spcBef>
              <a:spcAft>
                <a:spcPts val="0"/>
              </a:spcAft>
            </a:pPr>
            <a:r>
              <a:rPr sz="1250" b="0" i="1">
                <a:solidFill>
                  <a:srgbClr val="86867C"/>
                </a:solidFill>
                <a:latin typeface="Georgia"/>
              </a:rPr>
              <a:t>e.g. paperbark maple, Acer griseum · keeps the surface cool in sun</a:t>
            </a:r>
          </a:p>
        </p:txBody>
      </p:sp>
      <p:sp>
        <p:nvSpPr>
          <p:cNvPr id="7" name="Rectangle 6"/>
          <p:cNvSpPr/>
          <p:nvPr/>
        </p:nvSpPr>
        <p:spPr>
          <a:xfrm>
            <a:off x="868680" y="1938528"/>
            <a:ext cx="10637215" cy="1097280"/>
          </a:xfrm>
          <a:prstGeom prst="rect">
            <a:avLst/>
          </a:prstGeom>
          <a:solidFill>
            <a:srgbClr val="E6E1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68680" y="1938528"/>
            <a:ext cx="45720" cy="1097280"/>
          </a:xfrm>
          <a:prstGeom prst="rect">
            <a:avLst/>
          </a:prstGeom>
          <a:solidFill>
            <a:srgbClr val="A88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2075688"/>
            <a:ext cx="10088575" cy="731520"/>
          </a:xfrm>
          <a:prstGeom prst="rect">
            <a:avLst/>
          </a:prstGeom>
          <a:noFill/>
        </p:spPr>
        <p:txBody>
          <a:bodyPr wrap="square" lIns="0" rIns="0" tIns="0" bIns="0" anchor="t">
            <a:spAutoFit/>
          </a:bodyPr>
          <a:lstStyle/>
          <a:p>
            <a:pPr algn="l">
              <a:lnSpc>
                <a:spcPct val="115000"/>
              </a:lnSpc>
              <a:spcBef>
                <a:spcPts val="0"/>
              </a:spcBef>
              <a:spcAft>
                <a:spcPts val="500"/>
              </a:spcAft>
            </a:pPr>
            <a:r>
              <a:rPr sz="850" b="1" i="0" spc="150">
                <a:solidFill>
                  <a:srgbClr val="A8871A"/>
                </a:solidFill>
                <a:latin typeface="Arial"/>
              </a:rPr>
              <a:t>ABSTRACTION</a:t>
            </a:r>
          </a:p>
          <a:p>
            <a:pPr algn="l">
              <a:lnSpc>
                <a:spcPct val="118000"/>
              </a:lnSpc>
              <a:spcBef>
                <a:spcPts val="0"/>
              </a:spcBef>
              <a:spcAft>
                <a:spcPts val="0"/>
              </a:spcAft>
            </a:pPr>
            <a:r>
              <a:rPr sz="1450" b="0" i="1">
                <a:solidFill>
                  <a:srgbClr val="1A1B19"/>
                </a:solidFill>
                <a:latin typeface="Georgia"/>
              </a:rPr>
              <a:t>Reflect the incoming energy, emit the stored energy, and use texture for shade and airflow.</a:t>
            </a:r>
          </a:p>
        </p:txBody>
      </p:sp>
      <p:sp>
        <p:nvSpPr>
          <p:cNvPr id="10" name="TextBox 9"/>
          <p:cNvSpPr txBox="1"/>
          <p:nvPr/>
        </p:nvSpPr>
        <p:spPr>
          <a:xfrm>
            <a:off x="868680"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THE MECHANISM</a:t>
            </a:r>
          </a:p>
          <a:p>
            <a:pPr algn="l">
              <a:lnSpc>
                <a:spcPct val="126000"/>
              </a:lnSpc>
              <a:spcBef>
                <a:spcPts val="0"/>
              </a:spcBef>
              <a:spcAft>
                <a:spcPts val="0"/>
              </a:spcAft>
            </a:pPr>
            <a:r>
              <a:rPr sz="1200" b="0" i="0">
                <a:solidFill>
                  <a:srgbClr val="4A4B45"/>
                </a:solidFill>
                <a:latin typeface="Georgia"/>
              </a:rPr>
              <a:t>Bark reflects part of the incoming sunlight and emits thermal radiation efficiently. Rough, layered bark also shades itself, traps insulating air and improves convection.</a:t>
            </a:r>
          </a:p>
        </p:txBody>
      </p:sp>
      <p:sp>
        <p:nvSpPr>
          <p:cNvPr id="11" name="TextBox 10"/>
          <p:cNvSpPr txBox="1"/>
          <p:nvPr/>
        </p:nvSpPr>
        <p:spPr>
          <a:xfrm>
            <a:off x="6507327"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WHAT IT MEANS FOR THE CITY</a:t>
            </a:r>
          </a:p>
          <a:p>
            <a:pPr algn="l">
              <a:lnSpc>
                <a:spcPct val="126000"/>
              </a:lnSpc>
              <a:spcBef>
                <a:spcPts val="0"/>
              </a:spcBef>
              <a:spcAft>
                <a:spcPts val="0"/>
              </a:spcAft>
            </a:pPr>
            <a:r>
              <a:rPr sz="1200" b="0" i="0">
                <a:solidFill>
                  <a:srgbClr val="4A4B45"/>
                </a:solidFill>
                <a:latin typeface="Georgia"/>
              </a:rPr>
              <a:t>One surface doing prevention and removal at once — and bark is the closest natural analogue to what we are designing: a dead outer layer protecting a living structure behind it.</a:t>
            </a:r>
          </a:p>
        </p:txBody>
      </p:sp>
      <p:sp>
        <p:nvSpPr>
          <p:cNvPr id="12" name="TextBox 11"/>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asknature.org/strategy/bark-keeps-surface-cool-under-the-sun/</a:t>
            </a:r>
          </a:p>
        </p:txBody>
      </p:sp>
      <p:sp>
        <p:nvSpPr>
          <p:cNvPr id="13" name="Rectangle 12"/>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A88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A8871A"/>
                </a:solidFill>
                <a:latin typeface="Arial"/>
              </a:rPr>
              <a:t>MODEL 04   ·   F5 · F3 · F2   PREVENTION + REMOVAL</a:t>
            </a:r>
          </a:p>
        </p:txBody>
      </p:sp>
      <p:sp>
        <p:nvSpPr>
          <p:cNvPr id="5" name="TextBox 4"/>
          <p:cNvSpPr txBox="1"/>
          <p:nvPr/>
        </p:nvSpPr>
        <p:spPr>
          <a:xfrm>
            <a:off x="868680" y="822960"/>
            <a:ext cx="10241280" cy="685800"/>
          </a:xfrm>
          <a:prstGeom prst="rect">
            <a:avLst/>
          </a:prstGeom>
          <a:noFill/>
        </p:spPr>
        <p:txBody>
          <a:bodyPr wrap="square" lIns="0" rIns="0" tIns="0" bIns="0" anchor="t">
            <a:spAutoFit/>
          </a:bodyPr>
          <a:lstStyle/>
          <a:p>
            <a:pPr algn="l">
              <a:lnSpc>
                <a:spcPct val="100000"/>
              </a:lnSpc>
              <a:spcBef>
                <a:spcPts val="0"/>
              </a:spcBef>
              <a:spcAft>
                <a:spcPts val="300"/>
              </a:spcAft>
            </a:pPr>
            <a:r>
              <a:rPr sz="2900" b="1" i="0">
                <a:solidFill>
                  <a:srgbClr val="1A1B19"/>
                </a:solidFill>
                <a:latin typeface="Arial"/>
              </a:rPr>
              <a:t>Cactus ribs</a:t>
            </a:r>
          </a:p>
        </p:txBody>
      </p:sp>
      <p:sp>
        <p:nvSpPr>
          <p:cNvPr id="6" name="TextBox 5"/>
          <p:cNvSpPr txBox="1"/>
          <p:nvPr/>
        </p:nvSpPr>
        <p:spPr>
          <a:xfrm>
            <a:off x="868680" y="1389888"/>
            <a:ext cx="10241280" cy="365760"/>
          </a:xfrm>
          <a:prstGeom prst="rect">
            <a:avLst/>
          </a:prstGeom>
          <a:noFill/>
        </p:spPr>
        <p:txBody>
          <a:bodyPr wrap="square" lIns="0" rIns="0" tIns="0" bIns="0" anchor="t">
            <a:spAutoFit/>
          </a:bodyPr>
          <a:lstStyle/>
          <a:p>
            <a:pPr algn="l">
              <a:lnSpc>
                <a:spcPct val="115000"/>
              </a:lnSpc>
              <a:spcBef>
                <a:spcPts val="0"/>
              </a:spcBef>
              <a:spcAft>
                <a:spcPts val="0"/>
              </a:spcAft>
            </a:pPr>
            <a:r>
              <a:rPr sz="1250" b="0" i="1">
                <a:solidFill>
                  <a:srgbClr val="86867C"/>
                </a:solidFill>
                <a:latin typeface="Georgia"/>
              </a:rPr>
              <a:t>Ribbed and barrel cacti · less overheating, less water loss</a:t>
            </a:r>
          </a:p>
        </p:txBody>
      </p:sp>
      <p:sp>
        <p:nvSpPr>
          <p:cNvPr id="7" name="Rectangle 6"/>
          <p:cNvSpPr/>
          <p:nvPr/>
        </p:nvSpPr>
        <p:spPr>
          <a:xfrm>
            <a:off x="868680" y="1938528"/>
            <a:ext cx="10637215" cy="1097280"/>
          </a:xfrm>
          <a:prstGeom prst="rect">
            <a:avLst/>
          </a:prstGeom>
          <a:solidFill>
            <a:srgbClr val="E6E1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68680" y="1938528"/>
            <a:ext cx="45720" cy="1097280"/>
          </a:xfrm>
          <a:prstGeom prst="rect">
            <a:avLst/>
          </a:prstGeom>
          <a:solidFill>
            <a:srgbClr val="A88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2075688"/>
            <a:ext cx="10088575" cy="731520"/>
          </a:xfrm>
          <a:prstGeom prst="rect">
            <a:avLst/>
          </a:prstGeom>
          <a:noFill/>
        </p:spPr>
        <p:txBody>
          <a:bodyPr wrap="square" lIns="0" rIns="0" tIns="0" bIns="0" anchor="t">
            <a:spAutoFit/>
          </a:bodyPr>
          <a:lstStyle/>
          <a:p>
            <a:pPr algn="l">
              <a:lnSpc>
                <a:spcPct val="115000"/>
              </a:lnSpc>
              <a:spcBef>
                <a:spcPts val="0"/>
              </a:spcBef>
              <a:spcAft>
                <a:spcPts val="500"/>
              </a:spcAft>
            </a:pPr>
            <a:r>
              <a:rPr sz="850" b="1" i="0" spc="150">
                <a:solidFill>
                  <a:srgbClr val="A8871A"/>
                </a:solidFill>
                <a:latin typeface="Arial"/>
              </a:rPr>
              <a:t>ABSTRACTION</a:t>
            </a:r>
          </a:p>
          <a:p>
            <a:pPr algn="l">
              <a:lnSpc>
                <a:spcPct val="118000"/>
              </a:lnSpc>
              <a:spcBef>
                <a:spcPts val="0"/>
              </a:spcBef>
              <a:spcAft>
                <a:spcPts val="0"/>
              </a:spcAft>
            </a:pPr>
            <a:r>
              <a:rPr sz="1450" b="0" i="1">
                <a:solidFill>
                  <a:srgbClr val="1A1B19"/>
                </a:solidFill>
                <a:latin typeface="Georgia"/>
              </a:rPr>
              <a:t>Use folded or ribbed geometry for self-shading, more surface and better airflow.</a:t>
            </a:r>
          </a:p>
        </p:txBody>
      </p:sp>
      <p:sp>
        <p:nvSpPr>
          <p:cNvPr id="10" name="TextBox 9"/>
          <p:cNvSpPr txBox="1"/>
          <p:nvPr/>
        </p:nvSpPr>
        <p:spPr>
          <a:xfrm>
            <a:off x="868680"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THE MECHANISM</a:t>
            </a:r>
          </a:p>
          <a:p>
            <a:pPr algn="l">
              <a:lnSpc>
                <a:spcPct val="126000"/>
              </a:lnSpc>
              <a:spcBef>
                <a:spcPts val="0"/>
              </a:spcBef>
              <a:spcAft>
                <a:spcPts val="0"/>
              </a:spcAft>
            </a:pPr>
            <a:r>
              <a:rPr sz="1200" b="0" i="0">
                <a:solidFill>
                  <a:srgbClr val="4A4B45"/>
                </a:solidFill>
                <a:latin typeface="Georgia"/>
              </a:rPr>
              <a:t>Peaks shade the troughs. The cooler air collecting in the troughs absorbs heat from the body, rises and is carried away, while the folds enlarge the radiating area and disturb the airflow.</a:t>
            </a:r>
          </a:p>
        </p:txBody>
      </p:sp>
      <p:sp>
        <p:nvSpPr>
          <p:cNvPr id="11" name="TextBox 10"/>
          <p:cNvSpPr txBox="1"/>
          <p:nvPr/>
        </p:nvSpPr>
        <p:spPr>
          <a:xfrm>
            <a:off x="6507327"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WHAT IT MEANS FOR THE CITY</a:t>
            </a:r>
          </a:p>
          <a:p>
            <a:pPr algn="l">
              <a:lnSpc>
                <a:spcPct val="126000"/>
              </a:lnSpc>
              <a:spcBef>
                <a:spcPts val="0"/>
              </a:spcBef>
              <a:spcAft>
                <a:spcPts val="0"/>
              </a:spcAft>
            </a:pPr>
            <a:r>
              <a:rPr sz="1200" b="0" i="0">
                <a:solidFill>
                  <a:srgbClr val="4A4B45"/>
                </a:solidFill>
                <a:latin typeface="Georgia"/>
              </a:rPr>
              <a:t>Costs no material, no water and no chemistry, and there is nothing to bleach or run out. The conflict is visible change on a protected façade — the feature size is the negotiable part.</a:t>
            </a:r>
          </a:p>
        </p:txBody>
      </p:sp>
      <p:sp>
        <p:nvSpPr>
          <p:cNvPr id="12" name="TextBox 11"/>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asknature.org/strategy/shape-shades-and-enhances-heat-radiation/</a:t>
            </a:r>
          </a:p>
        </p:txBody>
      </p:sp>
      <p:sp>
        <p:nvSpPr>
          <p:cNvPr id="13" name="Rectangle 12"/>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AE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AE3B2E"/>
                </a:solidFill>
                <a:latin typeface="Arial"/>
              </a:rPr>
              <a:t>MODEL 05   ·   F9 · F2   SELF-REGULATION</a:t>
            </a:r>
          </a:p>
        </p:txBody>
      </p:sp>
      <p:sp>
        <p:nvSpPr>
          <p:cNvPr id="5" name="TextBox 4"/>
          <p:cNvSpPr txBox="1"/>
          <p:nvPr/>
        </p:nvSpPr>
        <p:spPr>
          <a:xfrm>
            <a:off x="868680" y="822960"/>
            <a:ext cx="10241280" cy="685800"/>
          </a:xfrm>
          <a:prstGeom prst="rect">
            <a:avLst/>
          </a:prstGeom>
          <a:noFill/>
        </p:spPr>
        <p:txBody>
          <a:bodyPr wrap="square" lIns="0" rIns="0" tIns="0" bIns="0" anchor="t">
            <a:spAutoFit/>
          </a:bodyPr>
          <a:lstStyle/>
          <a:p>
            <a:pPr algn="l">
              <a:lnSpc>
                <a:spcPct val="100000"/>
              </a:lnSpc>
              <a:spcBef>
                <a:spcPts val="0"/>
              </a:spcBef>
              <a:spcAft>
                <a:spcPts val="300"/>
              </a:spcAft>
            </a:pPr>
            <a:r>
              <a:rPr sz="2900" b="1" i="0">
                <a:solidFill>
                  <a:srgbClr val="1A1B19"/>
                </a:solidFill>
                <a:latin typeface="Arial"/>
              </a:rPr>
              <a:t>Jackrabbit ears · elephant hot spots</a:t>
            </a:r>
          </a:p>
        </p:txBody>
      </p:sp>
      <p:sp>
        <p:nvSpPr>
          <p:cNvPr id="6" name="TextBox 5"/>
          <p:cNvSpPr txBox="1"/>
          <p:nvPr/>
        </p:nvSpPr>
        <p:spPr>
          <a:xfrm>
            <a:off x="868680" y="1389888"/>
            <a:ext cx="10241280" cy="365760"/>
          </a:xfrm>
          <a:prstGeom prst="rect">
            <a:avLst/>
          </a:prstGeom>
          <a:noFill/>
        </p:spPr>
        <p:txBody>
          <a:bodyPr wrap="square" lIns="0" rIns="0" tIns="0" bIns="0" anchor="t">
            <a:spAutoFit/>
          </a:bodyPr>
          <a:lstStyle/>
          <a:p>
            <a:pPr algn="l">
              <a:lnSpc>
                <a:spcPct val="115000"/>
              </a:lnSpc>
              <a:spcBef>
                <a:spcPts val="0"/>
              </a:spcBef>
              <a:spcAft>
                <a:spcPts val="0"/>
              </a:spcAft>
            </a:pPr>
            <a:r>
              <a:rPr sz="1250" b="0" i="1">
                <a:solidFill>
                  <a:srgbClr val="86867C"/>
                </a:solidFill>
                <a:latin typeface="Georgia"/>
              </a:rPr>
              <a:t>Cooling by varying the transport, not the surface</a:t>
            </a:r>
          </a:p>
        </p:txBody>
      </p:sp>
      <p:sp>
        <p:nvSpPr>
          <p:cNvPr id="7" name="Rectangle 6"/>
          <p:cNvSpPr/>
          <p:nvPr/>
        </p:nvSpPr>
        <p:spPr>
          <a:xfrm>
            <a:off x="868680" y="1938528"/>
            <a:ext cx="10637215" cy="1097280"/>
          </a:xfrm>
          <a:prstGeom prst="rect">
            <a:avLst/>
          </a:prstGeom>
          <a:solidFill>
            <a:srgbClr val="E7D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68680" y="1938528"/>
            <a:ext cx="45720" cy="1097280"/>
          </a:xfrm>
          <a:prstGeom prst="rect">
            <a:avLst/>
          </a:prstGeom>
          <a:solidFill>
            <a:srgbClr val="AE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2075688"/>
            <a:ext cx="10088575" cy="731520"/>
          </a:xfrm>
          <a:prstGeom prst="rect">
            <a:avLst/>
          </a:prstGeom>
          <a:noFill/>
        </p:spPr>
        <p:txBody>
          <a:bodyPr wrap="square" lIns="0" rIns="0" tIns="0" bIns="0" anchor="t">
            <a:spAutoFit/>
          </a:bodyPr>
          <a:lstStyle/>
          <a:p>
            <a:pPr algn="l">
              <a:lnSpc>
                <a:spcPct val="115000"/>
              </a:lnSpc>
              <a:spcBef>
                <a:spcPts val="0"/>
              </a:spcBef>
              <a:spcAft>
                <a:spcPts val="500"/>
              </a:spcAft>
            </a:pPr>
            <a:r>
              <a:rPr sz="850" b="1" i="0" spc="150">
                <a:solidFill>
                  <a:srgbClr val="AE3B2E"/>
                </a:solidFill>
                <a:latin typeface="Arial"/>
              </a:rPr>
              <a:t>ABSTRACTION</a:t>
            </a:r>
          </a:p>
          <a:p>
            <a:pPr algn="l">
              <a:lnSpc>
                <a:spcPct val="118000"/>
              </a:lnSpc>
              <a:spcBef>
                <a:spcPts val="0"/>
              </a:spcBef>
              <a:spcAft>
                <a:spcPts val="0"/>
              </a:spcAft>
            </a:pPr>
            <a:r>
              <a:rPr sz="1450" b="0" i="1">
                <a:solidFill>
                  <a:srgbClr val="1A1B19"/>
                </a:solidFill>
                <a:latin typeface="Georgia"/>
              </a:rPr>
              <a:t>Regulate cooling by varying the transport to a radiating surface, and place that radiator only where the conditions are best.</a:t>
            </a:r>
          </a:p>
        </p:txBody>
      </p:sp>
      <p:sp>
        <p:nvSpPr>
          <p:cNvPr id="10" name="TextBox 9"/>
          <p:cNvSpPr txBox="1"/>
          <p:nvPr/>
        </p:nvSpPr>
        <p:spPr>
          <a:xfrm>
            <a:off x="868680"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THE MECHANISM</a:t>
            </a:r>
          </a:p>
          <a:p>
            <a:pPr algn="l">
              <a:lnSpc>
                <a:spcPct val="126000"/>
              </a:lnSpc>
              <a:spcBef>
                <a:spcPts val="0"/>
              </a:spcBef>
              <a:spcAft>
                <a:spcPts val="0"/>
              </a:spcAft>
            </a:pPr>
            <a:r>
              <a:rPr sz="1200" b="0" i="0">
                <a:solidFill>
                  <a:srgbClr val="4A4B45"/>
                </a:solidFill>
                <a:latin typeface="Georgia"/>
              </a:rPr>
              <a:t>The jackrabbit widens or narrows the vessels in its thin ears; at around 30 °C air temperature the ears alone carry all its excess heat, and it costs no water. Elephants open small cooling windows scattered over the skin, as many as the heat requires.</a:t>
            </a:r>
          </a:p>
        </p:txBody>
      </p:sp>
      <p:sp>
        <p:nvSpPr>
          <p:cNvPr id="11" name="TextBox 10"/>
          <p:cNvSpPr txBox="1"/>
          <p:nvPr/>
        </p:nvSpPr>
        <p:spPr>
          <a:xfrm>
            <a:off x="6507327"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WHAT IT MEANS FOR THE CITY</a:t>
            </a:r>
          </a:p>
          <a:p>
            <a:pPr algn="l">
              <a:lnSpc>
                <a:spcPct val="126000"/>
              </a:lnSpc>
              <a:spcBef>
                <a:spcPts val="0"/>
              </a:spcBef>
              <a:spcAft>
                <a:spcPts val="0"/>
              </a:spcAft>
            </a:pPr>
            <a:r>
              <a:rPr sz="1200" b="0" i="0">
                <a:solidFill>
                  <a:srgbClr val="4A4B45"/>
                </a:solidFill>
                <a:latin typeface="Georgia"/>
              </a:rPr>
              <a:t>A wall at eye level barely sees the sky — that blocked view is the physical cause of the night-time heat island. A parapet two floors up sees it well. A loop driven by density differences needs no pump and strengthens as the temperature difference grows.</a:t>
            </a:r>
          </a:p>
        </p:txBody>
      </p:sp>
      <p:sp>
        <p:nvSpPr>
          <p:cNvPr id="12" name="TextBox 11"/>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asknature.org/strategy/how-blood-flow-keeps-jackrabbits-cool/ · asknature.org/strategy/skin-fine-tunes-internal-temperature/</a:t>
            </a:r>
          </a:p>
        </p:txBody>
      </p:sp>
      <p:sp>
        <p:nvSpPr>
          <p:cNvPr id="13" name="Rectangle 12"/>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A88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A8871A"/>
                </a:solidFill>
                <a:latin typeface="Arial"/>
              </a:rPr>
              <a:t>MODEL 06   ·   F1 · F4   PREVENTION + STORAGE</a:t>
            </a:r>
          </a:p>
        </p:txBody>
      </p:sp>
      <p:sp>
        <p:nvSpPr>
          <p:cNvPr id="5" name="TextBox 4"/>
          <p:cNvSpPr txBox="1"/>
          <p:nvPr/>
        </p:nvSpPr>
        <p:spPr>
          <a:xfrm>
            <a:off x="868680" y="822960"/>
            <a:ext cx="10241280" cy="685800"/>
          </a:xfrm>
          <a:prstGeom prst="rect">
            <a:avLst/>
          </a:prstGeom>
          <a:noFill/>
        </p:spPr>
        <p:txBody>
          <a:bodyPr wrap="square" lIns="0" rIns="0" tIns="0" bIns="0" anchor="t">
            <a:spAutoFit/>
          </a:bodyPr>
          <a:lstStyle/>
          <a:p>
            <a:pPr algn="l">
              <a:lnSpc>
                <a:spcPct val="100000"/>
              </a:lnSpc>
              <a:spcBef>
                <a:spcPts val="0"/>
              </a:spcBef>
              <a:spcAft>
                <a:spcPts val="300"/>
              </a:spcAft>
            </a:pPr>
            <a:r>
              <a:rPr sz="2900" b="1" i="0">
                <a:solidFill>
                  <a:srgbClr val="1A1B19"/>
                </a:solidFill>
                <a:latin typeface="Arial"/>
              </a:rPr>
              <a:t>Desert snail shell</a:t>
            </a:r>
          </a:p>
        </p:txBody>
      </p:sp>
      <p:sp>
        <p:nvSpPr>
          <p:cNvPr id="6" name="TextBox 5"/>
          <p:cNvSpPr txBox="1"/>
          <p:nvPr/>
        </p:nvSpPr>
        <p:spPr>
          <a:xfrm>
            <a:off x="868680" y="1389888"/>
            <a:ext cx="10241280" cy="365760"/>
          </a:xfrm>
          <a:prstGeom prst="rect">
            <a:avLst/>
          </a:prstGeom>
          <a:noFill/>
        </p:spPr>
        <p:txBody>
          <a:bodyPr wrap="square" lIns="0" rIns="0" tIns="0" bIns="0" anchor="t">
            <a:spAutoFit/>
          </a:bodyPr>
          <a:lstStyle/>
          <a:p>
            <a:pPr algn="l">
              <a:lnSpc>
                <a:spcPct val="115000"/>
              </a:lnSpc>
              <a:spcBef>
                <a:spcPts val="0"/>
              </a:spcBef>
              <a:spcAft>
                <a:spcPts val="0"/>
              </a:spcAft>
            </a:pPr>
            <a:r>
              <a:rPr sz="1250" b="0" i="1">
                <a:solidFill>
                  <a:srgbClr val="86867C"/>
                </a:solidFill>
                <a:latin typeface="Georgia"/>
              </a:rPr>
              <a:t>Sphincterochila boissieri · survives ground heat up to 50 °C</a:t>
            </a:r>
          </a:p>
        </p:txBody>
      </p:sp>
      <p:sp>
        <p:nvSpPr>
          <p:cNvPr id="7" name="Rectangle 6"/>
          <p:cNvSpPr/>
          <p:nvPr/>
        </p:nvSpPr>
        <p:spPr>
          <a:xfrm>
            <a:off x="868680" y="1938528"/>
            <a:ext cx="10637215" cy="1097280"/>
          </a:xfrm>
          <a:prstGeom prst="rect">
            <a:avLst/>
          </a:prstGeom>
          <a:solidFill>
            <a:srgbClr val="E6E1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68680" y="1938528"/>
            <a:ext cx="45720" cy="1097280"/>
          </a:xfrm>
          <a:prstGeom prst="rect">
            <a:avLst/>
          </a:prstGeom>
          <a:solidFill>
            <a:srgbClr val="A88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2075688"/>
            <a:ext cx="10088575" cy="731520"/>
          </a:xfrm>
          <a:prstGeom prst="rect">
            <a:avLst/>
          </a:prstGeom>
          <a:noFill/>
        </p:spPr>
        <p:txBody>
          <a:bodyPr wrap="square" lIns="0" rIns="0" tIns="0" bIns="0" anchor="t">
            <a:spAutoFit/>
          </a:bodyPr>
          <a:lstStyle/>
          <a:p>
            <a:pPr algn="l">
              <a:lnSpc>
                <a:spcPct val="115000"/>
              </a:lnSpc>
              <a:spcBef>
                <a:spcPts val="0"/>
              </a:spcBef>
              <a:spcAft>
                <a:spcPts val="500"/>
              </a:spcAft>
            </a:pPr>
            <a:r>
              <a:rPr sz="850" b="1" i="0" spc="150">
                <a:solidFill>
                  <a:srgbClr val="A8871A"/>
                </a:solidFill>
                <a:latin typeface="Arial"/>
              </a:rPr>
              <a:t>ABSTRACTION</a:t>
            </a:r>
          </a:p>
          <a:p>
            <a:pPr algn="l">
              <a:lnSpc>
                <a:spcPct val="118000"/>
              </a:lnSpc>
              <a:spcBef>
                <a:spcPts val="0"/>
              </a:spcBef>
              <a:spcAft>
                <a:spcPts val="0"/>
              </a:spcAft>
            </a:pPr>
            <a:r>
              <a:rPr sz="1450" b="0" i="1">
                <a:solidFill>
                  <a:srgbClr val="1A1B19"/>
                </a:solidFill>
                <a:latin typeface="Georgia"/>
              </a:rPr>
              <a:t>Reflect first — then decouple whatever still gets through, with a layer of air.</a:t>
            </a:r>
          </a:p>
        </p:txBody>
      </p:sp>
      <p:sp>
        <p:nvSpPr>
          <p:cNvPr id="10" name="TextBox 9"/>
          <p:cNvSpPr txBox="1"/>
          <p:nvPr/>
        </p:nvSpPr>
        <p:spPr>
          <a:xfrm>
            <a:off x="868680"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THE MECHANISM</a:t>
            </a:r>
          </a:p>
          <a:p>
            <a:pPr algn="l">
              <a:lnSpc>
                <a:spcPct val="126000"/>
              </a:lnSpc>
              <a:spcBef>
                <a:spcPts val="0"/>
              </a:spcBef>
              <a:spcAft>
                <a:spcPts val="0"/>
              </a:spcAft>
            </a:pPr>
            <a:r>
              <a:rPr sz="1200" b="0" i="0">
                <a:solidFill>
                  <a:srgbClr val="4A4B45"/>
                </a:solidFill>
                <a:latin typeface="Georgia"/>
              </a:rPr>
              <a:t>The shell reflects about 90 % of visible light and about 95 % in the near infrared. When conditions get extreme the snail seals the opening with a calcified plate and withdraws, leaving a layer of air between itself and the hot ground.</a:t>
            </a:r>
          </a:p>
        </p:txBody>
      </p:sp>
      <p:sp>
        <p:nvSpPr>
          <p:cNvPr id="11" name="TextBox 10"/>
          <p:cNvSpPr txBox="1"/>
          <p:nvPr/>
        </p:nvSpPr>
        <p:spPr>
          <a:xfrm>
            <a:off x="6507327"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WHAT IT MEANS FOR THE CITY</a:t>
            </a:r>
          </a:p>
          <a:p>
            <a:pPr algn="l">
              <a:lnSpc>
                <a:spcPct val="126000"/>
              </a:lnSpc>
              <a:spcBef>
                <a:spcPts val="0"/>
              </a:spcBef>
              <a:spcAft>
                <a:spcPts val="0"/>
              </a:spcAft>
            </a:pPr>
            <a:r>
              <a:rPr sz="1200" b="0" i="0">
                <a:solidFill>
                  <a:srgbClr val="4A4B45"/>
                </a:solidFill>
                <a:latin typeface="Georgia"/>
              </a:rPr>
              <a:t>The 7 K a city is warmer at night is heat released from mass charged during the day. A reflective skin over a ventilated cavity stops the masonry charging in the first place — and that is a standard façade system, not an exotic one.</a:t>
            </a:r>
          </a:p>
        </p:txBody>
      </p:sp>
      <p:sp>
        <p:nvSpPr>
          <p:cNvPr id="12" name="TextBox 11"/>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asknature.org/strategy/shell-protects-from-heat/</a:t>
            </a:r>
          </a:p>
        </p:txBody>
      </p:sp>
      <p:sp>
        <p:nvSpPr>
          <p:cNvPr id="13" name="Rectangle 12"/>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A88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A8871A"/>
                </a:solidFill>
                <a:latin typeface="Arial"/>
              </a:rPr>
              <a:t>MODEL 07   ·   F1   PREVENTION</a:t>
            </a:r>
          </a:p>
        </p:txBody>
      </p:sp>
      <p:sp>
        <p:nvSpPr>
          <p:cNvPr id="5" name="TextBox 4"/>
          <p:cNvSpPr txBox="1"/>
          <p:nvPr/>
        </p:nvSpPr>
        <p:spPr>
          <a:xfrm>
            <a:off x="868680" y="822960"/>
            <a:ext cx="10241280" cy="685800"/>
          </a:xfrm>
          <a:prstGeom prst="rect">
            <a:avLst/>
          </a:prstGeom>
          <a:noFill/>
        </p:spPr>
        <p:txBody>
          <a:bodyPr wrap="square" lIns="0" rIns="0" tIns="0" bIns="0" anchor="t">
            <a:spAutoFit/>
          </a:bodyPr>
          <a:lstStyle/>
          <a:p>
            <a:pPr algn="l">
              <a:lnSpc>
                <a:spcPct val="100000"/>
              </a:lnSpc>
              <a:spcBef>
                <a:spcPts val="0"/>
              </a:spcBef>
              <a:spcAft>
                <a:spcPts val="300"/>
              </a:spcAft>
            </a:pPr>
            <a:r>
              <a:rPr sz="2900" b="1" i="0">
                <a:solidFill>
                  <a:srgbClr val="1A1B19"/>
                </a:solidFill>
                <a:latin typeface="Arial"/>
              </a:rPr>
              <a:t>Morpho butterfly wing</a:t>
            </a:r>
          </a:p>
        </p:txBody>
      </p:sp>
      <p:sp>
        <p:nvSpPr>
          <p:cNvPr id="6" name="TextBox 5"/>
          <p:cNvSpPr txBox="1"/>
          <p:nvPr/>
        </p:nvSpPr>
        <p:spPr>
          <a:xfrm>
            <a:off x="868680" y="1389888"/>
            <a:ext cx="10241280" cy="365760"/>
          </a:xfrm>
          <a:prstGeom prst="rect">
            <a:avLst/>
          </a:prstGeom>
          <a:noFill/>
        </p:spPr>
        <p:txBody>
          <a:bodyPr wrap="square" lIns="0" rIns="0" tIns="0" bIns="0" anchor="t">
            <a:spAutoFit/>
          </a:bodyPr>
          <a:lstStyle/>
          <a:p>
            <a:pPr algn="l">
              <a:lnSpc>
                <a:spcPct val="115000"/>
              </a:lnSpc>
              <a:spcBef>
                <a:spcPts val="0"/>
              </a:spcBef>
              <a:spcAft>
                <a:spcPts val="0"/>
              </a:spcAft>
            </a:pPr>
            <a:r>
              <a:rPr sz="1250" b="0" i="1">
                <a:solidFill>
                  <a:srgbClr val="86867C"/>
                </a:solidFill>
                <a:latin typeface="Georgia"/>
              </a:rPr>
              <a:t>Brilliantly blue, with no blue pigment at all</a:t>
            </a:r>
          </a:p>
        </p:txBody>
      </p:sp>
      <p:sp>
        <p:nvSpPr>
          <p:cNvPr id="7" name="Rectangle 6"/>
          <p:cNvSpPr/>
          <p:nvPr/>
        </p:nvSpPr>
        <p:spPr>
          <a:xfrm>
            <a:off x="868680" y="1938528"/>
            <a:ext cx="10637215" cy="1097280"/>
          </a:xfrm>
          <a:prstGeom prst="rect">
            <a:avLst/>
          </a:prstGeom>
          <a:solidFill>
            <a:srgbClr val="E6E1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68680" y="1938528"/>
            <a:ext cx="45720" cy="1097280"/>
          </a:xfrm>
          <a:prstGeom prst="rect">
            <a:avLst/>
          </a:prstGeom>
          <a:solidFill>
            <a:srgbClr val="A88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2075688"/>
            <a:ext cx="10088575" cy="731520"/>
          </a:xfrm>
          <a:prstGeom prst="rect">
            <a:avLst/>
          </a:prstGeom>
          <a:noFill/>
        </p:spPr>
        <p:txBody>
          <a:bodyPr wrap="square" lIns="0" rIns="0" tIns="0" bIns="0" anchor="t">
            <a:spAutoFit/>
          </a:bodyPr>
          <a:lstStyle/>
          <a:p>
            <a:pPr algn="l">
              <a:lnSpc>
                <a:spcPct val="115000"/>
              </a:lnSpc>
              <a:spcBef>
                <a:spcPts val="0"/>
              </a:spcBef>
              <a:spcAft>
                <a:spcPts val="500"/>
              </a:spcAft>
            </a:pPr>
            <a:r>
              <a:rPr sz="850" b="1" i="0" spc="150">
                <a:solidFill>
                  <a:srgbClr val="A8871A"/>
                </a:solidFill>
                <a:latin typeface="Arial"/>
              </a:rPr>
              <a:t>ABSTRACTION</a:t>
            </a:r>
          </a:p>
          <a:p>
            <a:pPr algn="l">
              <a:lnSpc>
                <a:spcPct val="118000"/>
              </a:lnSpc>
              <a:spcBef>
                <a:spcPts val="0"/>
              </a:spcBef>
              <a:spcAft>
                <a:spcPts val="0"/>
              </a:spcAft>
            </a:pPr>
            <a:r>
              <a:rPr sz="1450" b="0" i="1">
                <a:solidFill>
                  <a:srgbClr val="1A1B19"/>
                </a:solidFill>
                <a:latin typeface="Georgia"/>
              </a:rPr>
              <a:t>Separate what a surface looks like from what it does with heat.</a:t>
            </a:r>
          </a:p>
        </p:txBody>
      </p:sp>
      <p:sp>
        <p:nvSpPr>
          <p:cNvPr id="10" name="TextBox 9"/>
          <p:cNvSpPr txBox="1"/>
          <p:nvPr/>
        </p:nvSpPr>
        <p:spPr>
          <a:xfrm>
            <a:off x="868680"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THE MECHANISM</a:t>
            </a:r>
          </a:p>
          <a:p>
            <a:pPr algn="l">
              <a:lnSpc>
                <a:spcPct val="126000"/>
              </a:lnSpc>
              <a:spcBef>
                <a:spcPts val="0"/>
              </a:spcBef>
              <a:spcAft>
                <a:spcPts val="0"/>
              </a:spcAft>
            </a:pPr>
            <a:r>
              <a:rPr sz="1200" b="0" i="0">
                <a:solidFill>
                  <a:srgbClr val="4A4B45"/>
                </a:solidFill>
                <a:latin typeface="Georgia"/>
              </a:rPr>
              <a:t>Transparent layers of chitin and air, a few hundred nanometres apart, diffract the light and recombine it so that some wavelengths cancel and others are reinforced. The colour is in the geometry, and because the structure is disordered it stays diffuse rather than mirror-like.</a:t>
            </a:r>
          </a:p>
        </p:txBody>
      </p:sp>
      <p:sp>
        <p:nvSpPr>
          <p:cNvPr id="11" name="TextBox 10"/>
          <p:cNvSpPr txBox="1"/>
          <p:nvPr/>
        </p:nvSpPr>
        <p:spPr>
          <a:xfrm>
            <a:off x="6507327"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WHAT IT MEANS FOR THE CITY</a:t>
            </a:r>
          </a:p>
          <a:p>
            <a:pPr algn="l">
              <a:lnSpc>
                <a:spcPct val="126000"/>
              </a:lnSpc>
              <a:spcBef>
                <a:spcPts val="0"/>
              </a:spcBef>
              <a:spcAft>
                <a:spcPts val="0"/>
              </a:spcAft>
            </a:pPr>
            <a:r>
              <a:rPr sz="1200" b="0" i="0">
                <a:solidFill>
                  <a:srgbClr val="4A4B45"/>
                </a:solidFill>
                <a:latin typeface="Georgia"/>
              </a:rPr>
              <a:t>About half the sun's energy arrives as invisible near infrared. A façade can keep the ochre of the old town and still reject the heat — which is what decides whether the measure is ever permitted, and it answers the glare objection too.</a:t>
            </a:r>
          </a:p>
        </p:txBody>
      </p:sp>
      <p:sp>
        <p:nvSpPr>
          <p:cNvPr id="12" name="TextBox 11"/>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asknature.org/strategy/wing-scales-cause-light-to-diffract-and-interfere/</a:t>
            </a:r>
          </a:p>
        </p:txBody>
      </p:sp>
      <p:sp>
        <p:nvSpPr>
          <p:cNvPr id="13" name="Rectangle 12"/>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AE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AE3B2E"/>
                </a:solidFill>
                <a:latin typeface="Arial"/>
              </a:rPr>
              <a:t>MODEL 08   ·   F9 · F8   SELF-REGULATION</a:t>
            </a:r>
          </a:p>
        </p:txBody>
      </p:sp>
      <p:sp>
        <p:nvSpPr>
          <p:cNvPr id="5" name="TextBox 4"/>
          <p:cNvSpPr txBox="1"/>
          <p:nvPr/>
        </p:nvSpPr>
        <p:spPr>
          <a:xfrm>
            <a:off x="868680" y="822960"/>
            <a:ext cx="10241280" cy="685800"/>
          </a:xfrm>
          <a:prstGeom prst="rect">
            <a:avLst/>
          </a:prstGeom>
          <a:noFill/>
        </p:spPr>
        <p:txBody>
          <a:bodyPr wrap="square" lIns="0" rIns="0" tIns="0" bIns="0" anchor="t">
            <a:spAutoFit/>
          </a:bodyPr>
          <a:lstStyle/>
          <a:p>
            <a:pPr algn="l">
              <a:lnSpc>
                <a:spcPct val="100000"/>
              </a:lnSpc>
              <a:spcBef>
                <a:spcPts val="0"/>
              </a:spcBef>
              <a:spcAft>
                <a:spcPts val="300"/>
              </a:spcAft>
            </a:pPr>
            <a:r>
              <a:rPr sz="2900" b="1" i="0">
                <a:solidFill>
                  <a:srgbClr val="1A1B19"/>
                </a:solidFill>
                <a:latin typeface="Arial"/>
              </a:rPr>
              <a:t>Leaf stomata</a:t>
            </a:r>
          </a:p>
        </p:txBody>
      </p:sp>
      <p:sp>
        <p:nvSpPr>
          <p:cNvPr id="6" name="TextBox 5"/>
          <p:cNvSpPr txBox="1"/>
          <p:nvPr/>
        </p:nvSpPr>
        <p:spPr>
          <a:xfrm>
            <a:off x="868680" y="1389888"/>
            <a:ext cx="10241280" cy="365760"/>
          </a:xfrm>
          <a:prstGeom prst="rect">
            <a:avLst/>
          </a:prstGeom>
          <a:noFill/>
        </p:spPr>
        <p:txBody>
          <a:bodyPr wrap="square" lIns="0" rIns="0" tIns="0" bIns="0" anchor="t">
            <a:spAutoFit/>
          </a:bodyPr>
          <a:lstStyle/>
          <a:p>
            <a:pPr algn="l">
              <a:lnSpc>
                <a:spcPct val="115000"/>
              </a:lnSpc>
              <a:spcBef>
                <a:spcPts val="0"/>
              </a:spcBef>
              <a:spcAft>
                <a:spcPts val="0"/>
              </a:spcAft>
            </a:pPr>
            <a:r>
              <a:rPr sz="1250" b="0" i="1">
                <a:solidFill>
                  <a:srgbClr val="86867C"/>
                </a:solidFill>
                <a:latin typeface="Georgia"/>
              </a:rPr>
              <a:t>Cooling regulated by the opening itself</a:t>
            </a:r>
          </a:p>
        </p:txBody>
      </p:sp>
      <p:sp>
        <p:nvSpPr>
          <p:cNvPr id="7" name="Rectangle 6"/>
          <p:cNvSpPr/>
          <p:nvPr/>
        </p:nvSpPr>
        <p:spPr>
          <a:xfrm>
            <a:off x="868680" y="1938528"/>
            <a:ext cx="10637215" cy="1097280"/>
          </a:xfrm>
          <a:prstGeom prst="rect">
            <a:avLst/>
          </a:prstGeom>
          <a:solidFill>
            <a:srgbClr val="E7D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68680" y="1938528"/>
            <a:ext cx="45720" cy="1097280"/>
          </a:xfrm>
          <a:prstGeom prst="rect">
            <a:avLst/>
          </a:prstGeom>
          <a:solidFill>
            <a:srgbClr val="AE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2075688"/>
            <a:ext cx="10088575" cy="731520"/>
          </a:xfrm>
          <a:prstGeom prst="rect">
            <a:avLst/>
          </a:prstGeom>
          <a:noFill/>
        </p:spPr>
        <p:txBody>
          <a:bodyPr wrap="square" lIns="0" rIns="0" tIns="0" bIns="0" anchor="t">
            <a:spAutoFit/>
          </a:bodyPr>
          <a:lstStyle/>
          <a:p>
            <a:pPr algn="l">
              <a:lnSpc>
                <a:spcPct val="115000"/>
              </a:lnSpc>
              <a:spcBef>
                <a:spcPts val="0"/>
              </a:spcBef>
              <a:spcAft>
                <a:spcPts val="500"/>
              </a:spcAft>
            </a:pPr>
            <a:r>
              <a:rPr sz="850" b="1" i="0" spc="150">
                <a:solidFill>
                  <a:srgbClr val="AE3B2E"/>
                </a:solidFill>
                <a:latin typeface="Arial"/>
              </a:rPr>
              <a:t>ABSTRACTION</a:t>
            </a:r>
          </a:p>
          <a:p>
            <a:pPr algn="l">
              <a:lnSpc>
                <a:spcPct val="118000"/>
              </a:lnSpc>
              <a:spcBef>
                <a:spcPts val="0"/>
              </a:spcBef>
              <a:spcAft>
                <a:spcPts val="0"/>
              </a:spcAft>
            </a:pPr>
            <a:r>
              <a:rPr sz="1450" b="0" i="1">
                <a:solidFill>
                  <a:srgbClr val="1A1B19"/>
                </a:solidFill>
                <a:latin typeface="Georgia"/>
              </a:rPr>
              <a:t>Build the control into the opening, so the escape route widens as the load rises.</a:t>
            </a:r>
          </a:p>
        </p:txBody>
      </p:sp>
      <p:sp>
        <p:nvSpPr>
          <p:cNvPr id="10" name="TextBox 9"/>
          <p:cNvSpPr txBox="1"/>
          <p:nvPr/>
        </p:nvSpPr>
        <p:spPr>
          <a:xfrm>
            <a:off x="868680"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THE MECHANISM</a:t>
            </a:r>
          </a:p>
          <a:p>
            <a:pPr algn="l">
              <a:lnSpc>
                <a:spcPct val="126000"/>
              </a:lnSpc>
              <a:spcBef>
                <a:spcPts val="0"/>
              </a:spcBef>
              <a:spcAft>
                <a:spcPts val="0"/>
              </a:spcAft>
            </a:pPr>
            <a:r>
              <a:rPr sz="1200" b="0" i="0">
                <a:solidFill>
                  <a:srgbClr val="4A4B45"/>
                </a:solidFill>
                <a:latin typeface="Georgia"/>
              </a:rPr>
              <a:t>Two guard cells swell and shrink with their water content and so open and close the pore. The water is pulled up from the roots by the evaporation itself — there is no pump anywhere. The leaf cools itself by more than 10 K.</a:t>
            </a:r>
          </a:p>
        </p:txBody>
      </p:sp>
      <p:sp>
        <p:nvSpPr>
          <p:cNvPr id="11" name="TextBox 10"/>
          <p:cNvSpPr txBox="1"/>
          <p:nvPr/>
        </p:nvSpPr>
        <p:spPr>
          <a:xfrm>
            <a:off x="6507327"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WHAT IT MEANS FOR THE CITY</a:t>
            </a:r>
          </a:p>
          <a:p>
            <a:pPr algn="l">
              <a:lnSpc>
                <a:spcPct val="126000"/>
              </a:lnSpc>
              <a:spcBef>
                <a:spcPts val="0"/>
              </a:spcBef>
              <a:spcAft>
                <a:spcPts val="0"/>
              </a:spcAft>
            </a:pPr>
            <a:r>
              <a:rPr sz="1200" b="0" i="0">
                <a:solidFill>
                  <a:srgbClr val="4A4B45"/>
                </a:solidFill>
                <a:latin typeface="Georgia"/>
              </a:rPr>
              <a:t>Evaporation is the only mechanism here that cools the air people actually breathe, rather than only the surface they walk past. The binding limit is water: during a heat wave it does not rain.</a:t>
            </a:r>
          </a:p>
        </p:txBody>
      </p:sp>
      <p:sp>
        <p:nvSpPr>
          <p:cNvPr id="12" name="TextBox 11"/>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Genius of Biome, pp. 62–65 — Day 2 course material</a:t>
            </a:r>
          </a:p>
        </p:txBody>
      </p:sp>
      <p:sp>
        <p:nvSpPr>
          <p:cNvPr id="13" name="Rectangle 12"/>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1570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15709F"/>
                </a:solidFill>
                <a:latin typeface="Arial"/>
              </a:rPr>
              <a:t>MODEL 09   ·   F7 · F8   WATER PATH</a:t>
            </a:r>
          </a:p>
        </p:txBody>
      </p:sp>
      <p:sp>
        <p:nvSpPr>
          <p:cNvPr id="5" name="TextBox 4"/>
          <p:cNvSpPr txBox="1"/>
          <p:nvPr/>
        </p:nvSpPr>
        <p:spPr>
          <a:xfrm>
            <a:off x="868680" y="822960"/>
            <a:ext cx="10241280" cy="685800"/>
          </a:xfrm>
          <a:prstGeom prst="rect">
            <a:avLst/>
          </a:prstGeom>
          <a:noFill/>
        </p:spPr>
        <p:txBody>
          <a:bodyPr wrap="square" lIns="0" rIns="0" tIns="0" bIns="0" anchor="t">
            <a:spAutoFit/>
          </a:bodyPr>
          <a:lstStyle/>
          <a:p>
            <a:pPr algn="l">
              <a:lnSpc>
                <a:spcPct val="100000"/>
              </a:lnSpc>
              <a:spcBef>
                <a:spcPts val="0"/>
              </a:spcBef>
              <a:spcAft>
                <a:spcPts val="300"/>
              </a:spcAft>
            </a:pPr>
            <a:r>
              <a:rPr sz="2900" b="1" i="0">
                <a:solidFill>
                  <a:srgbClr val="1A1B19"/>
                </a:solidFill>
                <a:latin typeface="Arial"/>
              </a:rPr>
              <a:t>Camel fur and sweat glands</a:t>
            </a:r>
          </a:p>
        </p:txBody>
      </p:sp>
      <p:sp>
        <p:nvSpPr>
          <p:cNvPr id="6" name="TextBox 5"/>
          <p:cNvSpPr txBox="1"/>
          <p:nvPr/>
        </p:nvSpPr>
        <p:spPr>
          <a:xfrm>
            <a:off x="868680" y="1389888"/>
            <a:ext cx="10241280" cy="365760"/>
          </a:xfrm>
          <a:prstGeom prst="rect">
            <a:avLst/>
          </a:prstGeom>
          <a:noFill/>
        </p:spPr>
        <p:txBody>
          <a:bodyPr wrap="square" lIns="0" rIns="0" tIns="0" bIns="0" anchor="t">
            <a:spAutoFit/>
          </a:bodyPr>
          <a:lstStyle/>
          <a:p>
            <a:pPr algn="l">
              <a:lnSpc>
                <a:spcPct val="115000"/>
              </a:lnSpc>
              <a:spcBef>
                <a:spcPts val="0"/>
              </a:spcBef>
              <a:spcAft>
                <a:spcPts val="0"/>
              </a:spcAft>
            </a:pPr>
            <a:r>
              <a:rPr sz="1250" b="0" i="1">
                <a:solidFill>
                  <a:srgbClr val="86867C"/>
                </a:solidFill>
                <a:latin typeface="Georgia"/>
              </a:rPr>
              <a:t>Built at MIT as a hydrogel under an aerogel</a:t>
            </a:r>
          </a:p>
        </p:txBody>
      </p:sp>
      <p:sp>
        <p:nvSpPr>
          <p:cNvPr id="7" name="Rectangle 6"/>
          <p:cNvSpPr/>
          <p:nvPr/>
        </p:nvSpPr>
        <p:spPr>
          <a:xfrm>
            <a:off x="868680" y="1938528"/>
            <a:ext cx="10637215" cy="1097280"/>
          </a:xfrm>
          <a:prstGeom prst="rect">
            <a:avLst/>
          </a:prstGeom>
          <a:solidFill>
            <a:srgbClr val="D3D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68680" y="1938528"/>
            <a:ext cx="45720" cy="1097280"/>
          </a:xfrm>
          <a:prstGeom prst="rect">
            <a:avLst/>
          </a:prstGeom>
          <a:solidFill>
            <a:srgbClr val="1570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2075688"/>
            <a:ext cx="10088575" cy="731520"/>
          </a:xfrm>
          <a:prstGeom prst="rect">
            <a:avLst/>
          </a:prstGeom>
          <a:noFill/>
        </p:spPr>
        <p:txBody>
          <a:bodyPr wrap="square" lIns="0" rIns="0" tIns="0" bIns="0" anchor="t">
            <a:spAutoFit/>
          </a:bodyPr>
          <a:lstStyle/>
          <a:p>
            <a:pPr algn="l">
              <a:lnSpc>
                <a:spcPct val="115000"/>
              </a:lnSpc>
              <a:spcBef>
                <a:spcPts val="0"/>
              </a:spcBef>
              <a:spcAft>
                <a:spcPts val="500"/>
              </a:spcAft>
            </a:pPr>
            <a:r>
              <a:rPr sz="850" b="1" i="0" spc="150">
                <a:solidFill>
                  <a:srgbClr val="15709F"/>
                </a:solidFill>
                <a:latin typeface="Arial"/>
              </a:rPr>
              <a:t>ABSTRACTION</a:t>
            </a:r>
          </a:p>
          <a:p>
            <a:pPr algn="l">
              <a:lnSpc>
                <a:spcPct val="118000"/>
              </a:lnSpc>
              <a:spcBef>
                <a:spcPts val="0"/>
              </a:spcBef>
              <a:spcAft>
                <a:spcPts val="0"/>
              </a:spcAft>
            </a:pPr>
            <a:r>
              <a:rPr sz="1450" b="0" i="1">
                <a:solidFill>
                  <a:srgbClr val="1A1B19"/>
                </a:solidFill>
                <a:latin typeface="Georgia"/>
              </a:rPr>
              <a:t>Cut the heat load first, then spend a little water on what is left — and insulate the wet layer so the reserve lasts.</a:t>
            </a:r>
          </a:p>
        </p:txBody>
      </p:sp>
      <p:sp>
        <p:nvSpPr>
          <p:cNvPr id="10" name="TextBox 9"/>
          <p:cNvSpPr txBox="1"/>
          <p:nvPr/>
        </p:nvSpPr>
        <p:spPr>
          <a:xfrm>
            <a:off x="868680"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THE MECHANISM</a:t>
            </a:r>
          </a:p>
          <a:p>
            <a:pPr algn="l">
              <a:lnSpc>
                <a:spcPct val="126000"/>
              </a:lnSpc>
              <a:spcBef>
                <a:spcPts val="0"/>
              </a:spcBef>
              <a:spcAft>
                <a:spcPts val="0"/>
              </a:spcAft>
            </a:pPr>
            <a:r>
              <a:rPr sz="1200" b="0" i="0">
                <a:solidFill>
                  <a:srgbClr val="4A4B45"/>
                </a:solidFill>
                <a:latin typeface="Georgia"/>
              </a:rPr>
              <a:t>A hydrogel layer evaporates like a sweat gland, underneath an aerogel layer that blocks incoming heat but lets the vapour through, like fur. The pair held a sample 7 K below ambient for 200 hours — five times longer than the hydrogel alone.</a:t>
            </a:r>
          </a:p>
        </p:txBody>
      </p:sp>
      <p:sp>
        <p:nvSpPr>
          <p:cNvPr id="11" name="TextBox 10"/>
          <p:cNvSpPr txBox="1"/>
          <p:nvPr/>
        </p:nvSpPr>
        <p:spPr>
          <a:xfrm>
            <a:off x="6507327"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WHAT IT MEANS FOR THE CITY</a:t>
            </a:r>
          </a:p>
          <a:p>
            <a:pPr algn="l">
              <a:lnSpc>
                <a:spcPct val="126000"/>
              </a:lnSpc>
              <a:spcBef>
                <a:spcPts val="0"/>
              </a:spcBef>
              <a:spcAft>
                <a:spcPts val="0"/>
              </a:spcAft>
            </a:pPr>
            <a:r>
              <a:rPr sz="1200" b="0" i="0">
                <a:solidFill>
                  <a:srgbClr val="4A4B45"/>
                </a:solidFill>
                <a:latin typeface="Georgia"/>
              </a:rPr>
              <a:t>Zurich has ample rain over a year and almost none during a heat wave, so our problem is storage and metering, not collection. It also rules out fog harvesting: fog here is a winter phenomenon.</a:t>
            </a:r>
          </a:p>
        </p:txBody>
      </p:sp>
      <p:sp>
        <p:nvSpPr>
          <p:cNvPr id="12" name="TextBox 11"/>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asknature.org/innovation/passive-cooling-system-inspired-by-camels/</a:t>
            </a:r>
          </a:p>
        </p:txBody>
      </p:sp>
      <p:sp>
        <p:nvSpPr>
          <p:cNvPr id="13" name="Rectangle 12"/>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AE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AE3B2E"/>
                </a:solidFill>
                <a:latin typeface="Arial"/>
              </a:rPr>
              <a:t>MODEL 10   ·   F5 · F9   PREVENTION + SELF-REGULATION</a:t>
            </a:r>
          </a:p>
        </p:txBody>
      </p:sp>
      <p:sp>
        <p:nvSpPr>
          <p:cNvPr id="5" name="TextBox 4"/>
          <p:cNvSpPr txBox="1"/>
          <p:nvPr/>
        </p:nvSpPr>
        <p:spPr>
          <a:xfrm>
            <a:off x="868680" y="822960"/>
            <a:ext cx="10241280" cy="685800"/>
          </a:xfrm>
          <a:prstGeom prst="rect">
            <a:avLst/>
          </a:prstGeom>
          <a:noFill/>
        </p:spPr>
        <p:txBody>
          <a:bodyPr wrap="square" lIns="0" rIns="0" tIns="0" bIns="0" anchor="t">
            <a:spAutoFit/>
          </a:bodyPr>
          <a:lstStyle/>
          <a:p>
            <a:pPr algn="l">
              <a:lnSpc>
                <a:spcPct val="100000"/>
              </a:lnSpc>
              <a:spcBef>
                <a:spcPts val="0"/>
              </a:spcBef>
              <a:spcAft>
                <a:spcPts val="300"/>
              </a:spcAft>
            </a:pPr>
            <a:r>
              <a:rPr sz="2900" b="1" i="0">
                <a:solidFill>
                  <a:srgbClr val="1A1B19"/>
                </a:solidFill>
                <a:latin typeface="Arial"/>
              </a:rPr>
              <a:t>Pine cone scales</a:t>
            </a:r>
          </a:p>
        </p:txBody>
      </p:sp>
      <p:sp>
        <p:nvSpPr>
          <p:cNvPr id="6" name="TextBox 5"/>
          <p:cNvSpPr txBox="1"/>
          <p:nvPr/>
        </p:nvSpPr>
        <p:spPr>
          <a:xfrm>
            <a:off x="868680" y="1389888"/>
            <a:ext cx="10241280" cy="365760"/>
          </a:xfrm>
          <a:prstGeom prst="rect">
            <a:avLst/>
          </a:prstGeom>
          <a:noFill/>
        </p:spPr>
        <p:txBody>
          <a:bodyPr wrap="square" lIns="0" rIns="0" tIns="0" bIns="0" anchor="t">
            <a:spAutoFit/>
          </a:bodyPr>
          <a:lstStyle/>
          <a:p>
            <a:pPr algn="l">
              <a:lnSpc>
                <a:spcPct val="115000"/>
              </a:lnSpc>
              <a:spcBef>
                <a:spcPts val="0"/>
              </a:spcBef>
              <a:spcAft>
                <a:spcPts val="0"/>
              </a:spcAft>
            </a:pPr>
            <a:r>
              <a:rPr sz="1250" b="0" i="1">
                <a:solidFill>
                  <a:srgbClr val="86867C"/>
                </a:solidFill>
                <a:latin typeface="Georgia"/>
              </a:rPr>
              <a:t>Dead tissue, moved entirely by the weather</a:t>
            </a:r>
          </a:p>
        </p:txBody>
      </p:sp>
      <p:sp>
        <p:nvSpPr>
          <p:cNvPr id="7" name="Rectangle 6"/>
          <p:cNvSpPr/>
          <p:nvPr/>
        </p:nvSpPr>
        <p:spPr>
          <a:xfrm>
            <a:off x="868680" y="1938528"/>
            <a:ext cx="10637215" cy="1097280"/>
          </a:xfrm>
          <a:prstGeom prst="rect">
            <a:avLst/>
          </a:prstGeom>
          <a:solidFill>
            <a:srgbClr val="E7D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68680" y="1938528"/>
            <a:ext cx="45720" cy="1097280"/>
          </a:xfrm>
          <a:prstGeom prst="rect">
            <a:avLst/>
          </a:prstGeom>
          <a:solidFill>
            <a:srgbClr val="AE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2075688"/>
            <a:ext cx="10088575" cy="731520"/>
          </a:xfrm>
          <a:prstGeom prst="rect">
            <a:avLst/>
          </a:prstGeom>
          <a:noFill/>
        </p:spPr>
        <p:txBody>
          <a:bodyPr wrap="square" lIns="0" rIns="0" tIns="0" bIns="0" anchor="t">
            <a:spAutoFit/>
          </a:bodyPr>
          <a:lstStyle/>
          <a:p>
            <a:pPr algn="l">
              <a:lnSpc>
                <a:spcPct val="115000"/>
              </a:lnSpc>
              <a:spcBef>
                <a:spcPts val="0"/>
              </a:spcBef>
              <a:spcAft>
                <a:spcPts val="500"/>
              </a:spcAft>
            </a:pPr>
            <a:r>
              <a:rPr sz="850" b="1" i="0" spc="150">
                <a:solidFill>
                  <a:srgbClr val="AE3B2E"/>
                </a:solidFill>
                <a:latin typeface="Arial"/>
              </a:rPr>
              <a:t>ABSTRACTION</a:t>
            </a:r>
          </a:p>
          <a:p>
            <a:pPr algn="l">
              <a:lnSpc>
                <a:spcPct val="118000"/>
              </a:lnSpc>
              <a:spcBef>
                <a:spcPts val="0"/>
              </a:spcBef>
              <a:spcAft>
                <a:spcPts val="0"/>
              </a:spcAft>
            </a:pPr>
            <a:r>
              <a:rPr sz="1450" b="0" i="1">
                <a:solidFill>
                  <a:srgbClr val="1A1B19"/>
                </a:solidFill>
                <a:latin typeface="Georgia"/>
              </a:rPr>
              <a:t>Make moving parts from two layers that respond differently, and let the environment do the actuating.</a:t>
            </a:r>
          </a:p>
        </p:txBody>
      </p:sp>
      <p:sp>
        <p:nvSpPr>
          <p:cNvPr id="10" name="TextBox 9"/>
          <p:cNvSpPr txBox="1"/>
          <p:nvPr/>
        </p:nvSpPr>
        <p:spPr>
          <a:xfrm>
            <a:off x="868680"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THE MECHANISM</a:t>
            </a:r>
          </a:p>
          <a:p>
            <a:pPr algn="l">
              <a:lnSpc>
                <a:spcPct val="126000"/>
              </a:lnSpc>
              <a:spcBef>
                <a:spcPts val="0"/>
              </a:spcBef>
              <a:spcAft>
                <a:spcPts val="0"/>
              </a:spcAft>
            </a:pPr>
            <a:r>
              <a:rPr sz="1200" b="0" i="0">
                <a:solidFill>
                  <a:srgbClr val="4A4B45"/>
                </a:solidFill>
                <a:latin typeface="Georgia"/>
              </a:rPr>
              <a:t>Each scale is two bonded layers that swell differently with moisture, so the scale bends. Already built twice: HygroSkin, whose wooden apertures are shut at 30 % humidity and open at 75 %, and thermobimetal shutters that curl in the sun — explicitly with no energy and no controls.</a:t>
            </a:r>
          </a:p>
        </p:txBody>
      </p:sp>
      <p:sp>
        <p:nvSpPr>
          <p:cNvPr id="11" name="TextBox 10"/>
          <p:cNvSpPr txBox="1"/>
          <p:nvPr/>
        </p:nvSpPr>
        <p:spPr>
          <a:xfrm>
            <a:off x="6507327"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WHAT IT MEANS FOR THE CITY</a:t>
            </a:r>
          </a:p>
          <a:p>
            <a:pPr algn="l">
              <a:lnSpc>
                <a:spcPct val="126000"/>
              </a:lnSpc>
              <a:spcBef>
                <a:spcPts val="0"/>
              </a:spcBef>
              <a:spcAft>
                <a:spcPts val="0"/>
              </a:spcAft>
            </a:pPr>
            <a:r>
              <a:rPr sz="1200" b="0" i="0">
                <a:solidFill>
                  <a:srgbClr val="4A4B45"/>
                </a:solidFill>
                <a:latin typeface="Georgia"/>
              </a:rPr>
              <a:t>A shade takes the sun off the person, not just off the wall. And by retracting when it cools it leaves the night sky open, which fixed shading does not. The risk is wind: a thermal actuator cannot feel a storm.</a:t>
            </a:r>
          </a:p>
        </p:txBody>
      </p:sp>
      <p:sp>
        <p:nvSpPr>
          <p:cNvPr id="12" name="TextBox 11"/>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asknature.org/strategy/pine-cones-open-and-close-in-response-to-weather/</a:t>
            </a:r>
          </a:p>
        </p:txBody>
      </p:sp>
      <p:sp>
        <p:nvSpPr>
          <p:cNvPr id="13" name="Rectangle 12"/>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AE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AE3B2E"/>
                </a:solidFill>
                <a:latin typeface="Arial"/>
              </a:rPr>
              <a:t>MODEL 11   ·   F9   SELF-REGULATION</a:t>
            </a:r>
          </a:p>
        </p:txBody>
      </p:sp>
      <p:sp>
        <p:nvSpPr>
          <p:cNvPr id="5" name="TextBox 4"/>
          <p:cNvSpPr txBox="1"/>
          <p:nvPr/>
        </p:nvSpPr>
        <p:spPr>
          <a:xfrm>
            <a:off x="868680" y="822960"/>
            <a:ext cx="10241280" cy="685800"/>
          </a:xfrm>
          <a:prstGeom prst="rect">
            <a:avLst/>
          </a:prstGeom>
          <a:noFill/>
        </p:spPr>
        <p:txBody>
          <a:bodyPr wrap="square" lIns="0" rIns="0" tIns="0" bIns="0" anchor="t">
            <a:spAutoFit/>
          </a:bodyPr>
          <a:lstStyle/>
          <a:p>
            <a:pPr algn="l">
              <a:lnSpc>
                <a:spcPct val="100000"/>
              </a:lnSpc>
              <a:spcBef>
                <a:spcPts val="0"/>
              </a:spcBef>
              <a:spcAft>
                <a:spcPts val="300"/>
              </a:spcAft>
            </a:pPr>
            <a:r>
              <a:rPr sz="2900" b="1" i="0">
                <a:solidFill>
                  <a:srgbClr val="1A1B19"/>
                </a:solidFill>
                <a:latin typeface="Arial"/>
              </a:rPr>
              <a:t>Honeybee fanning thresholds</a:t>
            </a:r>
          </a:p>
        </p:txBody>
      </p:sp>
      <p:sp>
        <p:nvSpPr>
          <p:cNvPr id="6" name="TextBox 5"/>
          <p:cNvSpPr txBox="1"/>
          <p:nvPr/>
        </p:nvSpPr>
        <p:spPr>
          <a:xfrm>
            <a:off x="868680" y="1389888"/>
            <a:ext cx="10241280" cy="365760"/>
          </a:xfrm>
          <a:prstGeom prst="rect">
            <a:avLst/>
          </a:prstGeom>
          <a:noFill/>
        </p:spPr>
        <p:txBody>
          <a:bodyPr wrap="square" lIns="0" rIns="0" tIns="0" bIns="0" anchor="t">
            <a:spAutoFit/>
          </a:bodyPr>
          <a:lstStyle/>
          <a:p>
            <a:pPr algn="l">
              <a:lnSpc>
                <a:spcPct val="115000"/>
              </a:lnSpc>
              <a:spcBef>
                <a:spcPts val="0"/>
              </a:spcBef>
              <a:spcAft>
                <a:spcPts val="0"/>
              </a:spcAft>
            </a:pPr>
            <a:r>
              <a:rPr sz="1250" b="0" i="1">
                <a:solidFill>
                  <a:srgbClr val="86867C"/>
                </a:solidFill>
                <a:latin typeface="Georgia"/>
              </a:rPr>
              <a:t>A colony holds 36 °C with no central control</a:t>
            </a:r>
          </a:p>
        </p:txBody>
      </p:sp>
      <p:sp>
        <p:nvSpPr>
          <p:cNvPr id="7" name="Rectangle 6"/>
          <p:cNvSpPr/>
          <p:nvPr/>
        </p:nvSpPr>
        <p:spPr>
          <a:xfrm>
            <a:off x="868680" y="1938528"/>
            <a:ext cx="10637215" cy="1097280"/>
          </a:xfrm>
          <a:prstGeom prst="rect">
            <a:avLst/>
          </a:prstGeom>
          <a:solidFill>
            <a:srgbClr val="E7D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68680" y="1938528"/>
            <a:ext cx="45720" cy="1097280"/>
          </a:xfrm>
          <a:prstGeom prst="rect">
            <a:avLst/>
          </a:prstGeom>
          <a:solidFill>
            <a:srgbClr val="AE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2075688"/>
            <a:ext cx="10088575" cy="731520"/>
          </a:xfrm>
          <a:prstGeom prst="rect">
            <a:avLst/>
          </a:prstGeom>
          <a:noFill/>
        </p:spPr>
        <p:txBody>
          <a:bodyPr wrap="square" lIns="0" rIns="0" tIns="0" bIns="0" anchor="t">
            <a:spAutoFit/>
          </a:bodyPr>
          <a:lstStyle/>
          <a:p>
            <a:pPr algn="l">
              <a:lnSpc>
                <a:spcPct val="115000"/>
              </a:lnSpc>
              <a:spcBef>
                <a:spcPts val="0"/>
              </a:spcBef>
              <a:spcAft>
                <a:spcPts val="500"/>
              </a:spcAft>
            </a:pPr>
            <a:r>
              <a:rPr sz="850" b="1" i="0" spc="150">
                <a:solidFill>
                  <a:srgbClr val="AE3B2E"/>
                </a:solidFill>
                <a:latin typeface="Arial"/>
              </a:rPr>
              <a:t>ABSTRACTION</a:t>
            </a:r>
          </a:p>
          <a:p>
            <a:pPr algn="l">
              <a:lnSpc>
                <a:spcPct val="118000"/>
              </a:lnSpc>
              <a:spcBef>
                <a:spcPts val="0"/>
              </a:spcBef>
              <a:spcAft>
                <a:spcPts val="0"/>
              </a:spcAft>
            </a:pPr>
            <a:r>
              <a:rPr sz="1450" b="0" i="1">
                <a:solidFill>
                  <a:srgbClr val="1A1B19"/>
                </a:solidFill>
                <a:latin typeface="Georgia"/>
              </a:rPr>
              <a:t>Spread many binary elements across a range of trigger points, and the sum responds continuously.</a:t>
            </a:r>
          </a:p>
        </p:txBody>
      </p:sp>
      <p:sp>
        <p:nvSpPr>
          <p:cNvPr id="10" name="TextBox 9"/>
          <p:cNvSpPr txBox="1"/>
          <p:nvPr/>
        </p:nvSpPr>
        <p:spPr>
          <a:xfrm>
            <a:off x="868680"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THE MECHANISM</a:t>
            </a:r>
          </a:p>
          <a:p>
            <a:pPr algn="l">
              <a:lnSpc>
                <a:spcPct val="126000"/>
              </a:lnSpc>
              <a:spcBef>
                <a:spcPts val="0"/>
              </a:spcBef>
              <a:spcAft>
                <a:spcPts val="0"/>
              </a:spcAft>
            </a:pPr>
            <a:r>
              <a:rPr sz="1200" b="0" i="0">
                <a:solidFill>
                  <a:srgbClr val="4A4B45"/>
                </a:solidFill>
                <a:latin typeface="Georgia"/>
              </a:rPr>
              <a:t>Every worker starts fanning at a slightly different temperature, and the spread is genetic — one queen, many fathers, therefore many thresholds in one nest. As it warms, a few bees fan, then more, then many.</a:t>
            </a:r>
          </a:p>
        </p:txBody>
      </p:sp>
      <p:sp>
        <p:nvSpPr>
          <p:cNvPr id="11" name="TextBox 10"/>
          <p:cNvSpPr txBox="1"/>
          <p:nvPr/>
        </p:nvSpPr>
        <p:spPr>
          <a:xfrm>
            <a:off x="6507327"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WHAT IT MEANS FOR THE CITY</a:t>
            </a:r>
          </a:p>
          <a:p>
            <a:pPr algn="l">
              <a:lnSpc>
                <a:spcPct val="126000"/>
              </a:lnSpc>
              <a:spcBef>
                <a:spcPts val="0"/>
              </a:spcBef>
              <a:spcAft>
                <a:spcPts val="0"/>
              </a:spcAft>
            </a:pPr>
            <a:r>
              <a:rPr sz="1200" b="0" i="0">
                <a:solidFill>
                  <a:srgbClr val="4A4B45"/>
                </a:solidFill>
                <a:latin typeface="Georgia"/>
              </a:rPr>
              <a:t>This answers the standard objection to switching materials, that they are all-or-nothing. Build whatever we build as many small units with different trigger temperatures, and the response grows through the afternoon instead of snapping on.</a:t>
            </a:r>
          </a:p>
        </p:txBody>
      </p:sp>
      <p:sp>
        <p:nvSpPr>
          <p:cNvPr id="12" name="TextBox 11"/>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asknature.org/strategy/varying-response-thresholds-aid-hive-thermoregulation/</a:t>
            </a:r>
          </a:p>
        </p:txBody>
      </p:sp>
      <p:sp>
        <p:nvSpPr>
          <p:cNvPr id="13" name="Rectangle 12"/>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6B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6B6B62"/>
                </a:solidFill>
                <a:latin typeface="Arial"/>
              </a:rPr>
              <a:t>MODEL 12   ·   F10 · F11   SUPPORTING</a:t>
            </a:r>
          </a:p>
        </p:txBody>
      </p:sp>
      <p:sp>
        <p:nvSpPr>
          <p:cNvPr id="5" name="TextBox 4"/>
          <p:cNvSpPr txBox="1"/>
          <p:nvPr/>
        </p:nvSpPr>
        <p:spPr>
          <a:xfrm>
            <a:off x="868680" y="822960"/>
            <a:ext cx="10241280" cy="685800"/>
          </a:xfrm>
          <a:prstGeom prst="rect">
            <a:avLst/>
          </a:prstGeom>
          <a:noFill/>
        </p:spPr>
        <p:txBody>
          <a:bodyPr wrap="square" lIns="0" rIns="0" tIns="0" bIns="0" anchor="t">
            <a:spAutoFit/>
          </a:bodyPr>
          <a:lstStyle/>
          <a:p>
            <a:pPr algn="l">
              <a:lnSpc>
                <a:spcPct val="100000"/>
              </a:lnSpc>
              <a:spcBef>
                <a:spcPts val="0"/>
              </a:spcBef>
              <a:spcAft>
                <a:spcPts val="300"/>
              </a:spcAft>
            </a:pPr>
            <a:r>
              <a:rPr sz="2900" b="1" i="0">
                <a:solidFill>
                  <a:srgbClr val="1A1B19"/>
                </a:solidFill>
                <a:latin typeface="Arial"/>
              </a:rPr>
              <a:t>Lichen surface</a:t>
            </a:r>
          </a:p>
        </p:txBody>
      </p:sp>
      <p:sp>
        <p:nvSpPr>
          <p:cNvPr id="6" name="TextBox 5"/>
          <p:cNvSpPr txBox="1"/>
          <p:nvPr/>
        </p:nvSpPr>
        <p:spPr>
          <a:xfrm>
            <a:off x="868680" y="1389888"/>
            <a:ext cx="10241280" cy="365760"/>
          </a:xfrm>
          <a:prstGeom prst="rect">
            <a:avLst/>
          </a:prstGeom>
          <a:noFill/>
        </p:spPr>
        <p:txBody>
          <a:bodyPr wrap="square" lIns="0" rIns="0" tIns="0" bIns="0" anchor="t">
            <a:spAutoFit/>
          </a:bodyPr>
          <a:lstStyle/>
          <a:p>
            <a:pPr algn="l">
              <a:lnSpc>
                <a:spcPct val="115000"/>
              </a:lnSpc>
              <a:spcBef>
                <a:spcPts val="0"/>
              </a:spcBef>
              <a:spcAft>
                <a:spcPts val="0"/>
              </a:spcAft>
            </a:pPr>
            <a:r>
              <a:rPr sz="1250" b="0" i="1">
                <a:solidFill>
                  <a:srgbClr val="86867C"/>
                </a:solidFill>
                <a:latin typeface="Georgia"/>
              </a:rPr>
              <a:t>Lecanora conizaeoides · waterproof and breathable at once</a:t>
            </a:r>
          </a:p>
        </p:txBody>
      </p:sp>
      <p:sp>
        <p:nvSpPr>
          <p:cNvPr id="7" name="Rectangle 6"/>
          <p:cNvSpPr/>
          <p:nvPr/>
        </p:nvSpPr>
        <p:spPr>
          <a:xfrm>
            <a:off x="868680" y="1938528"/>
            <a:ext cx="10637215" cy="1097280"/>
          </a:xfrm>
          <a:prstGeom prst="rect">
            <a:avLst/>
          </a:prstGeom>
          <a:solidFill>
            <a:srgbClr val="DEDD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68680" y="1938528"/>
            <a:ext cx="45720" cy="1097280"/>
          </a:xfrm>
          <a:prstGeom prst="rect">
            <a:avLst/>
          </a:prstGeom>
          <a:solidFill>
            <a:srgbClr val="6B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2075688"/>
            <a:ext cx="10088575" cy="731520"/>
          </a:xfrm>
          <a:prstGeom prst="rect">
            <a:avLst/>
          </a:prstGeom>
          <a:noFill/>
        </p:spPr>
        <p:txBody>
          <a:bodyPr wrap="square" lIns="0" rIns="0" tIns="0" bIns="0" anchor="t">
            <a:spAutoFit/>
          </a:bodyPr>
          <a:lstStyle/>
          <a:p>
            <a:pPr algn="l">
              <a:lnSpc>
                <a:spcPct val="115000"/>
              </a:lnSpc>
              <a:spcBef>
                <a:spcPts val="0"/>
              </a:spcBef>
              <a:spcAft>
                <a:spcPts val="500"/>
              </a:spcAft>
            </a:pPr>
            <a:r>
              <a:rPr sz="850" b="1" i="0" spc="150">
                <a:solidFill>
                  <a:srgbClr val="6B6B62"/>
                </a:solidFill>
                <a:latin typeface="Arial"/>
              </a:rPr>
              <a:t>ABSTRACTION</a:t>
            </a:r>
          </a:p>
          <a:p>
            <a:pPr algn="l">
              <a:lnSpc>
                <a:spcPct val="118000"/>
              </a:lnSpc>
              <a:spcBef>
                <a:spcPts val="0"/>
              </a:spcBef>
              <a:spcAft>
                <a:spcPts val="0"/>
              </a:spcAft>
            </a:pPr>
            <a:r>
              <a:rPr sz="1450" b="0" i="1">
                <a:solidFill>
                  <a:srgbClr val="1A1B19"/>
                </a:solidFill>
                <a:latin typeface="Georgia"/>
              </a:rPr>
              <a:t>Use geometry rather than chemistry to shed water and stay clean.</a:t>
            </a:r>
          </a:p>
        </p:txBody>
      </p:sp>
      <p:sp>
        <p:nvSpPr>
          <p:cNvPr id="10" name="TextBox 9"/>
          <p:cNvSpPr txBox="1"/>
          <p:nvPr/>
        </p:nvSpPr>
        <p:spPr>
          <a:xfrm>
            <a:off x="868680"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THE MECHANISM</a:t>
            </a:r>
          </a:p>
          <a:p>
            <a:pPr algn="l">
              <a:lnSpc>
                <a:spcPct val="126000"/>
              </a:lnSpc>
              <a:spcBef>
                <a:spcPts val="0"/>
              </a:spcBef>
              <a:spcAft>
                <a:spcPts val="0"/>
              </a:spcAft>
            </a:pPr>
            <a:r>
              <a:rPr sz="1200" b="0" i="0">
                <a:solidFill>
                  <a:srgbClr val="4A4B45"/>
                </a:solidFill>
                <a:latin typeface="Georgia"/>
              </a:rPr>
              <a:t>Roughness at several size scales keeps droplets perched on the peaks so they roll off, while the channels between them are coated to stay dry and still let air through to the algae inside. Dirt and biofilm find almost nothing to hold on to.</a:t>
            </a:r>
          </a:p>
        </p:txBody>
      </p:sp>
      <p:sp>
        <p:nvSpPr>
          <p:cNvPr id="11" name="TextBox 10"/>
          <p:cNvSpPr txBox="1"/>
          <p:nvPr/>
        </p:nvSpPr>
        <p:spPr>
          <a:xfrm>
            <a:off x="6507327" y="3328416"/>
            <a:ext cx="4998567" cy="2194560"/>
          </a:xfrm>
          <a:prstGeom prst="rect">
            <a:avLst/>
          </a:prstGeom>
          <a:noFill/>
        </p:spPr>
        <p:txBody>
          <a:bodyPr wrap="square" lIns="0" rIns="0" tIns="0" bIns="0" anchor="t">
            <a:spAutoFit/>
          </a:bodyPr>
          <a:lstStyle/>
          <a:p>
            <a:pPr algn="l">
              <a:lnSpc>
                <a:spcPct val="115000"/>
              </a:lnSpc>
              <a:spcBef>
                <a:spcPts val="0"/>
              </a:spcBef>
              <a:spcAft>
                <a:spcPts val="700"/>
              </a:spcAft>
            </a:pPr>
            <a:r>
              <a:rPr sz="850" b="1" i="0" spc="140">
                <a:solidFill>
                  <a:srgbClr val="86867C"/>
                </a:solidFill>
                <a:latin typeface="Arial"/>
              </a:rPr>
              <a:t>WHAT IT MEANS FOR THE CITY</a:t>
            </a:r>
          </a:p>
          <a:p>
            <a:pPr algn="l">
              <a:lnSpc>
                <a:spcPct val="126000"/>
              </a:lnSpc>
              <a:spcBef>
                <a:spcPts val="0"/>
              </a:spcBef>
              <a:spcAft>
                <a:spcPts val="0"/>
              </a:spcAft>
            </a:pPr>
            <a:r>
              <a:rPr sz="1200" b="0" i="0">
                <a:solidFill>
                  <a:srgbClr val="4A4B45"/>
                </a:solidFill>
                <a:latin typeface="Georgia"/>
              </a:rPr>
              <a:t>The city names soiling as the specific weakness of bright envelopes. A lotus-effect façade paint has done this since 1999 without biocide — which matters twice over if we collect that run-off and evaporate it at head height.</a:t>
            </a:r>
          </a:p>
        </p:txBody>
      </p:sp>
      <p:sp>
        <p:nvSpPr>
          <p:cNvPr id="12" name="TextBox 11"/>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Genius of Biome, pp. 41–44 · asknature.org/innovation/paint-inspired-by-lotus-leaves-creates-self-cleaning-and-antifouling-surfaces/</a:t>
            </a:r>
          </a:p>
        </p:txBody>
      </p:sp>
      <p:sp>
        <p:nvSpPr>
          <p:cNvPr id="13" name="Rectangle 12"/>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6B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6B6B62"/>
                </a:solidFill>
                <a:latin typeface="Arial"/>
              </a:rPr>
              <a:t>DE-SELECTION</a:t>
            </a:r>
          </a:p>
        </p:txBody>
      </p:sp>
      <p:sp>
        <p:nvSpPr>
          <p:cNvPr id="5" name="TextBox 4"/>
          <p:cNvSpPr txBox="1"/>
          <p:nvPr/>
        </p:nvSpPr>
        <p:spPr>
          <a:xfrm>
            <a:off x="868680" y="841248"/>
            <a:ext cx="10241280" cy="914400"/>
          </a:xfrm>
          <a:prstGeom prst="rect">
            <a:avLst/>
          </a:prstGeom>
          <a:noFill/>
        </p:spPr>
        <p:txBody>
          <a:bodyPr wrap="square" lIns="0" rIns="0" tIns="0" bIns="0" anchor="t">
            <a:spAutoFit/>
          </a:bodyPr>
          <a:lstStyle/>
          <a:p>
            <a:pPr algn="l">
              <a:lnSpc>
                <a:spcPct val="102000"/>
              </a:lnSpc>
              <a:spcBef>
                <a:spcPts val="0"/>
              </a:spcBef>
              <a:spcAft>
                <a:spcPts val="400"/>
              </a:spcAft>
            </a:pPr>
            <a:r>
              <a:rPr sz="3000" b="1" i="0">
                <a:solidFill>
                  <a:srgbClr val="1A1B19"/>
                </a:solidFill>
                <a:latin typeface="Arial"/>
              </a:rPr>
              <a:t>What we looked at and left out</a:t>
            </a:r>
          </a:p>
        </p:txBody>
      </p:sp>
      <p:sp>
        <p:nvSpPr>
          <p:cNvPr id="6" name="TextBox 5"/>
          <p:cNvSpPr txBox="1"/>
          <p:nvPr/>
        </p:nvSpPr>
        <p:spPr>
          <a:xfrm>
            <a:off x="868680" y="1691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6B6B62"/>
                </a:solidFill>
                <a:latin typeface="Arial"/>
              </a:rPr>
              <a:t>THE TERMITE MOUND</a:t>
            </a:r>
          </a:p>
          <a:p>
            <a:pPr algn="l">
              <a:lnSpc>
                <a:spcPct val="125000"/>
              </a:lnSpc>
              <a:spcBef>
                <a:spcPts val="0"/>
              </a:spcBef>
              <a:spcAft>
                <a:spcPts val="0"/>
              </a:spcAft>
            </a:pPr>
            <a:r>
              <a:rPr sz="1300" b="0" i="0">
                <a:solidFill>
                  <a:srgbClr val="4A4B45"/>
                </a:solidFill>
                <a:latin typeface="Georgia"/>
              </a:rPr>
              <a:t>The Eastgate building that made it famous uses fans, and the chimney explanation is contested in the literature (Turner 2008). It is not the passive system it is sold as.</a:t>
            </a:r>
          </a:p>
        </p:txBody>
      </p:sp>
      <p:sp>
        <p:nvSpPr>
          <p:cNvPr id="7" name="TextBox 6"/>
          <p:cNvSpPr txBox="1"/>
          <p:nvPr/>
        </p:nvSpPr>
        <p:spPr>
          <a:xfrm>
            <a:off x="868680" y="2834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6B6B62"/>
                </a:solidFill>
                <a:latin typeface="Arial"/>
              </a:rPr>
              <a:t>FOG HARVESTING — THE NAMIB BEETLE</a:t>
            </a:r>
          </a:p>
          <a:p>
            <a:pPr algn="l">
              <a:lnSpc>
                <a:spcPct val="125000"/>
              </a:lnSpc>
              <a:spcBef>
                <a:spcPts val="0"/>
              </a:spcBef>
              <a:spcAft>
                <a:spcPts val="0"/>
              </a:spcAft>
            </a:pPr>
            <a:r>
              <a:rPr sz="1300" b="0" i="0">
                <a:solidFill>
                  <a:srgbClr val="4A4B45"/>
                </a:solidFill>
                <a:latin typeface="Georgia"/>
              </a:rPr>
              <a:t>The most-cited water model in biomimicry, and wrong for our climate: Zurich's fog is a winter phenomenon, and during a heat wave there is neither rain nor fog.</a:t>
            </a:r>
          </a:p>
        </p:txBody>
      </p:sp>
      <p:sp>
        <p:nvSpPr>
          <p:cNvPr id="8" name="TextBox 7"/>
          <p:cNvSpPr txBox="1"/>
          <p:nvPr/>
        </p:nvSpPr>
        <p:spPr>
          <a:xfrm>
            <a:off x="868680" y="3977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6B6B62"/>
                </a:solidFill>
                <a:latin typeface="Arial"/>
              </a:rPr>
              <a:t>GREEN FAÇADES · GAZELLE CAROTID RETE · TENREC DORMANCY</a:t>
            </a:r>
          </a:p>
          <a:p>
            <a:pPr algn="l">
              <a:lnSpc>
                <a:spcPct val="125000"/>
              </a:lnSpc>
              <a:spcBef>
                <a:spcPts val="0"/>
              </a:spcBef>
              <a:spcAft>
                <a:spcPts val="0"/>
              </a:spcAft>
            </a:pPr>
            <a:r>
              <a:rPr sz="1300" b="0" i="0">
                <a:solidFill>
                  <a:srgbClr val="4A4B45"/>
                </a:solidFill>
                <a:latin typeface="Georgia"/>
              </a:rPr>
              <a:t>Greening is already the city's own measures HA 09 and HA 10, and it needs the most water exactly when we have the least. The other two are internal physiology and behaviour — a wall has neither.</a:t>
            </a:r>
          </a:p>
        </p:txBody>
      </p:sp>
      <p:sp>
        <p:nvSpPr>
          <p:cNvPr id="9" name="TextBox 8"/>
          <p:cNvSpPr txBox="1"/>
          <p:nvPr/>
        </p:nvSpPr>
        <p:spPr>
          <a:xfrm>
            <a:off x="868680" y="5623560"/>
            <a:ext cx="10424160" cy="548640"/>
          </a:xfrm>
          <a:prstGeom prst="rect">
            <a:avLst/>
          </a:prstGeom>
          <a:noFill/>
        </p:spPr>
        <p:txBody>
          <a:bodyPr wrap="square" lIns="0" rIns="0" tIns="0" bIns="0" anchor="t">
            <a:spAutoFit/>
          </a:bodyPr>
          <a:lstStyle/>
          <a:p>
            <a:pPr algn="l">
              <a:lnSpc>
                <a:spcPct val="120000"/>
              </a:lnSpc>
              <a:spcBef>
                <a:spcPts val="0"/>
              </a:spcBef>
              <a:spcAft>
                <a:spcPts val="400"/>
              </a:spcAft>
            </a:pPr>
            <a:r>
              <a:rPr sz="1150" b="0" i="1">
                <a:solidFill>
                  <a:srgbClr val="86867C"/>
                </a:solidFill>
                <a:latin typeface="Georgia"/>
              </a:rPr>
              <a:t>The criterion throughout: it has to be passive, survive frost and UV for twenty years, and live in a surface.</a:t>
            </a:r>
          </a:p>
        </p:txBody>
      </p:sp>
      <p:sp>
        <p:nvSpPr>
          <p:cNvPr id="10" name="TextBox 9"/>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DE-SELECTION</a:t>
            </a:r>
          </a:p>
        </p:txBody>
      </p:sp>
      <p:sp>
        <p:nvSpPr>
          <p:cNvPr id="11" name="Rectangle 10"/>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AE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AE3B2E"/>
                </a:solidFill>
                <a:latin typeface="Arial"/>
              </a:rPr>
              <a:t>SYNTHESIS</a:t>
            </a:r>
          </a:p>
        </p:txBody>
      </p:sp>
      <p:sp>
        <p:nvSpPr>
          <p:cNvPr id="5" name="TextBox 4"/>
          <p:cNvSpPr txBox="1"/>
          <p:nvPr/>
        </p:nvSpPr>
        <p:spPr>
          <a:xfrm>
            <a:off x="868680" y="841248"/>
            <a:ext cx="10241280" cy="914400"/>
          </a:xfrm>
          <a:prstGeom prst="rect">
            <a:avLst/>
          </a:prstGeom>
          <a:noFill/>
        </p:spPr>
        <p:txBody>
          <a:bodyPr wrap="square" lIns="0" rIns="0" tIns="0" bIns="0" anchor="t">
            <a:spAutoFit/>
          </a:bodyPr>
          <a:lstStyle/>
          <a:p>
            <a:pPr algn="l">
              <a:lnSpc>
                <a:spcPct val="102000"/>
              </a:lnSpc>
              <a:spcBef>
                <a:spcPts val="0"/>
              </a:spcBef>
              <a:spcAft>
                <a:spcPts val="400"/>
              </a:spcAft>
            </a:pPr>
            <a:r>
              <a:rPr sz="3000" b="1" i="0">
                <a:solidFill>
                  <a:srgbClr val="1A1B19"/>
                </a:solidFill>
                <a:latin typeface="Arial"/>
              </a:rPr>
              <a:t>What the twelve models have in common</a:t>
            </a:r>
          </a:p>
        </p:txBody>
      </p:sp>
      <p:sp>
        <p:nvSpPr>
          <p:cNvPr id="6" name="TextBox 5"/>
          <p:cNvSpPr txBox="1"/>
          <p:nvPr/>
        </p:nvSpPr>
        <p:spPr>
          <a:xfrm>
            <a:off x="868680" y="1691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AE3B2E"/>
                </a:solidFill>
                <a:latin typeface="Arial"/>
              </a:rPr>
              <a:t>ONE PRINCIPLE, FOUND THREE TIMES</a:t>
            </a:r>
          </a:p>
          <a:p>
            <a:pPr algn="l">
              <a:lnSpc>
                <a:spcPct val="125000"/>
              </a:lnSpc>
              <a:spcBef>
                <a:spcPts val="0"/>
              </a:spcBef>
              <a:spcAft>
                <a:spcPts val="0"/>
              </a:spcAft>
            </a:pPr>
            <a:r>
              <a:rPr sz="1300" b="0" i="0">
                <a:solidFill>
                  <a:srgbClr val="4A4B45"/>
                </a:solidFill>
                <a:latin typeface="Georgia"/>
              </a:rPr>
              <a:t>Bees vary their thresholds, elephants vary how many cooling windows are open, a deployable shade varies how much area is spread. All three regulate how MANY elements act — not how strongly each one acts. That is our answer to F9.</a:t>
            </a:r>
          </a:p>
        </p:txBody>
      </p:sp>
      <p:sp>
        <p:nvSpPr>
          <p:cNvPr id="7" name="TextBox 6"/>
          <p:cNvSpPr txBox="1"/>
          <p:nvPr/>
        </p:nvSpPr>
        <p:spPr>
          <a:xfrm>
            <a:off x="868680" y="2834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AE3B2E"/>
                </a:solidFill>
                <a:latin typeface="Arial"/>
              </a:rPr>
              <a:t>PREVENTION IS THE SMALLER HALF</a:t>
            </a:r>
          </a:p>
          <a:p>
            <a:pPr algn="l">
              <a:lnSpc>
                <a:spcPct val="125000"/>
              </a:lnSpc>
              <a:spcBef>
                <a:spcPts val="0"/>
              </a:spcBef>
              <a:spcAft>
                <a:spcPts val="0"/>
              </a:spcAft>
            </a:pPr>
            <a:r>
              <a:rPr sz="1300" b="0" i="0">
                <a:solidFill>
                  <a:srgbClr val="4A4B45"/>
                </a:solidFill>
                <a:latin typeface="Georgia"/>
              </a:rPr>
              <a:t>Models 3, 4, 6 and 7 stop heat arriving. Only 1, 2, 5, 8, 9 and 10 get heat out again — and the urban heat island is 1–2 K by day against up to 7 K at night. The night belongs to the removal side.</a:t>
            </a:r>
          </a:p>
        </p:txBody>
      </p:sp>
      <p:sp>
        <p:nvSpPr>
          <p:cNvPr id="8" name="TextBox 7"/>
          <p:cNvSpPr txBox="1"/>
          <p:nvPr/>
        </p:nvSpPr>
        <p:spPr>
          <a:xfrm>
            <a:off x="868680" y="3977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AE3B2E"/>
                </a:solidFill>
                <a:latin typeface="Arial"/>
              </a:rPr>
              <a:t>STRUCTURES TRANSFER BETTER THAN PROCESSES</a:t>
            </a:r>
          </a:p>
          <a:p>
            <a:pPr algn="l">
              <a:lnSpc>
                <a:spcPct val="125000"/>
              </a:lnSpc>
              <a:spcBef>
                <a:spcPts val="0"/>
              </a:spcBef>
              <a:spcAft>
                <a:spcPts val="0"/>
              </a:spcAft>
            </a:pPr>
            <a:r>
              <a:rPr sz="1300" b="0" i="0">
                <a:solidFill>
                  <a:srgbClr val="4A4B45"/>
                </a:solidFill>
                <a:latin typeface="Georgia"/>
              </a:rPr>
              <a:t>Most cooling in nature is metabolism or behaviour, and a façade has neither. The two models that transfer most directly — the snail shell and the cactus rib — are the two that are structures rather than processes.</a:t>
            </a:r>
          </a:p>
        </p:txBody>
      </p:sp>
      <p:sp>
        <p:nvSpPr>
          <p:cNvPr id="9" name="TextBox 8"/>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SYNTHESIS</a:t>
            </a:r>
          </a:p>
        </p:txBody>
      </p:sp>
      <p:sp>
        <p:nvSpPr>
          <p:cNvPr id="10" name="Rectangle 9"/>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457200"/>
            <a:ext cx="50292" cy="5623560"/>
          </a:xfrm>
          <a:prstGeom prst="rect">
            <a:avLst/>
          </a:prstGeom>
          <a:solidFill>
            <a:srgbClr val="1570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475488"/>
            <a:ext cx="10637215" cy="274320"/>
          </a:xfrm>
          <a:prstGeom prst="rect">
            <a:avLst/>
          </a:prstGeom>
          <a:noFill/>
        </p:spPr>
        <p:txBody>
          <a:bodyPr wrap="square" lIns="0" rIns="0" tIns="0" bIns="0" anchor="t">
            <a:spAutoFit/>
          </a:bodyPr>
          <a:lstStyle/>
          <a:p>
            <a:pPr algn="l">
              <a:lnSpc>
                <a:spcPct val="115000"/>
              </a:lnSpc>
              <a:spcBef>
                <a:spcPts val="0"/>
              </a:spcBef>
              <a:spcAft>
                <a:spcPts val="0"/>
              </a:spcAft>
            </a:pPr>
            <a:r>
              <a:rPr sz="900" b="1" i="0" spc="160">
                <a:solidFill>
                  <a:srgbClr val="15709F"/>
                </a:solidFill>
                <a:latin typeface="Arial"/>
              </a:rPr>
              <a:t>NEXT</a:t>
            </a:r>
          </a:p>
        </p:txBody>
      </p:sp>
      <p:sp>
        <p:nvSpPr>
          <p:cNvPr id="5" name="TextBox 4"/>
          <p:cNvSpPr txBox="1"/>
          <p:nvPr/>
        </p:nvSpPr>
        <p:spPr>
          <a:xfrm>
            <a:off x="868680" y="841248"/>
            <a:ext cx="10241280" cy="914400"/>
          </a:xfrm>
          <a:prstGeom prst="rect">
            <a:avLst/>
          </a:prstGeom>
          <a:noFill/>
        </p:spPr>
        <p:txBody>
          <a:bodyPr wrap="square" lIns="0" rIns="0" tIns="0" bIns="0" anchor="t">
            <a:spAutoFit/>
          </a:bodyPr>
          <a:lstStyle/>
          <a:p>
            <a:pPr algn="l">
              <a:lnSpc>
                <a:spcPct val="102000"/>
              </a:lnSpc>
              <a:spcBef>
                <a:spcPts val="0"/>
              </a:spcBef>
              <a:spcAft>
                <a:spcPts val="400"/>
              </a:spcAft>
            </a:pPr>
            <a:r>
              <a:rPr sz="3000" b="1" i="0">
                <a:solidFill>
                  <a:srgbClr val="1A1B19"/>
                </a:solidFill>
                <a:latin typeface="Arial"/>
              </a:rPr>
              <a:t>From principles to concepts</a:t>
            </a:r>
          </a:p>
        </p:txBody>
      </p:sp>
      <p:sp>
        <p:nvSpPr>
          <p:cNvPr id="6" name="TextBox 5"/>
          <p:cNvSpPr txBox="1"/>
          <p:nvPr/>
        </p:nvSpPr>
        <p:spPr>
          <a:xfrm>
            <a:off x="868680" y="1691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15709F"/>
                </a:solidFill>
                <a:latin typeface="Arial"/>
              </a:rPr>
              <a:t>THE MORPHOLOGICAL MATRIX</a:t>
            </a:r>
          </a:p>
          <a:p>
            <a:pPr algn="l">
              <a:lnSpc>
                <a:spcPct val="125000"/>
              </a:lnSpc>
              <a:spcBef>
                <a:spcPts val="0"/>
              </a:spcBef>
              <a:spcAft>
                <a:spcPts val="0"/>
              </a:spcAft>
            </a:pPr>
            <a:r>
              <a:rPr sz="1300" b="0" i="0">
                <a:solidFill>
                  <a:srgbClr val="4A4B45"/>
                </a:solidFill>
                <a:latin typeface="Georgia"/>
              </a:rPr>
              <a:t>Rows are our functions, columns are the abstracted principles on these slides. Reflect: structural colour · ribbed geometry · reflective skin with an air gap. Remove: passive loop to a roof radiator · boundary-layer texture · metered evaporation.</a:t>
            </a:r>
          </a:p>
        </p:txBody>
      </p:sp>
      <p:sp>
        <p:nvSpPr>
          <p:cNvPr id="7" name="TextBox 6"/>
          <p:cNvSpPr txBox="1"/>
          <p:nvPr/>
        </p:nvSpPr>
        <p:spPr>
          <a:xfrm>
            <a:off x="868680" y="2834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15709F"/>
                </a:solidFill>
                <a:latin typeface="Arial"/>
              </a:rPr>
              <a:t>THEN TWO TECHNICALLY DISTINCT CONCEPTS</a:t>
            </a:r>
          </a:p>
          <a:p>
            <a:pPr algn="l">
              <a:lnSpc>
                <a:spcPct val="125000"/>
              </a:lnSpc>
              <a:spcBef>
                <a:spcPts val="0"/>
              </a:spcBef>
              <a:spcAft>
                <a:spcPts val="0"/>
              </a:spcAft>
            </a:pPr>
            <a:r>
              <a:rPr sz="1300" b="0" i="0">
                <a:solidFill>
                  <a:srgbClr val="4A4B45"/>
                </a:solidFill>
                <a:latin typeface="Georgia"/>
              </a:rPr>
              <a:t>Not two cosmetic variants. Each with an annotated drawing, an Engineering Canvas, and two or three critical questions of the form "what must be true for this to work?"</a:t>
            </a:r>
          </a:p>
        </p:txBody>
      </p:sp>
      <p:sp>
        <p:nvSpPr>
          <p:cNvPr id="8" name="TextBox 7"/>
          <p:cNvSpPr txBox="1"/>
          <p:nvPr/>
        </p:nvSpPr>
        <p:spPr>
          <a:xfrm>
            <a:off x="868680" y="3977640"/>
            <a:ext cx="10424160" cy="822960"/>
          </a:xfrm>
          <a:prstGeom prst="rect">
            <a:avLst/>
          </a:prstGeom>
          <a:noFill/>
        </p:spPr>
        <p:txBody>
          <a:bodyPr wrap="square" lIns="0" rIns="0" tIns="0" bIns="0" anchor="t">
            <a:spAutoFit/>
          </a:bodyPr>
          <a:lstStyle/>
          <a:p>
            <a:pPr algn="l">
              <a:lnSpc>
                <a:spcPct val="115000"/>
              </a:lnSpc>
              <a:spcBef>
                <a:spcPts val="0"/>
              </a:spcBef>
              <a:spcAft>
                <a:spcPts val="500"/>
              </a:spcAft>
            </a:pPr>
            <a:r>
              <a:rPr sz="900" b="1" i="0" spc="150">
                <a:solidFill>
                  <a:srgbClr val="15709F"/>
                </a:solidFill>
                <a:latin typeface="Arial"/>
              </a:rPr>
              <a:t>THE THREE QUESTIONS WE ALREADY KNOW WE HAVE TO ANSWER</a:t>
            </a:r>
          </a:p>
          <a:p>
            <a:pPr algn="l">
              <a:lnSpc>
                <a:spcPct val="125000"/>
              </a:lnSpc>
              <a:spcBef>
                <a:spcPts val="0"/>
              </a:spcBef>
              <a:spcAft>
                <a:spcPts val="0"/>
              </a:spcAft>
            </a:pPr>
            <a:r>
              <a:rPr sz="1300" b="0" i="0">
                <a:solidFill>
                  <a:srgbClr val="4A4B45"/>
                </a:solidFill>
                <a:latin typeface="Georgia"/>
              </a:rPr>
              <a:t>Can a passive loop survive a Swiss winter? Can a shading element be furled by wind without a controller? And can a switching material be made with a deliberate spread of trigger temperatures?</a:t>
            </a:r>
          </a:p>
        </p:txBody>
      </p:sp>
      <p:sp>
        <p:nvSpPr>
          <p:cNvPr id="9" name="TextBox 8"/>
          <p:cNvSpPr txBox="1"/>
          <p:nvPr/>
        </p:nvSpPr>
        <p:spPr>
          <a:xfrm>
            <a:off x="868680" y="6272784"/>
            <a:ext cx="9905695" cy="274320"/>
          </a:xfrm>
          <a:prstGeom prst="rect">
            <a:avLst/>
          </a:prstGeom>
          <a:noFill/>
        </p:spPr>
        <p:txBody>
          <a:bodyPr wrap="square" lIns="0" rIns="0" tIns="0" bIns="0" anchor="t">
            <a:spAutoFit/>
          </a:bodyPr>
          <a:lstStyle/>
          <a:p>
            <a:pPr algn="l">
              <a:lnSpc>
                <a:spcPct val="115000"/>
              </a:lnSpc>
              <a:spcBef>
                <a:spcPts val="0"/>
              </a:spcBef>
              <a:spcAft>
                <a:spcPts val="0"/>
              </a:spcAft>
            </a:pPr>
            <a:r>
              <a:rPr sz="850" b="0" i="0" spc="110">
                <a:solidFill>
                  <a:srgbClr val="86867C"/>
                </a:solidFill>
                <a:latin typeface="Arial"/>
              </a:rPr>
              <a:t>NEXT</a:t>
            </a:r>
          </a:p>
        </p:txBody>
      </p:sp>
      <p:sp>
        <p:nvSpPr>
          <p:cNvPr id="10" name="Rectangle 9"/>
          <p:cNvSpPr/>
          <p:nvPr/>
        </p:nvSpPr>
        <p:spPr>
          <a:xfrm>
            <a:off x="868680" y="6199632"/>
            <a:ext cx="10637215" cy="9144"/>
          </a:xfrm>
          <a:prstGeom prst="rect">
            <a:avLst/>
          </a:prstGeom>
          <a:solidFill>
            <a:srgbClr val="D2D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774375" y="6272784"/>
            <a:ext cx="731520" cy="274320"/>
          </a:xfrm>
          <a:prstGeom prst="rect">
            <a:avLst/>
          </a:prstGeom>
          <a:noFill/>
        </p:spPr>
        <p:txBody>
          <a:bodyPr wrap="square" lIns="0" rIns="0" tIns="0" bIns="0" anchor="t">
            <a:spAutoFit/>
          </a:bodyPr>
          <a:lstStyle/>
          <a:p>
            <a:pPr algn="r">
              <a:lnSpc>
                <a:spcPct val="115000"/>
              </a:lnSpc>
              <a:spcBef>
                <a:spcPts val="0"/>
              </a:spcBef>
              <a:spcAft>
                <a:spcPts val="0"/>
              </a:spcAft>
            </a:pPr>
            <a:r>
              <a:rPr sz="850" b="0" i="0">
                <a:solidFill>
                  <a:srgbClr val="86867C"/>
                </a:solidFill>
                <a:latin typeface="Arial"/>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